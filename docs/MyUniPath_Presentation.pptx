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 id="273" r:id="rId16"/>
    <p:sldId id="270" r:id="rId17"/>
    <p:sldId id="271" r:id="rId18"/>
    <p:sldId id="272"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F8FAAE-AF8D-408B-B4F3-6EB6C87CEE55}" v="8" dt="2026-05-20T16:25:59.7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3" autoAdjust="0"/>
    <p:restoredTop sz="74653" autoAdjust="0"/>
  </p:normalViewPr>
  <p:slideViewPr>
    <p:cSldViewPr snapToGrid="0" snapToObjects="1">
      <p:cViewPr>
        <p:scale>
          <a:sx n="83" d="100"/>
          <a:sy n="83" d="100"/>
        </p:scale>
        <p:origin x="1137" y="4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hammad Akeef Bin Ahmad" userId="cb7af7cf-7b0c-42a7-ad75-c3313c05c163" providerId="ADAL" clId="{24BF70F4-9362-48C0-817B-E33138C1FD1B}"/>
    <pc:docChg chg="undo custSel addSld modSld sldOrd">
      <pc:chgData name="Muhammad Akeef Bin Ahmad" userId="cb7af7cf-7b0c-42a7-ad75-c3313c05c163" providerId="ADAL" clId="{24BF70F4-9362-48C0-817B-E33138C1FD1B}" dt="2026-05-21T05:34:40.325" v="174" actId="1076"/>
      <pc:docMkLst>
        <pc:docMk/>
      </pc:docMkLst>
      <pc:sldChg chg="modSp mod modNotesTx">
        <pc:chgData name="Muhammad Akeef Bin Ahmad" userId="cb7af7cf-7b0c-42a7-ad75-c3313c05c163" providerId="ADAL" clId="{24BF70F4-9362-48C0-817B-E33138C1FD1B}" dt="2026-05-21T05:34:40.325" v="174" actId="1076"/>
        <pc:sldMkLst>
          <pc:docMk/>
          <pc:sldMk cId="0" sldId="256"/>
        </pc:sldMkLst>
        <pc:spChg chg="mod">
          <ac:chgData name="Muhammad Akeef Bin Ahmad" userId="cb7af7cf-7b0c-42a7-ad75-c3313c05c163" providerId="ADAL" clId="{24BF70F4-9362-48C0-817B-E33138C1FD1B}" dt="2026-05-20T15:46:18.059" v="11" actId="20577"/>
          <ac:spMkLst>
            <pc:docMk/>
            <pc:sldMk cId="0" sldId="256"/>
            <ac:spMk id="7" creationId="{00000000-0000-0000-0000-000000000000}"/>
          </ac:spMkLst>
        </pc:spChg>
        <pc:spChg chg="mod">
          <ac:chgData name="Muhammad Akeef Bin Ahmad" userId="cb7af7cf-7b0c-42a7-ad75-c3313c05c163" providerId="ADAL" clId="{24BF70F4-9362-48C0-817B-E33138C1FD1B}" dt="2026-05-21T05:34:31.223" v="172" actId="1076"/>
          <ac:spMkLst>
            <pc:docMk/>
            <pc:sldMk cId="0" sldId="256"/>
            <ac:spMk id="9" creationId="{00000000-0000-0000-0000-000000000000}"/>
          </ac:spMkLst>
        </pc:spChg>
        <pc:spChg chg="mod">
          <ac:chgData name="Muhammad Akeef Bin Ahmad" userId="cb7af7cf-7b0c-42a7-ad75-c3313c05c163" providerId="ADAL" clId="{24BF70F4-9362-48C0-817B-E33138C1FD1B}" dt="2026-05-21T05:34:40.325" v="174" actId="1076"/>
          <ac:spMkLst>
            <pc:docMk/>
            <pc:sldMk cId="0" sldId="256"/>
            <ac:spMk id="10" creationId="{00000000-0000-0000-0000-000000000000}"/>
          </ac:spMkLst>
        </pc:spChg>
        <pc:spChg chg="mod">
          <ac:chgData name="Muhammad Akeef Bin Ahmad" userId="cb7af7cf-7b0c-42a7-ad75-c3313c05c163" providerId="ADAL" clId="{24BF70F4-9362-48C0-817B-E33138C1FD1B}" dt="2026-05-21T05:34:36.802" v="173" actId="1076"/>
          <ac:spMkLst>
            <pc:docMk/>
            <pc:sldMk cId="0" sldId="256"/>
            <ac:spMk id="11" creationId="{00000000-0000-0000-0000-000000000000}"/>
          </ac:spMkLst>
        </pc:spChg>
      </pc:sldChg>
      <pc:sldChg chg="modSp mod modNotesTx">
        <pc:chgData name="Muhammad Akeef Bin Ahmad" userId="cb7af7cf-7b0c-42a7-ad75-c3313c05c163" providerId="ADAL" clId="{24BF70F4-9362-48C0-817B-E33138C1FD1B}" dt="2026-05-21T03:43:55.012" v="142" actId="20577"/>
        <pc:sldMkLst>
          <pc:docMk/>
          <pc:sldMk cId="0" sldId="257"/>
        </pc:sldMkLst>
        <pc:spChg chg="mod">
          <ac:chgData name="Muhammad Akeef Bin Ahmad" userId="cb7af7cf-7b0c-42a7-ad75-c3313c05c163" providerId="ADAL" clId="{24BF70F4-9362-48C0-817B-E33138C1FD1B}" dt="2026-05-21T03:43:55.012" v="142" actId="20577"/>
          <ac:spMkLst>
            <pc:docMk/>
            <pc:sldMk cId="0" sldId="257"/>
            <ac:spMk id="17" creationId="{00000000-0000-0000-0000-000000000000}"/>
          </ac:spMkLst>
        </pc:spChg>
      </pc:sldChg>
      <pc:sldChg chg="modSp mod ord modNotesTx">
        <pc:chgData name="Muhammad Akeef Bin Ahmad" userId="cb7af7cf-7b0c-42a7-ad75-c3313c05c163" providerId="ADAL" clId="{24BF70F4-9362-48C0-817B-E33138C1FD1B}" dt="2026-05-21T03:44:15.531" v="150" actId="20577"/>
        <pc:sldMkLst>
          <pc:docMk/>
          <pc:sldMk cId="0" sldId="259"/>
        </pc:sldMkLst>
        <pc:spChg chg="mod">
          <ac:chgData name="Muhammad Akeef Bin Ahmad" userId="cb7af7cf-7b0c-42a7-ad75-c3313c05c163" providerId="ADAL" clId="{24BF70F4-9362-48C0-817B-E33138C1FD1B}" dt="2026-05-21T03:44:15.531" v="150" actId="20577"/>
          <ac:spMkLst>
            <pc:docMk/>
            <pc:sldMk cId="0" sldId="259"/>
            <ac:spMk id="8" creationId="{00000000-0000-0000-0000-000000000000}"/>
          </ac:spMkLst>
        </pc:spChg>
      </pc:sldChg>
      <pc:sldChg chg="addSp delSp modSp mod modShow">
        <pc:chgData name="Muhammad Akeef Bin Ahmad" userId="cb7af7cf-7b0c-42a7-ad75-c3313c05c163" providerId="ADAL" clId="{24BF70F4-9362-48C0-817B-E33138C1FD1B}" dt="2026-05-20T16:00:59.104" v="114" actId="729"/>
        <pc:sldMkLst>
          <pc:docMk/>
          <pc:sldMk cId="0" sldId="269"/>
        </pc:sldMkLst>
        <pc:spChg chg="add del">
          <ac:chgData name="Muhammad Akeef Bin Ahmad" userId="cb7af7cf-7b0c-42a7-ad75-c3313c05c163" providerId="ADAL" clId="{24BF70F4-9362-48C0-817B-E33138C1FD1B}" dt="2026-05-20T16:00:46.122" v="112" actId="478"/>
          <ac:spMkLst>
            <pc:docMk/>
            <pc:sldMk cId="0" sldId="269"/>
            <ac:spMk id="16" creationId="{00000000-0000-0000-0000-000000000000}"/>
          </ac:spMkLst>
        </pc:spChg>
        <pc:spChg chg="add del">
          <ac:chgData name="Muhammad Akeef Bin Ahmad" userId="cb7af7cf-7b0c-42a7-ad75-c3313c05c163" providerId="ADAL" clId="{24BF70F4-9362-48C0-817B-E33138C1FD1B}" dt="2026-05-20T16:00:46.122" v="112" actId="478"/>
          <ac:spMkLst>
            <pc:docMk/>
            <pc:sldMk cId="0" sldId="269"/>
            <ac:spMk id="17" creationId="{00000000-0000-0000-0000-000000000000}"/>
          </ac:spMkLst>
        </pc:spChg>
        <pc:spChg chg="add del">
          <ac:chgData name="Muhammad Akeef Bin Ahmad" userId="cb7af7cf-7b0c-42a7-ad75-c3313c05c163" providerId="ADAL" clId="{24BF70F4-9362-48C0-817B-E33138C1FD1B}" dt="2026-05-20T16:00:45.501" v="111" actId="478"/>
          <ac:spMkLst>
            <pc:docMk/>
            <pc:sldMk cId="0" sldId="269"/>
            <ac:spMk id="19" creationId="{00000000-0000-0000-0000-000000000000}"/>
          </ac:spMkLst>
        </pc:spChg>
        <pc:spChg chg="add del mod">
          <ac:chgData name="Muhammad Akeef Bin Ahmad" userId="cb7af7cf-7b0c-42a7-ad75-c3313c05c163" providerId="ADAL" clId="{24BF70F4-9362-48C0-817B-E33138C1FD1B}" dt="2026-05-20T16:00:45.039" v="110" actId="20577"/>
          <ac:spMkLst>
            <pc:docMk/>
            <pc:sldMk cId="0" sldId="269"/>
            <ac:spMk id="20" creationId="{00000000-0000-0000-0000-000000000000}"/>
          </ac:spMkLst>
        </pc:spChg>
      </pc:sldChg>
      <pc:sldChg chg="delSp modSp add mod">
        <pc:chgData name="Muhammad Akeef Bin Ahmad" userId="cb7af7cf-7b0c-42a7-ad75-c3313c05c163" providerId="ADAL" clId="{24BF70F4-9362-48C0-817B-E33138C1FD1B}" dt="2026-05-20T16:01:34.936" v="121" actId="478"/>
        <pc:sldMkLst>
          <pc:docMk/>
          <pc:sldMk cId="2757694653" sldId="273"/>
        </pc:sldMkLst>
        <pc:spChg chg="mod">
          <ac:chgData name="Muhammad Akeef Bin Ahmad" userId="cb7af7cf-7b0c-42a7-ad75-c3313c05c163" providerId="ADAL" clId="{24BF70F4-9362-48C0-817B-E33138C1FD1B}" dt="2026-05-20T16:01:24.752" v="119" actId="1076"/>
          <ac:spMkLst>
            <pc:docMk/>
            <pc:sldMk cId="2757694653" sldId="273"/>
            <ac:spMk id="6" creationId="{93A9EDF1-0B6F-A410-73E6-EECF9F47C13F}"/>
          </ac:spMkLst>
        </pc:spChg>
        <pc:spChg chg="mod">
          <ac:chgData name="Muhammad Akeef Bin Ahmad" userId="cb7af7cf-7b0c-42a7-ad75-c3313c05c163" providerId="ADAL" clId="{24BF70F4-9362-48C0-817B-E33138C1FD1B}" dt="2026-05-20T16:01:24.752" v="119" actId="1076"/>
          <ac:spMkLst>
            <pc:docMk/>
            <pc:sldMk cId="2757694653" sldId="273"/>
            <ac:spMk id="7" creationId="{076C4BE2-F49C-DF74-F2CD-A79CB3BDB347}"/>
          </ac:spMkLst>
        </pc:spChg>
        <pc:spChg chg="mod">
          <ac:chgData name="Muhammad Akeef Bin Ahmad" userId="cb7af7cf-7b0c-42a7-ad75-c3313c05c163" providerId="ADAL" clId="{24BF70F4-9362-48C0-817B-E33138C1FD1B}" dt="2026-05-20T16:01:24.752" v="119" actId="1076"/>
          <ac:spMkLst>
            <pc:docMk/>
            <pc:sldMk cId="2757694653" sldId="273"/>
            <ac:spMk id="8" creationId="{51BEABE1-ADDB-918E-2E3F-12E6608E9752}"/>
          </ac:spMkLst>
        </pc:spChg>
        <pc:spChg chg="mod">
          <ac:chgData name="Muhammad Akeef Bin Ahmad" userId="cb7af7cf-7b0c-42a7-ad75-c3313c05c163" providerId="ADAL" clId="{24BF70F4-9362-48C0-817B-E33138C1FD1B}" dt="2026-05-20T16:01:24.752" v="119" actId="1076"/>
          <ac:spMkLst>
            <pc:docMk/>
            <pc:sldMk cId="2757694653" sldId="273"/>
            <ac:spMk id="9" creationId="{676923A4-6FC2-7F41-BC70-6C57CD5F2B26}"/>
          </ac:spMkLst>
        </pc:spChg>
        <pc:spChg chg="mod">
          <ac:chgData name="Muhammad Akeef Bin Ahmad" userId="cb7af7cf-7b0c-42a7-ad75-c3313c05c163" providerId="ADAL" clId="{24BF70F4-9362-48C0-817B-E33138C1FD1B}" dt="2026-05-20T16:01:24.752" v="119" actId="1076"/>
          <ac:spMkLst>
            <pc:docMk/>
            <pc:sldMk cId="2757694653" sldId="273"/>
            <ac:spMk id="10" creationId="{14DF0BE4-280B-A5E9-55E5-9B0748F9BFD9}"/>
          </ac:spMkLst>
        </pc:spChg>
        <pc:spChg chg="mod">
          <ac:chgData name="Muhammad Akeef Bin Ahmad" userId="cb7af7cf-7b0c-42a7-ad75-c3313c05c163" providerId="ADAL" clId="{24BF70F4-9362-48C0-817B-E33138C1FD1B}" dt="2026-05-20T16:01:24.752" v="119" actId="1076"/>
          <ac:spMkLst>
            <pc:docMk/>
            <pc:sldMk cId="2757694653" sldId="273"/>
            <ac:spMk id="11" creationId="{7AB7EFA3-B030-2A4F-E54C-B4767E42ED13}"/>
          </ac:spMkLst>
        </pc:spChg>
        <pc:spChg chg="mod">
          <ac:chgData name="Muhammad Akeef Bin Ahmad" userId="cb7af7cf-7b0c-42a7-ad75-c3313c05c163" providerId="ADAL" clId="{24BF70F4-9362-48C0-817B-E33138C1FD1B}" dt="2026-05-20T16:01:24.752" v="119" actId="1076"/>
          <ac:spMkLst>
            <pc:docMk/>
            <pc:sldMk cId="2757694653" sldId="273"/>
            <ac:spMk id="12" creationId="{32153602-91D0-71F4-D312-0AC986AF9706}"/>
          </ac:spMkLst>
        </pc:spChg>
        <pc:spChg chg="mod">
          <ac:chgData name="Muhammad Akeef Bin Ahmad" userId="cb7af7cf-7b0c-42a7-ad75-c3313c05c163" providerId="ADAL" clId="{24BF70F4-9362-48C0-817B-E33138C1FD1B}" dt="2026-05-20T16:01:24.752" v="119" actId="1076"/>
          <ac:spMkLst>
            <pc:docMk/>
            <pc:sldMk cId="2757694653" sldId="273"/>
            <ac:spMk id="13" creationId="{DC854BF6-D638-7E61-4F54-615D150A3809}"/>
          </ac:spMkLst>
        </pc:spChg>
        <pc:spChg chg="mod">
          <ac:chgData name="Muhammad Akeef Bin Ahmad" userId="cb7af7cf-7b0c-42a7-ad75-c3313c05c163" providerId="ADAL" clId="{24BF70F4-9362-48C0-817B-E33138C1FD1B}" dt="2026-05-20T16:01:24.752" v="119" actId="1076"/>
          <ac:spMkLst>
            <pc:docMk/>
            <pc:sldMk cId="2757694653" sldId="273"/>
            <ac:spMk id="14" creationId="{8126BDDA-CC1D-1B48-C75D-01F712FDCF03}"/>
          </ac:spMkLst>
        </pc:spChg>
        <pc:spChg chg="mod">
          <ac:chgData name="Muhammad Akeef Bin Ahmad" userId="cb7af7cf-7b0c-42a7-ad75-c3313c05c163" providerId="ADAL" clId="{24BF70F4-9362-48C0-817B-E33138C1FD1B}" dt="2026-05-20T16:01:24.752" v="119" actId="1076"/>
          <ac:spMkLst>
            <pc:docMk/>
            <pc:sldMk cId="2757694653" sldId="273"/>
            <ac:spMk id="15" creationId="{343D7DA2-F167-01BF-46FF-BA8DE92728BF}"/>
          </ac:spMkLst>
        </pc:spChg>
        <pc:spChg chg="del">
          <ac:chgData name="Muhammad Akeef Bin Ahmad" userId="cb7af7cf-7b0c-42a7-ad75-c3313c05c163" providerId="ADAL" clId="{24BF70F4-9362-48C0-817B-E33138C1FD1B}" dt="2026-05-20T16:01:05.588" v="115" actId="478"/>
          <ac:spMkLst>
            <pc:docMk/>
            <pc:sldMk cId="2757694653" sldId="273"/>
            <ac:spMk id="16" creationId="{FAE3286C-913B-E2B8-4CA8-7ECE6E0E4706}"/>
          </ac:spMkLst>
        </pc:spChg>
        <pc:spChg chg="del">
          <ac:chgData name="Muhammad Akeef Bin Ahmad" userId="cb7af7cf-7b0c-42a7-ad75-c3313c05c163" providerId="ADAL" clId="{24BF70F4-9362-48C0-817B-E33138C1FD1B}" dt="2026-05-20T16:01:13.267" v="118" actId="478"/>
          <ac:spMkLst>
            <pc:docMk/>
            <pc:sldMk cId="2757694653" sldId="273"/>
            <ac:spMk id="17" creationId="{BE20EA46-1356-F4A9-4B94-641DBDC235E3}"/>
          </ac:spMkLst>
        </pc:spChg>
        <pc:spChg chg="del mod">
          <ac:chgData name="Muhammad Akeef Bin Ahmad" userId="cb7af7cf-7b0c-42a7-ad75-c3313c05c163" providerId="ADAL" clId="{24BF70F4-9362-48C0-817B-E33138C1FD1B}" dt="2026-05-20T16:01:34.936" v="121" actId="478"/>
          <ac:spMkLst>
            <pc:docMk/>
            <pc:sldMk cId="2757694653" sldId="273"/>
            <ac:spMk id="18" creationId="{B38886C1-1E2F-0B86-BEAD-C29405B2AF73}"/>
          </ac:spMkLst>
        </pc:spChg>
        <pc:spChg chg="del">
          <ac:chgData name="Muhammad Akeef Bin Ahmad" userId="cb7af7cf-7b0c-42a7-ad75-c3313c05c163" providerId="ADAL" clId="{24BF70F4-9362-48C0-817B-E33138C1FD1B}" dt="2026-05-20T16:01:10.181" v="117" actId="478"/>
          <ac:spMkLst>
            <pc:docMk/>
            <pc:sldMk cId="2757694653" sldId="273"/>
            <ac:spMk id="19" creationId="{9203CA81-7CD1-C58F-7691-FA1AF3897C72}"/>
          </ac:spMkLst>
        </pc:spChg>
        <pc:spChg chg="del">
          <ac:chgData name="Muhammad Akeef Bin Ahmad" userId="cb7af7cf-7b0c-42a7-ad75-c3313c05c163" providerId="ADAL" clId="{24BF70F4-9362-48C0-817B-E33138C1FD1B}" dt="2026-05-20T16:01:06.592" v="116" actId="478"/>
          <ac:spMkLst>
            <pc:docMk/>
            <pc:sldMk cId="2757694653" sldId="273"/>
            <ac:spMk id="20" creationId="{BBCF20FB-1F7D-4D77-6D95-25628D0C5D5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27324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3200" b="0" i="1" kern="1200" dirty="0">
                <a:solidFill>
                  <a:srgbClr val="FF0000"/>
                </a:solidFill>
                <a:effectLst/>
                <a:latin typeface="+mn-lt"/>
                <a:ea typeface="+mn-ea"/>
                <a:cs typeface="+mn-cs"/>
              </a:rPr>
              <a:t>"Good morning/afternoon. My name is [your name], and my Final Year Project is called </a:t>
            </a:r>
            <a:r>
              <a:rPr lang="en-US" sz="3200" b="0" i="1" kern="1200" dirty="0" err="1">
                <a:solidFill>
                  <a:srgbClr val="FF0000"/>
                </a:solidFill>
                <a:effectLst/>
                <a:latin typeface="+mn-lt"/>
                <a:ea typeface="+mn-ea"/>
                <a:cs typeface="+mn-cs"/>
              </a:rPr>
              <a:t>MyUniPath</a:t>
            </a:r>
            <a:r>
              <a:rPr lang="en-US" sz="3200" b="0" i="1" kern="1200" dirty="0">
                <a:solidFill>
                  <a:srgbClr val="FF0000"/>
                </a:solidFill>
                <a:effectLst/>
                <a:latin typeface="+mn-lt"/>
                <a:ea typeface="+mn-ea"/>
                <a:cs typeface="+mn-cs"/>
              </a:rPr>
              <a:t>. It's a rule-based ICT career decision support system built for College of Computing and Informatics students at UNITEN. In the next 25 minutes, I'll walk you through the problem it solves, the architecture, the core rule engine, and finish with a live demo of the full user journey."</a:t>
            </a:r>
            <a:endParaRPr lang="en-US" sz="3200" dirty="0">
              <a:solidFill>
                <a:srgbClr val="FF0000"/>
              </a:solidFill>
            </a:endParaRP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1" kern="1200" dirty="0">
                <a:solidFill>
                  <a:schemeClr val="tx1"/>
                </a:solidFill>
                <a:effectLst/>
                <a:latin typeface="+mn-lt"/>
                <a:ea typeface="+mn-ea"/>
                <a:cs typeface="+mn-cs"/>
              </a:rPr>
              <a:t>"Every year, hundreds of students arrive at UNITEN's College of Computing and Informatics knowing they want a tech career — but they're not sure which of the six undergraduate </a:t>
            </a:r>
            <a:r>
              <a:rPr lang="en-US" sz="1200" b="0" i="1" kern="1200" dirty="0" err="1">
                <a:solidFill>
                  <a:schemeClr val="tx1"/>
                </a:solidFill>
                <a:effectLst/>
                <a:latin typeface="+mn-lt"/>
                <a:ea typeface="+mn-ea"/>
                <a:cs typeface="+mn-cs"/>
              </a:rPr>
              <a:t>programmes</a:t>
            </a:r>
            <a:r>
              <a:rPr lang="en-US" sz="1200" b="0" i="1" kern="1200" dirty="0">
                <a:solidFill>
                  <a:schemeClr val="tx1"/>
                </a:solidFill>
                <a:effectLst/>
                <a:latin typeface="+mn-lt"/>
                <a:ea typeface="+mn-ea"/>
                <a:cs typeface="+mn-cs"/>
              </a:rPr>
              <a:t> fits them best. The UNITEN website lists the </a:t>
            </a:r>
            <a:r>
              <a:rPr lang="en-US" sz="1200" b="0" i="1" kern="1200" dirty="0" err="1">
                <a:solidFill>
                  <a:schemeClr val="tx1"/>
                </a:solidFill>
                <a:effectLst/>
                <a:latin typeface="+mn-lt"/>
                <a:ea typeface="+mn-ea"/>
                <a:cs typeface="+mn-cs"/>
              </a:rPr>
              <a:t>programmes</a:t>
            </a:r>
            <a:r>
              <a:rPr lang="en-US" sz="1200" b="0" i="1" kern="1200" dirty="0">
                <a:solidFill>
                  <a:schemeClr val="tx1"/>
                </a:solidFill>
                <a:effectLst/>
                <a:latin typeface="+mn-lt"/>
                <a:ea typeface="+mn-ea"/>
                <a:cs typeface="+mn-cs"/>
              </a:rPr>
              <a:t> well, but it's a one-way information dump — there's no tool that asks 'who are you?' and recommends a path."</a:t>
            </a: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[Switch to the PDF documentation, page 2 — Tech Stack table.]</a:t>
            </a:r>
          </a:p>
          <a:p>
            <a:r>
              <a:rPr lang="en-US" sz="1200" b="0" i="1" kern="1200" dirty="0">
                <a:solidFill>
                  <a:schemeClr val="tx1"/>
                </a:solidFill>
                <a:effectLst/>
                <a:latin typeface="+mn-lt"/>
                <a:ea typeface="+mn-ea"/>
                <a:cs typeface="+mn-cs"/>
              </a:rPr>
              <a:t>"The system is a classic decoupled web application. Frontend is React 18 with TypeScript, bundled with Vite, styled with Tailwind CSS. The backend is Laravel 11 on PHP 8.3, with MySQL as the database. The two tiers communicate exclusively over JSON REST."</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[Point to specific rows on the table.]</a:t>
            </a:r>
          </a:p>
          <a:p>
            <a:r>
              <a:rPr lang="en-US" sz="1200" b="0" i="1" kern="1200" dirty="0">
                <a:solidFill>
                  <a:schemeClr val="tx1"/>
                </a:solidFill>
                <a:effectLst/>
                <a:latin typeface="+mn-lt"/>
                <a:ea typeface="+mn-ea"/>
                <a:cs typeface="+mn-cs"/>
              </a:rPr>
              <a:t>"For state management on the frontend I use React Context rather than Redux — the app's state is small enough that Context is the cleaner choice. For data </a:t>
            </a:r>
            <a:r>
              <a:rPr lang="en-US" sz="1200" b="0" i="1" kern="1200" dirty="0" err="1">
                <a:solidFill>
                  <a:schemeClr val="tx1"/>
                </a:solidFill>
                <a:effectLst/>
                <a:latin typeface="+mn-lt"/>
                <a:ea typeface="+mn-ea"/>
                <a:cs typeface="+mn-cs"/>
              </a:rPr>
              <a:t>visualisation</a:t>
            </a:r>
            <a:r>
              <a:rPr lang="en-US" sz="1200" b="0" i="1" kern="1200" dirty="0">
                <a:solidFill>
                  <a:schemeClr val="tx1"/>
                </a:solidFill>
                <a:effectLst/>
                <a:latin typeface="+mn-lt"/>
                <a:ea typeface="+mn-ea"/>
                <a:cs typeface="+mn-cs"/>
              </a:rPr>
              <a:t> on the admin dashboard I use Recharts. And Framer Motion handles all the page transitions and the floating mascot animations you'll see in the demo."</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Page 3 — Context Diagram:</a:t>
            </a:r>
          </a:p>
          <a:p>
            <a:r>
              <a:rPr lang="en-US" sz="1200" b="0" i="1" kern="1200" dirty="0">
                <a:solidFill>
                  <a:schemeClr val="tx1"/>
                </a:solidFill>
                <a:effectLst/>
                <a:latin typeface="+mn-lt"/>
                <a:ea typeface="+mn-ea"/>
                <a:cs typeface="+mn-cs"/>
              </a:rPr>
              <a:t>"At the highest level — the context diagram. Three actors interact with the system: the Student, the Admin, and an unauthenticated Guest browsing </a:t>
            </a:r>
            <a:r>
              <a:rPr lang="en-US" sz="1200" b="0" i="1" kern="1200" dirty="0" err="1">
                <a:solidFill>
                  <a:schemeClr val="tx1"/>
                </a:solidFill>
                <a:effectLst/>
                <a:latin typeface="+mn-lt"/>
                <a:ea typeface="+mn-ea"/>
                <a:cs typeface="+mn-cs"/>
              </a:rPr>
              <a:t>programmes</a:t>
            </a:r>
            <a:r>
              <a:rPr lang="en-US" sz="1200" b="0" i="1" kern="1200" dirty="0">
                <a:solidFill>
                  <a:schemeClr val="tx1"/>
                </a:solidFill>
                <a:effectLst/>
                <a:latin typeface="+mn-lt"/>
                <a:ea typeface="+mn-ea"/>
                <a:cs typeface="+mn-cs"/>
              </a:rPr>
              <a:t>. The dashed arrow on the right represents external links that open the official uniten.edu.my pages in a new tab."</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EBB0D-6040-68F2-AE2E-E60E833686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FA8D13-EEC6-8B16-288D-DD529587D3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4659A4-0392-2888-908A-6A3B2288EA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F35D08-773B-E5E6-9923-1E6A8717869F}"/>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2397149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1" kern="1200" dirty="0">
                <a:solidFill>
                  <a:schemeClr val="tx1"/>
                </a:solidFill>
                <a:effectLst/>
                <a:latin typeface="+mn-lt"/>
                <a:ea typeface="+mn-ea"/>
                <a:cs typeface="+mn-cs"/>
              </a:rPr>
              <a:t>To </a:t>
            </a:r>
            <a:r>
              <a:rPr lang="en-US" sz="1200" b="0" i="1" kern="1200" dirty="0" err="1">
                <a:solidFill>
                  <a:schemeClr val="tx1"/>
                </a:solidFill>
                <a:effectLst/>
                <a:latin typeface="+mn-lt"/>
                <a:ea typeface="+mn-ea"/>
                <a:cs typeface="+mn-cs"/>
              </a:rPr>
              <a:t>summarise</a:t>
            </a:r>
            <a:r>
              <a:rPr lang="en-US" sz="1200" b="0" i="1" kern="1200" dirty="0">
                <a:solidFill>
                  <a:schemeClr val="tx1"/>
                </a:solidFill>
                <a:effectLst/>
                <a:latin typeface="+mn-lt"/>
                <a:ea typeface="+mn-ea"/>
                <a:cs typeface="+mn-cs"/>
              </a:rPr>
              <a:t>. </a:t>
            </a:r>
            <a:r>
              <a:rPr lang="en-US" sz="1200" b="0" i="1" kern="1200" dirty="0" err="1">
                <a:solidFill>
                  <a:schemeClr val="tx1"/>
                </a:solidFill>
                <a:effectLst/>
                <a:latin typeface="+mn-lt"/>
                <a:ea typeface="+mn-ea"/>
                <a:cs typeface="+mn-cs"/>
              </a:rPr>
              <a:t>MyUniPath</a:t>
            </a:r>
            <a:r>
              <a:rPr lang="en-US" sz="1200" b="0" i="1" kern="1200" dirty="0">
                <a:solidFill>
                  <a:schemeClr val="tx1"/>
                </a:solidFill>
                <a:effectLst/>
                <a:latin typeface="+mn-lt"/>
                <a:ea typeface="+mn-ea"/>
                <a:cs typeface="+mn-cs"/>
              </a:rPr>
              <a:t> is a decoupled React-plus-Laravel-plus-MySQL system, with a 39-line rule engine at its core — fully transparent, fully data-driven, and fully reconfigurable by a non-technical admin through a CRUD interface. The user journey supports both guest browsing and authenticated assessment, and the system has been verified against real UNITEN </a:t>
            </a:r>
            <a:r>
              <a:rPr lang="en-US" sz="1200" b="0" i="1" kern="1200" dirty="0" err="1">
                <a:solidFill>
                  <a:schemeClr val="tx1"/>
                </a:solidFill>
                <a:effectLst/>
                <a:latin typeface="+mn-lt"/>
                <a:ea typeface="+mn-ea"/>
                <a:cs typeface="+mn-cs"/>
              </a:rPr>
              <a:t>programme</a:t>
            </a:r>
            <a:r>
              <a:rPr lang="en-US" sz="1200" b="0" i="1" kern="1200" dirty="0">
                <a:solidFill>
                  <a:schemeClr val="tx1"/>
                </a:solidFill>
                <a:effectLst/>
                <a:latin typeface="+mn-lt"/>
                <a:ea typeface="+mn-ea"/>
                <a:cs typeface="+mn-cs"/>
              </a:rPr>
              <a:t> data."</a:t>
            </a:r>
            <a:endParaRPr lang="en-US" sz="1200" b="0" i="0"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"That's exactly what a rule-based decision support system should be. Thank you — happy to take any questions."</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F3D"/>
        </a:solidFill>
        <a:effectLst/>
      </p:bgPr>
    </p:bg>
    <p:spTree>
      <p:nvGrpSpPr>
        <p:cNvPr id="1" name=""/>
        <p:cNvGrpSpPr/>
        <p:nvPr/>
      </p:nvGrpSpPr>
      <p:grpSpPr>
        <a:xfrm>
          <a:off x="0" y="0"/>
          <a:ext cx="0" cy="0"/>
          <a:chOff x="0" y="0"/>
          <a:chExt cx="0" cy="0"/>
        </a:xfrm>
      </p:grpSpPr>
      <p:sp>
        <p:nvSpPr>
          <p:cNvPr id="2" name="Shape 0"/>
          <p:cNvSpPr/>
          <p:nvPr/>
        </p:nvSpPr>
        <p:spPr>
          <a:xfrm>
            <a:off x="7315200" y="0"/>
            <a:ext cx="109728" cy="5143500"/>
          </a:xfrm>
          <a:prstGeom prst="rect">
            <a:avLst/>
          </a:prstGeom>
          <a:solidFill>
            <a:srgbClr val="E34628">
              <a:alpha val="65000"/>
            </a:srgbClr>
          </a:solidFill>
          <a:ln w="12700">
            <a:solidFill>
              <a:srgbClr val="E34628">
                <a:alpha val="0"/>
              </a:srgbClr>
            </a:solidFill>
            <a:prstDash val="solid"/>
          </a:ln>
        </p:spPr>
        <p:txBody>
          <a:bodyPr/>
          <a:lstStyle/>
          <a:p>
            <a:endParaRPr lang="en-US"/>
          </a:p>
        </p:txBody>
      </p:sp>
      <p:sp>
        <p:nvSpPr>
          <p:cNvPr id="3" name="Shape 1"/>
          <p:cNvSpPr/>
          <p:nvPr/>
        </p:nvSpPr>
        <p:spPr>
          <a:xfrm>
            <a:off x="7863840" y="0"/>
            <a:ext cx="109728" cy="5143500"/>
          </a:xfrm>
          <a:prstGeom prst="rect">
            <a:avLst/>
          </a:prstGeom>
          <a:solidFill>
            <a:srgbClr val="E34628">
              <a:alpha val="40000"/>
            </a:srgbClr>
          </a:solidFill>
          <a:ln w="12700">
            <a:solidFill>
              <a:srgbClr val="E34628">
                <a:alpha val="0"/>
              </a:srgbClr>
            </a:solidFill>
            <a:prstDash val="solid"/>
          </a:ln>
        </p:spPr>
        <p:txBody>
          <a:bodyPr/>
          <a:lstStyle/>
          <a:p>
            <a:endParaRPr lang="en-US"/>
          </a:p>
        </p:txBody>
      </p:sp>
      <p:sp>
        <p:nvSpPr>
          <p:cNvPr id="4" name="Shape 2"/>
          <p:cNvSpPr/>
          <p:nvPr/>
        </p:nvSpPr>
        <p:spPr>
          <a:xfrm>
            <a:off x="8412480" y="0"/>
            <a:ext cx="109728" cy="5143500"/>
          </a:xfrm>
          <a:prstGeom prst="rect">
            <a:avLst/>
          </a:prstGeom>
          <a:solidFill>
            <a:srgbClr val="E34628">
              <a:alpha val="15000"/>
            </a:srgbClr>
          </a:solidFill>
          <a:ln w="12700">
            <a:solidFill>
              <a:srgbClr val="E34628">
                <a:alpha val="0"/>
              </a:srgbClr>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640080" y="502920"/>
            <a:ext cx="1005840" cy="1005840"/>
          </a:xfrm>
          <a:prstGeom prst="rect">
            <a:avLst/>
          </a:prstGeom>
        </p:spPr>
      </p:pic>
      <p:sp>
        <p:nvSpPr>
          <p:cNvPr id="6" name="Text 3"/>
          <p:cNvSpPr/>
          <p:nvPr/>
        </p:nvSpPr>
        <p:spPr>
          <a:xfrm>
            <a:off x="640080" y="1600200"/>
            <a:ext cx="7772400" cy="1005840"/>
          </a:xfrm>
          <a:prstGeom prst="rect">
            <a:avLst/>
          </a:prstGeom>
          <a:noFill/>
          <a:ln/>
        </p:spPr>
        <p:txBody>
          <a:bodyPr wrap="square" lIns="0" tIns="0" rIns="0" bIns="0" rtlCol="0" anchor="ctr"/>
          <a:lstStyle/>
          <a:p>
            <a:pPr marL="0" indent="0">
              <a:buNone/>
            </a:pPr>
            <a:r>
              <a:rPr lang="en-US" sz="6800" b="1" dirty="0">
                <a:solidFill>
                  <a:srgbClr val="FFFFFF"/>
                </a:solidFill>
                <a:latin typeface="Calibri" pitchFamily="34" charset="0"/>
                <a:ea typeface="Calibri" pitchFamily="34" charset="-122"/>
                <a:cs typeface="Calibri" pitchFamily="34" charset="-120"/>
              </a:rPr>
              <a:t>MyUniPath</a:t>
            </a:r>
            <a:endParaRPr lang="en-US" sz="6800" dirty="0"/>
          </a:p>
        </p:txBody>
      </p:sp>
      <p:sp>
        <p:nvSpPr>
          <p:cNvPr id="7" name="Text 4"/>
          <p:cNvSpPr/>
          <p:nvPr/>
        </p:nvSpPr>
        <p:spPr>
          <a:xfrm>
            <a:off x="640080" y="2606040"/>
            <a:ext cx="7772400" cy="502920"/>
          </a:xfrm>
          <a:prstGeom prst="rect">
            <a:avLst/>
          </a:prstGeom>
          <a:noFill/>
          <a:ln/>
        </p:spPr>
        <p:txBody>
          <a:bodyPr wrap="square" lIns="0" tIns="0" rIns="0" bIns="0" rtlCol="0" anchor="ctr"/>
          <a:lstStyle/>
          <a:p>
            <a:pPr marL="0" indent="0">
              <a:buNone/>
            </a:pPr>
            <a:r>
              <a:rPr lang="en-US" sz="2200" dirty="0">
                <a:solidFill>
                  <a:srgbClr val="E34628"/>
                </a:solidFill>
                <a:latin typeface="Calibri" pitchFamily="34" charset="0"/>
                <a:ea typeface="Calibri" pitchFamily="34" charset="-122"/>
                <a:cs typeface="Calibri" pitchFamily="34" charset="-120"/>
              </a:rPr>
              <a:t>A Rule-Based ICT Career Decision Support System</a:t>
            </a:r>
            <a:endParaRPr lang="en-US" sz="2200" dirty="0"/>
          </a:p>
        </p:txBody>
      </p:sp>
      <p:pic>
        <p:nvPicPr>
          <p:cNvPr id="8" name="Image 1" descr="preencoded.png"/>
          <p:cNvPicPr>
            <a:picLocks noChangeAspect="1"/>
          </p:cNvPicPr>
          <p:nvPr/>
        </p:nvPicPr>
        <p:blipFill>
          <a:blip r:embed="rId4"/>
          <a:stretch>
            <a:fillRect/>
          </a:stretch>
        </p:blipFill>
        <p:spPr>
          <a:xfrm>
            <a:off x="6217920" y="3108960"/>
            <a:ext cx="1554480" cy="1554480"/>
          </a:xfrm>
          <a:prstGeom prst="rect">
            <a:avLst/>
          </a:prstGeom>
        </p:spPr>
      </p:pic>
      <p:sp>
        <p:nvSpPr>
          <p:cNvPr id="9" name="Text 5"/>
          <p:cNvSpPr/>
          <p:nvPr/>
        </p:nvSpPr>
        <p:spPr>
          <a:xfrm>
            <a:off x="640080" y="3301855"/>
            <a:ext cx="6400800" cy="365760"/>
          </a:xfrm>
          <a:prstGeom prst="rect">
            <a:avLst/>
          </a:prstGeom>
          <a:noFill/>
          <a:ln/>
        </p:spPr>
        <p:txBody>
          <a:bodyPr wrap="square" lIns="0" tIns="0" rIns="0" bIns="0" rtlCol="0" anchor="ctr"/>
          <a:lstStyle/>
          <a:p>
            <a:pPr marL="0" indent="0">
              <a:buNone/>
            </a:pPr>
            <a:r>
              <a:rPr lang="en-US" sz="1800" dirty="0">
                <a:solidFill>
                  <a:srgbClr val="FFFFFF"/>
                </a:solidFill>
                <a:latin typeface="Calibri" pitchFamily="34" charset="0"/>
                <a:ea typeface="Calibri" pitchFamily="34" charset="-122"/>
                <a:cs typeface="Calibri" pitchFamily="34" charset="-120"/>
              </a:rPr>
              <a:t>Final Year Project 2  </a:t>
            </a:r>
            <a:endParaRPr lang="en-US" sz="1800" dirty="0"/>
          </a:p>
        </p:txBody>
      </p:sp>
      <p:sp>
        <p:nvSpPr>
          <p:cNvPr id="10" name="Text 6"/>
          <p:cNvSpPr/>
          <p:nvPr/>
        </p:nvSpPr>
        <p:spPr>
          <a:xfrm>
            <a:off x="640080" y="3869172"/>
            <a:ext cx="6400800" cy="320040"/>
          </a:xfrm>
          <a:prstGeom prst="rect">
            <a:avLst/>
          </a:prstGeom>
          <a:noFill/>
          <a:ln/>
        </p:spPr>
        <p:txBody>
          <a:bodyPr wrap="square" lIns="0" tIns="0" rIns="0" bIns="0" rtlCol="0" anchor="ctr"/>
          <a:lstStyle/>
          <a:p>
            <a:pPr marL="0" indent="0">
              <a:buNone/>
            </a:pPr>
            <a:r>
              <a:rPr lang="en-US" sz="1500" dirty="0">
                <a:solidFill>
                  <a:srgbClr val="FFFFFF">
                    <a:alpha val="75000"/>
                  </a:srgbClr>
                </a:solidFill>
                <a:latin typeface="Calibri" pitchFamily="34" charset="0"/>
                <a:ea typeface="Calibri" pitchFamily="34" charset="-122"/>
                <a:cs typeface="Calibri" pitchFamily="34" charset="-120"/>
              </a:rPr>
              <a:t>Muhammad Akeef bin Ahmad (SW01083700)</a:t>
            </a:r>
          </a:p>
          <a:p>
            <a:pPr marL="0" indent="0">
              <a:buNone/>
            </a:pPr>
            <a:r>
              <a:rPr lang="en-US" sz="1500" dirty="0">
                <a:solidFill>
                  <a:srgbClr val="FFFFFF">
                    <a:alpha val="75000"/>
                  </a:srgbClr>
                </a:solidFill>
                <a:latin typeface="Calibri" pitchFamily="34" charset="0"/>
                <a:ea typeface="Calibri" pitchFamily="34" charset="-122"/>
                <a:cs typeface="Calibri" pitchFamily="34" charset="-120"/>
              </a:rPr>
              <a:t>Supervisor : Muhammad </a:t>
            </a:r>
            <a:r>
              <a:rPr lang="en-US" sz="1500" dirty="0" err="1">
                <a:solidFill>
                  <a:srgbClr val="FFFFFF">
                    <a:alpha val="75000"/>
                  </a:srgbClr>
                </a:solidFill>
                <a:latin typeface="Calibri" pitchFamily="34" charset="0"/>
                <a:ea typeface="Calibri" pitchFamily="34" charset="-122"/>
                <a:cs typeface="Calibri" pitchFamily="34" charset="-120"/>
              </a:rPr>
              <a:t>Sufyian</a:t>
            </a:r>
            <a:r>
              <a:rPr lang="en-US" sz="1500" dirty="0">
                <a:solidFill>
                  <a:srgbClr val="FFFFFF">
                    <a:alpha val="75000"/>
                  </a:srgbClr>
                </a:solidFill>
                <a:latin typeface="Calibri" pitchFamily="34" charset="0"/>
                <a:ea typeface="Calibri" pitchFamily="34" charset="-122"/>
                <a:cs typeface="Calibri" pitchFamily="34" charset="-120"/>
              </a:rPr>
              <a:t> Mohd Azmi</a:t>
            </a:r>
          </a:p>
          <a:p>
            <a:pPr marL="0" indent="0">
              <a:buNone/>
            </a:pPr>
            <a:r>
              <a:rPr lang="en-US" sz="1500" dirty="0">
                <a:solidFill>
                  <a:srgbClr val="FFFFFF">
                    <a:alpha val="75000"/>
                  </a:srgbClr>
                </a:solidFill>
                <a:latin typeface="Calibri" pitchFamily="34" charset="0"/>
                <a:ea typeface="Calibri" pitchFamily="34" charset="-122"/>
                <a:cs typeface="Calibri" pitchFamily="34" charset="-120"/>
              </a:rPr>
              <a:t>Panel : Ts. Dr. Khairi Azhar Aziz</a:t>
            </a:r>
            <a:endParaRPr lang="en-US" sz="1500" dirty="0"/>
          </a:p>
        </p:txBody>
      </p:sp>
      <p:sp>
        <p:nvSpPr>
          <p:cNvPr id="11" name="Text 7"/>
          <p:cNvSpPr/>
          <p:nvPr/>
        </p:nvSpPr>
        <p:spPr>
          <a:xfrm>
            <a:off x="640080" y="4417124"/>
            <a:ext cx="6400800" cy="320040"/>
          </a:xfrm>
          <a:prstGeom prst="rect">
            <a:avLst/>
          </a:prstGeom>
          <a:noFill/>
          <a:ln/>
        </p:spPr>
        <p:txBody>
          <a:bodyPr wrap="square" lIns="0" tIns="0" rIns="0" bIns="0" rtlCol="0" anchor="ctr"/>
          <a:lstStyle/>
          <a:p>
            <a:pPr marL="0" indent="0">
              <a:buNone/>
            </a:pPr>
            <a:r>
              <a:rPr lang="en-US" sz="1300" dirty="0">
                <a:solidFill>
                  <a:srgbClr val="FFFFFF">
                    <a:alpha val="60000"/>
                  </a:srgbClr>
                </a:solidFill>
                <a:latin typeface="Calibri" pitchFamily="34" charset="0"/>
                <a:ea typeface="Calibri" pitchFamily="34" charset="-122"/>
                <a:cs typeface="Calibri" pitchFamily="34" charset="-120"/>
              </a:rPr>
              <a:t>Universiti Tenaga Nasional  -  21 May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56032" cy="256032"/>
          </a:xfrm>
          <a:prstGeom prst="ellipse">
            <a:avLst/>
          </a:prstGeom>
          <a:solidFill>
            <a:srgbClr val="E34628"/>
          </a:solidFill>
          <a:ln w="12700">
            <a:solidFill>
              <a:srgbClr val="E34628"/>
            </a:solidFill>
            <a:prstDash val="solid"/>
          </a:ln>
        </p:spPr>
        <p:txBody>
          <a:bodyPr/>
          <a:lstStyle/>
          <a:p>
            <a:endParaRPr lang="en-US"/>
          </a:p>
        </p:txBody>
      </p:sp>
      <p:sp>
        <p:nvSpPr>
          <p:cNvPr id="3" name="Text 1"/>
          <p:cNvSpPr/>
          <p:nvPr/>
        </p:nvSpPr>
        <p:spPr>
          <a:xfrm>
            <a:off x="868680" y="256032"/>
            <a:ext cx="7772400" cy="548640"/>
          </a:xfrm>
          <a:prstGeom prst="rect">
            <a:avLst/>
          </a:prstGeom>
          <a:noFill/>
          <a:ln/>
        </p:spPr>
        <p:txBody>
          <a:bodyPr wrap="square" lIns="0" tIns="0" rIns="0" bIns="0" rtlCol="0" anchor="ctr"/>
          <a:lstStyle/>
          <a:p>
            <a:pPr marL="0" indent="0">
              <a:buNone/>
            </a:pPr>
            <a:r>
              <a:rPr lang="en-US" sz="3200" b="1" dirty="0">
                <a:solidFill>
                  <a:srgbClr val="0F3361"/>
                </a:solidFill>
                <a:latin typeface="Calibri" pitchFamily="34" charset="0"/>
                <a:ea typeface="Calibri" pitchFamily="34" charset="-122"/>
                <a:cs typeface="Calibri" pitchFamily="34" charset="-120"/>
              </a:rPr>
              <a:t>Problem Background</a:t>
            </a:r>
            <a:endParaRPr lang="en-US" sz="3200" dirty="0"/>
          </a:p>
        </p:txBody>
      </p:sp>
      <p:sp>
        <p:nvSpPr>
          <p:cNvPr id="4" name="Text 2"/>
          <p:cNvSpPr/>
          <p:nvPr/>
        </p:nvSpPr>
        <p:spPr>
          <a:xfrm>
            <a:off x="868680" y="777240"/>
            <a:ext cx="7772400" cy="310896"/>
          </a:xfrm>
          <a:prstGeom prst="rect">
            <a:avLst/>
          </a:prstGeom>
          <a:noFill/>
          <a:ln/>
        </p:spPr>
        <p:txBody>
          <a:bodyPr wrap="square" lIns="0" tIns="0" rIns="0" bIns="0"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Why ICT program selection is hard for SPM leavers</a:t>
            </a:r>
            <a:endParaRPr lang="en-US" sz="1400" dirty="0"/>
          </a:p>
        </p:txBody>
      </p:sp>
      <p:sp>
        <p:nvSpPr>
          <p:cNvPr id="5" name="Shape 3"/>
          <p:cNvSpPr/>
          <p:nvPr/>
        </p:nvSpPr>
        <p:spPr>
          <a:xfrm>
            <a:off x="457200" y="1170432"/>
            <a:ext cx="8229600" cy="18288"/>
          </a:xfrm>
          <a:prstGeom prst="rect">
            <a:avLst/>
          </a:prstGeom>
          <a:solidFill>
            <a:srgbClr val="E5E7EB"/>
          </a:solidFill>
          <a:ln w="12700">
            <a:solidFill>
              <a:srgbClr val="E5E7EB"/>
            </a:solidFill>
            <a:prstDash val="solid"/>
          </a:ln>
        </p:spPr>
        <p:txBody>
          <a:bodyPr/>
          <a:lstStyle/>
          <a:p>
            <a:endParaRPr lang="en-US"/>
          </a:p>
        </p:txBody>
      </p:sp>
      <p:sp>
        <p:nvSpPr>
          <p:cNvPr id="6" name="Shape 4"/>
          <p:cNvSpPr/>
          <p:nvPr/>
        </p:nvSpPr>
        <p:spPr>
          <a:xfrm>
            <a:off x="457200" y="1417320"/>
            <a:ext cx="3108960" cy="3246120"/>
          </a:xfrm>
          <a:prstGeom prst="rect">
            <a:avLst/>
          </a:prstGeom>
          <a:solidFill>
            <a:srgbClr val="0F3361"/>
          </a:solidFill>
          <a:ln w="12700">
            <a:solidFill>
              <a:srgbClr val="0F3361"/>
            </a:solidFill>
            <a:prstDash val="solid"/>
          </a:ln>
          <a:effectLst>
            <a:outerShdw blurRad="152400" dist="38100" dir="5400000" algn="bl" rotWithShape="0">
              <a:srgbClr val="000000">
                <a:alpha val="10000"/>
              </a:srgbClr>
            </a:outerShdw>
          </a:effectLst>
        </p:spPr>
        <p:txBody>
          <a:bodyPr/>
          <a:lstStyle/>
          <a:p>
            <a:endParaRPr lang="en-US"/>
          </a:p>
        </p:txBody>
      </p:sp>
      <p:sp>
        <p:nvSpPr>
          <p:cNvPr id="7" name="Text 5"/>
          <p:cNvSpPr/>
          <p:nvPr/>
        </p:nvSpPr>
        <p:spPr>
          <a:xfrm>
            <a:off x="457200" y="1508760"/>
            <a:ext cx="3108960" cy="1463040"/>
          </a:xfrm>
          <a:prstGeom prst="rect">
            <a:avLst/>
          </a:prstGeom>
          <a:noFill/>
          <a:ln/>
        </p:spPr>
        <p:txBody>
          <a:bodyPr wrap="square" lIns="0" tIns="0" rIns="0" bIns="0" rtlCol="0" anchor="ctr"/>
          <a:lstStyle/>
          <a:p>
            <a:pPr marL="0" indent="0" algn="ctr">
              <a:buNone/>
            </a:pPr>
            <a:r>
              <a:rPr lang="en-US" sz="13000" b="1" dirty="0">
                <a:solidFill>
                  <a:srgbClr val="E34628"/>
                </a:solidFill>
                <a:latin typeface="Calibri" pitchFamily="34" charset="0"/>
                <a:ea typeface="Calibri" pitchFamily="34" charset="-122"/>
                <a:cs typeface="Calibri" pitchFamily="34" charset="-120"/>
              </a:rPr>
              <a:t>6</a:t>
            </a:r>
            <a:endParaRPr lang="en-US" sz="13000" dirty="0"/>
          </a:p>
        </p:txBody>
      </p:sp>
      <p:sp>
        <p:nvSpPr>
          <p:cNvPr id="8" name="Text 6"/>
          <p:cNvSpPr/>
          <p:nvPr/>
        </p:nvSpPr>
        <p:spPr>
          <a:xfrm>
            <a:off x="457200" y="2971800"/>
            <a:ext cx="3108960" cy="777240"/>
          </a:xfrm>
          <a:prstGeom prst="rect">
            <a:avLst/>
          </a:prstGeom>
          <a:noFill/>
          <a:ln/>
        </p:spPr>
        <p:txBody>
          <a:bodyPr wrap="square" lIns="0" tIns="0" rIns="0" bIns="0" rtlCol="0" anchor="t"/>
          <a:lstStyle/>
          <a:p>
            <a:pPr marL="0" indent="0" algn="ctr">
              <a:buNone/>
            </a:pPr>
            <a:r>
              <a:rPr lang="en-US" sz="1800" dirty="0">
                <a:solidFill>
                  <a:srgbClr val="FFFFFF"/>
                </a:solidFill>
                <a:latin typeface="Calibri" pitchFamily="34" charset="0"/>
                <a:ea typeface="Calibri" pitchFamily="34" charset="-122"/>
                <a:cs typeface="Calibri" pitchFamily="34" charset="-120"/>
              </a:rPr>
              <a:t>ICT programs offered</a:t>
            </a:r>
            <a:endParaRPr lang="en-US" sz="1800" dirty="0"/>
          </a:p>
          <a:p>
            <a:pPr marL="0" indent="0" algn="ctr">
              <a:buNone/>
            </a:pPr>
            <a:r>
              <a:rPr lang="en-US" sz="1800" dirty="0">
                <a:solidFill>
                  <a:srgbClr val="FFFFFF"/>
                </a:solidFill>
                <a:latin typeface="Calibri" pitchFamily="34" charset="0"/>
                <a:ea typeface="Calibri" pitchFamily="34" charset="-122"/>
                <a:cs typeface="Calibri" pitchFamily="34" charset="-120"/>
              </a:rPr>
              <a:t>at UNITEN</a:t>
            </a:r>
            <a:endParaRPr lang="en-US" sz="1800" dirty="0"/>
          </a:p>
        </p:txBody>
      </p:sp>
      <p:sp>
        <p:nvSpPr>
          <p:cNvPr id="9" name="Text 7"/>
          <p:cNvSpPr/>
          <p:nvPr/>
        </p:nvSpPr>
        <p:spPr>
          <a:xfrm>
            <a:off x="457200" y="3794760"/>
            <a:ext cx="3108960" cy="731520"/>
          </a:xfrm>
          <a:prstGeom prst="rect">
            <a:avLst/>
          </a:prstGeom>
          <a:noFill/>
          <a:ln/>
        </p:spPr>
        <p:txBody>
          <a:bodyPr wrap="square" lIns="0" tIns="0" rIns="0" bIns="0" rtlCol="0" anchor="t"/>
          <a:lstStyle/>
          <a:p>
            <a:pPr marL="0" indent="0" algn="ctr">
              <a:buNone/>
            </a:pPr>
            <a:r>
              <a:rPr lang="en-US" sz="1100" i="1" dirty="0">
                <a:solidFill>
                  <a:srgbClr val="FFFFFF">
                    <a:alpha val="75000"/>
                  </a:srgbClr>
                </a:solidFill>
                <a:latin typeface="Calibri" pitchFamily="34" charset="0"/>
                <a:ea typeface="Calibri" pitchFamily="34" charset="-122"/>
                <a:cs typeface="Calibri" pitchFamily="34" charset="-120"/>
              </a:rPr>
              <a:t>Software Eng.  /  IT  /  Info Systems</a:t>
            </a:r>
            <a:endParaRPr lang="en-US" sz="1100" dirty="0"/>
          </a:p>
          <a:p>
            <a:pPr marL="0" indent="0" algn="ctr">
              <a:buNone/>
            </a:pPr>
            <a:r>
              <a:rPr lang="en-US" sz="1100" i="1" dirty="0">
                <a:solidFill>
                  <a:srgbClr val="FFFFFF">
                    <a:alpha val="75000"/>
                  </a:srgbClr>
                </a:solidFill>
                <a:latin typeface="Calibri" pitchFamily="34" charset="0"/>
                <a:ea typeface="Calibri" pitchFamily="34" charset="-122"/>
                <a:cs typeface="Calibri" pitchFamily="34" charset="-120"/>
              </a:rPr>
              <a:t>Cybersecurity  /  AI  /  Data Science</a:t>
            </a:r>
            <a:endParaRPr lang="en-US" sz="1100" dirty="0"/>
          </a:p>
        </p:txBody>
      </p:sp>
      <p:sp>
        <p:nvSpPr>
          <p:cNvPr id="10" name="Text 8"/>
          <p:cNvSpPr/>
          <p:nvPr/>
        </p:nvSpPr>
        <p:spPr>
          <a:xfrm>
            <a:off x="3931920" y="1417320"/>
            <a:ext cx="4846320" cy="411480"/>
          </a:xfrm>
          <a:prstGeom prst="rect">
            <a:avLst/>
          </a:prstGeom>
          <a:noFill/>
          <a:ln/>
        </p:spPr>
        <p:txBody>
          <a:bodyPr wrap="square" lIns="0" tIns="0" rIns="0" bIns="0" rtlCol="0" anchor="ctr"/>
          <a:lstStyle/>
          <a:p>
            <a:pPr marL="0" indent="0">
              <a:buNone/>
            </a:pPr>
            <a:r>
              <a:rPr lang="en-US" sz="1800" b="1" dirty="0">
                <a:solidFill>
                  <a:srgbClr val="1A1F2C"/>
                </a:solidFill>
                <a:latin typeface="Calibri" pitchFamily="34" charset="0"/>
                <a:ea typeface="Calibri" pitchFamily="34" charset="-122"/>
                <a:cs typeface="Calibri" pitchFamily="34" charset="-120"/>
              </a:rPr>
              <a:t>Three forces make the choice hard:</a:t>
            </a:r>
            <a:endParaRPr lang="en-US" sz="1800" dirty="0"/>
          </a:p>
        </p:txBody>
      </p:sp>
      <p:sp>
        <p:nvSpPr>
          <p:cNvPr id="11" name="Shape 9"/>
          <p:cNvSpPr/>
          <p:nvPr/>
        </p:nvSpPr>
        <p:spPr>
          <a:xfrm>
            <a:off x="3931920" y="1965960"/>
            <a:ext cx="384048" cy="384048"/>
          </a:xfrm>
          <a:prstGeom prst="ellipse">
            <a:avLst/>
          </a:prstGeom>
          <a:solidFill>
            <a:srgbClr val="E34628"/>
          </a:solidFill>
          <a:ln w="12700">
            <a:solidFill>
              <a:srgbClr val="E34628"/>
            </a:solidFill>
            <a:prstDash val="solid"/>
          </a:ln>
        </p:spPr>
        <p:txBody>
          <a:bodyPr/>
          <a:lstStyle/>
          <a:p>
            <a:endParaRPr lang="en-US"/>
          </a:p>
        </p:txBody>
      </p:sp>
      <p:sp>
        <p:nvSpPr>
          <p:cNvPr id="12" name="Text 10"/>
          <p:cNvSpPr/>
          <p:nvPr/>
        </p:nvSpPr>
        <p:spPr>
          <a:xfrm>
            <a:off x="3931920" y="196596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3" name="Text 11"/>
          <p:cNvSpPr/>
          <p:nvPr/>
        </p:nvSpPr>
        <p:spPr>
          <a:xfrm>
            <a:off x="4434840" y="1920240"/>
            <a:ext cx="4297680" cy="320040"/>
          </a:xfrm>
          <a:prstGeom prst="rect">
            <a:avLst/>
          </a:prstGeom>
          <a:noFill/>
          <a:ln/>
        </p:spPr>
        <p:txBody>
          <a:bodyPr wrap="square" lIns="0" tIns="0" rIns="0" bIns="0" rtlCol="0" anchor="ctr"/>
          <a:lstStyle/>
          <a:p>
            <a:pPr marL="0" indent="0">
              <a:buNone/>
            </a:pPr>
            <a:r>
              <a:rPr lang="en-US" sz="1700" b="1" dirty="0">
                <a:solidFill>
                  <a:srgbClr val="0F3361"/>
                </a:solidFill>
                <a:latin typeface="Calibri" pitchFamily="34" charset="0"/>
                <a:ea typeface="Calibri" pitchFamily="34" charset="-122"/>
                <a:cs typeface="Calibri" pitchFamily="34" charset="-120"/>
              </a:rPr>
              <a:t>Choice overload</a:t>
            </a:r>
            <a:endParaRPr lang="en-US" sz="1700" dirty="0"/>
          </a:p>
        </p:txBody>
      </p:sp>
      <p:sp>
        <p:nvSpPr>
          <p:cNvPr id="14" name="Text 12"/>
          <p:cNvSpPr/>
          <p:nvPr/>
        </p:nvSpPr>
        <p:spPr>
          <a:xfrm>
            <a:off x="4434840" y="2249424"/>
            <a:ext cx="4297680" cy="502920"/>
          </a:xfrm>
          <a:prstGeom prst="rect">
            <a:avLst/>
          </a:prstGeom>
          <a:noFill/>
          <a:ln/>
        </p:spPr>
        <p:txBody>
          <a:bodyPr wrap="square" lIns="0" tIns="0" rIns="0" bIns="0" rtlCol="0" anchor="ctr"/>
          <a:lstStyle/>
          <a:p>
            <a:pPr marL="0" indent="0">
              <a:buNone/>
            </a:pPr>
            <a:r>
              <a:rPr lang="en-US" sz="1400" dirty="0">
                <a:solidFill>
                  <a:srgbClr val="1A1F2C"/>
                </a:solidFill>
                <a:latin typeface="Calibri" pitchFamily="34" charset="0"/>
                <a:ea typeface="Calibri" pitchFamily="34" charset="-122"/>
                <a:cs typeface="Calibri" pitchFamily="34" charset="-120"/>
              </a:rPr>
              <a:t>Six similar-sounding degrees; brochures use the same buzzwords.</a:t>
            </a:r>
            <a:endParaRPr lang="en-US" sz="1400" dirty="0"/>
          </a:p>
        </p:txBody>
      </p:sp>
      <p:sp>
        <p:nvSpPr>
          <p:cNvPr id="15" name="Shape 13"/>
          <p:cNvSpPr/>
          <p:nvPr/>
        </p:nvSpPr>
        <p:spPr>
          <a:xfrm>
            <a:off x="3931920" y="2880360"/>
            <a:ext cx="384048" cy="384048"/>
          </a:xfrm>
          <a:prstGeom prst="ellipse">
            <a:avLst/>
          </a:prstGeom>
          <a:solidFill>
            <a:srgbClr val="E34628"/>
          </a:solidFill>
          <a:ln w="12700">
            <a:solidFill>
              <a:srgbClr val="E34628"/>
            </a:solidFill>
            <a:prstDash val="solid"/>
          </a:ln>
        </p:spPr>
        <p:txBody>
          <a:bodyPr/>
          <a:lstStyle/>
          <a:p>
            <a:endParaRPr lang="en-US"/>
          </a:p>
        </p:txBody>
      </p:sp>
      <p:sp>
        <p:nvSpPr>
          <p:cNvPr id="16" name="Text 14"/>
          <p:cNvSpPr/>
          <p:nvPr/>
        </p:nvSpPr>
        <p:spPr>
          <a:xfrm>
            <a:off x="3931920" y="288036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7" name="Text 15"/>
          <p:cNvSpPr/>
          <p:nvPr/>
        </p:nvSpPr>
        <p:spPr>
          <a:xfrm>
            <a:off x="4434840" y="2834640"/>
            <a:ext cx="4297680" cy="320040"/>
          </a:xfrm>
          <a:prstGeom prst="rect">
            <a:avLst/>
          </a:prstGeom>
          <a:noFill/>
          <a:ln/>
        </p:spPr>
        <p:txBody>
          <a:bodyPr wrap="square" lIns="0" tIns="0" rIns="0" bIns="0" rtlCol="0" anchor="ctr"/>
          <a:lstStyle/>
          <a:p>
            <a:pPr marL="0" indent="0">
              <a:buNone/>
            </a:pPr>
            <a:r>
              <a:rPr lang="en-US" sz="1700" b="1" dirty="0">
                <a:solidFill>
                  <a:srgbClr val="0F3361"/>
                </a:solidFill>
                <a:latin typeface="Calibri" pitchFamily="34" charset="0"/>
                <a:ea typeface="Calibri" pitchFamily="34" charset="-122"/>
                <a:cs typeface="Calibri" pitchFamily="34" charset="-120"/>
              </a:rPr>
              <a:t>Lack personalization</a:t>
            </a:r>
            <a:endParaRPr lang="en-US" sz="1700" dirty="0"/>
          </a:p>
        </p:txBody>
      </p:sp>
      <p:sp>
        <p:nvSpPr>
          <p:cNvPr id="18" name="Text 16"/>
          <p:cNvSpPr/>
          <p:nvPr/>
        </p:nvSpPr>
        <p:spPr>
          <a:xfrm>
            <a:off x="4434840" y="3163824"/>
            <a:ext cx="4297680" cy="502920"/>
          </a:xfrm>
          <a:prstGeom prst="rect">
            <a:avLst/>
          </a:prstGeom>
          <a:noFill/>
          <a:ln/>
        </p:spPr>
        <p:txBody>
          <a:bodyPr wrap="square" lIns="0" tIns="0" rIns="0" bIns="0" rtlCol="0" anchor="ctr"/>
          <a:lstStyle/>
          <a:p>
            <a:pPr marL="0" indent="0">
              <a:buNone/>
            </a:pPr>
            <a:r>
              <a:rPr lang="en-US" sz="1400" dirty="0">
                <a:solidFill>
                  <a:srgbClr val="1A1F2C"/>
                </a:solidFill>
                <a:latin typeface="Calibri" pitchFamily="34" charset="0"/>
                <a:ea typeface="Calibri" pitchFamily="34" charset="-122"/>
                <a:cs typeface="Calibri" pitchFamily="34" charset="-120"/>
              </a:rPr>
              <a:t>UNITEN's website lists programs but offers no guided matching.</a:t>
            </a:r>
            <a:endParaRPr lang="en-US" sz="1400" dirty="0"/>
          </a:p>
        </p:txBody>
      </p:sp>
      <p:sp>
        <p:nvSpPr>
          <p:cNvPr id="19" name="Shape 17"/>
          <p:cNvSpPr/>
          <p:nvPr/>
        </p:nvSpPr>
        <p:spPr>
          <a:xfrm>
            <a:off x="3931920" y="3794760"/>
            <a:ext cx="384048" cy="384048"/>
          </a:xfrm>
          <a:prstGeom prst="ellipse">
            <a:avLst/>
          </a:prstGeom>
          <a:solidFill>
            <a:srgbClr val="E34628"/>
          </a:solidFill>
          <a:ln w="12700">
            <a:solidFill>
              <a:srgbClr val="E34628"/>
            </a:solidFill>
            <a:prstDash val="solid"/>
          </a:ln>
        </p:spPr>
        <p:txBody>
          <a:bodyPr/>
          <a:lstStyle/>
          <a:p>
            <a:endParaRPr lang="en-US"/>
          </a:p>
        </p:txBody>
      </p:sp>
      <p:sp>
        <p:nvSpPr>
          <p:cNvPr id="20" name="Text 18"/>
          <p:cNvSpPr/>
          <p:nvPr/>
        </p:nvSpPr>
        <p:spPr>
          <a:xfrm>
            <a:off x="3931920" y="379476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p:nvPr/>
        </p:nvSpPr>
        <p:spPr>
          <a:xfrm>
            <a:off x="4434840" y="3749040"/>
            <a:ext cx="4297680" cy="320040"/>
          </a:xfrm>
          <a:prstGeom prst="rect">
            <a:avLst/>
          </a:prstGeom>
          <a:noFill/>
          <a:ln/>
        </p:spPr>
        <p:txBody>
          <a:bodyPr wrap="square" lIns="0" tIns="0" rIns="0" bIns="0" rtlCol="0" anchor="ctr"/>
          <a:lstStyle/>
          <a:p>
            <a:pPr marL="0" indent="0">
              <a:buNone/>
            </a:pPr>
            <a:r>
              <a:rPr lang="en-US" sz="1700" b="1" dirty="0">
                <a:solidFill>
                  <a:srgbClr val="0F3361"/>
                </a:solidFill>
                <a:latin typeface="Calibri" pitchFamily="34" charset="0"/>
                <a:ea typeface="Calibri" pitchFamily="34" charset="-122"/>
                <a:cs typeface="Calibri" pitchFamily="34" charset="-120"/>
              </a:rPr>
              <a:t>Generic career tests miss the link</a:t>
            </a:r>
            <a:endParaRPr lang="en-US" sz="1700" dirty="0"/>
          </a:p>
        </p:txBody>
      </p:sp>
      <p:sp>
        <p:nvSpPr>
          <p:cNvPr id="22" name="Text 20"/>
          <p:cNvSpPr/>
          <p:nvPr/>
        </p:nvSpPr>
        <p:spPr>
          <a:xfrm>
            <a:off x="4434840" y="4078224"/>
            <a:ext cx="4297680" cy="502920"/>
          </a:xfrm>
          <a:prstGeom prst="rect">
            <a:avLst/>
          </a:prstGeom>
          <a:noFill/>
          <a:ln/>
        </p:spPr>
        <p:txBody>
          <a:bodyPr wrap="square" lIns="0" tIns="0" rIns="0" bIns="0" rtlCol="0" anchor="ctr"/>
          <a:lstStyle/>
          <a:p>
            <a:pPr marL="0" indent="0">
              <a:buNone/>
            </a:pPr>
            <a:r>
              <a:rPr lang="en-US" sz="1400" dirty="0">
                <a:solidFill>
                  <a:srgbClr val="1A1F2C"/>
                </a:solidFill>
                <a:latin typeface="Calibri" pitchFamily="34" charset="0"/>
                <a:ea typeface="Calibri" pitchFamily="34" charset="-122"/>
                <a:cs typeface="Calibri" pitchFamily="34" charset="-120"/>
              </a:rPr>
              <a:t>MBTI / Holland Code do not map results to actual UNITEN programs.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56032" cy="256032"/>
          </a:xfrm>
          <a:prstGeom prst="ellipse">
            <a:avLst/>
          </a:prstGeom>
          <a:solidFill>
            <a:srgbClr val="E34628"/>
          </a:solidFill>
          <a:ln w="12700">
            <a:solidFill>
              <a:srgbClr val="E34628"/>
            </a:solidFill>
            <a:prstDash val="solid"/>
          </a:ln>
        </p:spPr>
        <p:txBody>
          <a:bodyPr/>
          <a:lstStyle/>
          <a:p>
            <a:endParaRPr lang="en-US"/>
          </a:p>
        </p:txBody>
      </p:sp>
      <p:sp>
        <p:nvSpPr>
          <p:cNvPr id="3" name="Text 1"/>
          <p:cNvSpPr/>
          <p:nvPr/>
        </p:nvSpPr>
        <p:spPr>
          <a:xfrm>
            <a:off x="868680" y="256032"/>
            <a:ext cx="7772400" cy="548640"/>
          </a:xfrm>
          <a:prstGeom prst="rect">
            <a:avLst/>
          </a:prstGeom>
          <a:noFill/>
          <a:ln/>
        </p:spPr>
        <p:txBody>
          <a:bodyPr wrap="square" lIns="0" tIns="0" rIns="0" bIns="0" rtlCol="0" anchor="ctr"/>
          <a:lstStyle/>
          <a:p>
            <a:pPr marL="0" indent="0">
              <a:buNone/>
            </a:pPr>
            <a:r>
              <a:rPr lang="en-US" sz="3200" b="1" dirty="0">
                <a:solidFill>
                  <a:srgbClr val="0F3361"/>
                </a:solidFill>
                <a:latin typeface="Calibri" pitchFamily="34" charset="0"/>
                <a:ea typeface="Calibri" pitchFamily="34" charset="-122"/>
                <a:cs typeface="Calibri" pitchFamily="34" charset="-120"/>
              </a:rPr>
              <a:t>Problem Statement</a:t>
            </a:r>
            <a:endParaRPr lang="en-US" sz="3200" dirty="0"/>
          </a:p>
        </p:txBody>
      </p:sp>
      <p:sp>
        <p:nvSpPr>
          <p:cNvPr id="4" name="Text 2"/>
          <p:cNvSpPr/>
          <p:nvPr/>
        </p:nvSpPr>
        <p:spPr>
          <a:xfrm>
            <a:off x="868680" y="777240"/>
            <a:ext cx="7772400" cy="310896"/>
          </a:xfrm>
          <a:prstGeom prst="rect">
            <a:avLst/>
          </a:prstGeom>
          <a:noFill/>
          <a:ln/>
        </p:spPr>
        <p:txBody>
          <a:bodyPr wrap="square" lIns="0" tIns="0" rIns="0" bIns="0"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The gap that MyUniPath fills</a:t>
            </a:r>
            <a:endParaRPr lang="en-US" sz="1400" dirty="0"/>
          </a:p>
        </p:txBody>
      </p:sp>
      <p:sp>
        <p:nvSpPr>
          <p:cNvPr id="5" name="Shape 3"/>
          <p:cNvSpPr/>
          <p:nvPr/>
        </p:nvSpPr>
        <p:spPr>
          <a:xfrm>
            <a:off x="457200" y="1170432"/>
            <a:ext cx="8229600" cy="18288"/>
          </a:xfrm>
          <a:prstGeom prst="rect">
            <a:avLst/>
          </a:prstGeom>
          <a:solidFill>
            <a:srgbClr val="E5E7EB"/>
          </a:solidFill>
          <a:ln w="12700">
            <a:solidFill>
              <a:srgbClr val="E5E7EB"/>
            </a:solidFill>
            <a:prstDash val="solid"/>
          </a:ln>
        </p:spPr>
        <p:txBody>
          <a:bodyPr/>
          <a:lstStyle/>
          <a:p>
            <a:endParaRPr lang="en-US"/>
          </a:p>
        </p:txBody>
      </p:sp>
      <p:sp>
        <p:nvSpPr>
          <p:cNvPr id="6" name="Shape 4"/>
          <p:cNvSpPr/>
          <p:nvPr/>
        </p:nvSpPr>
        <p:spPr>
          <a:xfrm>
            <a:off x="457200" y="1417320"/>
            <a:ext cx="8229600" cy="1691640"/>
          </a:xfrm>
          <a:prstGeom prst="rect">
            <a:avLst/>
          </a:prstGeom>
          <a:solidFill>
            <a:srgbClr val="0F3361"/>
          </a:solidFill>
          <a:ln w="12700">
            <a:solidFill>
              <a:srgbClr val="0F3361"/>
            </a:solidFill>
            <a:prstDash val="solid"/>
          </a:ln>
          <a:effectLst>
            <a:outerShdw blurRad="152400" dist="38100" dir="5400000" algn="bl" rotWithShape="0">
              <a:srgbClr val="000000">
                <a:alpha val="10000"/>
              </a:srgbClr>
            </a:outerShdw>
          </a:effectLst>
        </p:spPr>
        <p:txBody>
          <a:bodyPr/>
          <a:lstStyle/>
          <a:p>
            <a:endParaRPr lang="en-US"/>
          </a:p>
        </p:txBody>
      </p:sp>
      <p:sp>
        <p:nvSpPr>
          <p:cNvPr id="7" name="Text 5"/>
          <p:cNvSpPr/>
          <p:nvPr/>
        </p:nvSpPr>
        <p:spPr>
          <a:xfrm>
            <a:off x="640080" y="1371600"/>
            <a:ext cx="731520" cy="822960"/>
          </a:xfrm>
          <a:prstGeom prst="rect">
            <a:avLst/>
          </a:prstGeom>
          <a:noFill/>
          <a:ln/>
        </p:spPr>
        <p:txBody>
          <a:bodyPr wrap="square" lIns="0" tIns="0" rIns="0" bIns="0" rtlCol="0" anchor="t"/>
          <a:lstStyle/>
          <a:p>
            <a:pPr marL="0" indent="0">
              <a:buNone/>
            </a:pPr>
            <a:r>
              <a:rPr lang="en-US" sz="9000" dirty="0">
                <a:solidFill>
                  <a:srgbClr val="E34628"/>
                </a:solidFill>
                <a:latin typeface="Georgia" pitchFamily="34" charset="0"/>
                <a:ea typeface="Georgia" pitchFamily="34" charset="-122"/>
                <a:cs typeface="Georgia" pitchFamily="34" charset="-120"/>
              </a:rPr>
              <a:t>“</a:t>
            </a:r>
            <a:endParaRPr lang="en-US" sz="9000" dirty="0"/>
          </a:p>
        </p:txBody>
      </p:sp>
      <p:sp>
        <p:nvSpPr>
          <p:cNvPr id="8" name="Text 6"/>
          <p:cNvSpPr/>
          <p:nvPr/>
        </p:nvSpPr>
        <p:spPr>
          <a:xfrm>
            <a:off x="1280160" y="1508760"/>
            <a:ext cx="7223760" cy="1508760"/>
          </a:xfrm>
          <a:prstGeom prst="rect">
            <a:avLst/>
          </a:prstGeom>
          <a:noFill/>
          <a:ln/>
        </p:spPr>
        <p:txBody>
          <a:bodyPr wrap="square" lIns="0" tIns="0" rIns="0" bIns="0" rtlCol="0" anchor="ctr"/>
          <a:lstStyle/>
          <a:p>
            <a:pPr marL="0" indent="0">
              <a:buNone/>
            </a:pPr>
            <a:r>
              <a:rPr lang="en-US" sz="1900" i="1" dirty="0">
                <a:solidFill>
                  <a:srgbClr val="FFFFFF"/>
                </a:solidFill>
                <a:latin typeface="Calibri" pitchFamily="34" charset="0"/>
                <a:ea typeface="Calibri" pitchFamily="34" charset="-122"/>
                <a:cs typeface="Calibri" pitchFamily="34" charset="-120"/>
              </a:rPr>
              <a:t>There is a lack UNITEN-specific tool that translates </a:t>
            </a:r>
            <a:r>
              <a:rPr lang="en-US" sz="1900" b="1" i="1" dirty="0">
                <a:solidFill>
                  <a:srgbClr val="E34628"/>
                </a:solidFill>
                <a:latin typeface="Calibri" pitchFamily="34" charset="0"/>
                <a:ea typeface="Calibri" pitchFamily="34" charset="-122"/>
                <a:cs typeface="Calibri" pitchFamily="34" charset="-120"/>
              </a:rPr>
              <a:t>an SPM leaver's interests and aptitudes</a:t>
            </a:r>
            <a:r>
              <a:rPr lang="en-US" sz="1900" i="1" dirty="0">
                <a:solidFill>
                  <a:srgbClr val="FFFFFF"/>
                </a:solidFill>
                <a:latin typeface="Calibri" pitchFamily="34" charset="0"/>
                <a:ea typeface="Calibri" pitchFamily="34" charset="-122"/>
                <a:cs typeface="Calibri" pitchFamily="34" charset="-120"/>
              </a:rPr>
              <a:t> into a concrete recommendation among UNITEN's ICT programs.</a:t>
            </a:r>
            <a:endParaRPr lang="en-US" sz="1900" dirty="0"/>
          </a:p>
        </p:txBody>
      </p:sp>
      <p:sp>
        <p:nvSpPr>
          <p:cNvPr id="9" name="Shape 7"/>
          <p:cNvSpPr/>
          <p:nvPr/>
        </p:nvSpPr>
        <p:spPr>
          <a:xfrm>
            <a:off x="457200" y="3337560"/>
            <a:ext cx="2697480" cy="1417320"/>
          </a:xfrm>
          <a:prstGeom prst="rect">
            <a:avLst/>
          </a:prstGeom>
          <a:solidFill>
            <a:srgbClr val="FAF7F2"/>
          </a:solidFill>
          <a:ln w="12700">
            <a:solidFill>
              <a:srgbClr val="BA7A65"/>
            </a:solidFill>
            <a:prstDash val="solid"/>
          </a:ln>
        </p:spPr>
        <p:txBody>
          <a:bodyPr/>
          <a:lstStyle/>
          <a:p>
            <a:endParaRPr lang="en-US"/>
          </a:p>
        </p:txBody>
      </p:sp>
      <p:sp>
        <p:nvSpPr>
          <p:cNvPr id="10" name="Text 8"/>
          <p:cNvSpPr/>
          <p:nvPr/>
        </p:nvSpPr>
        <p:spPr>
          <a:xfrm>
            <a:off x="594360" y="3429000"/>
            <a:ext cx="2423160" cy="457200"/>
          </a:xfrm>
          <a:prstGeom prst="rect">
            <a:avLst/>
          </a:prstGeom>
          <a:noFill/>
          <a:ln/>
        </p:spPr>
        <p:txBody>
          <a:bodyPr wrap="square" lIns="0" tIns="0" rIns="0" bIns="0" rtlCol="0" anchor="ctr"/>
          <a:lstStyle/>
          <a:p>
            <a:pPr marL="0" indent="0">
              <a:buNone/>
            </a:pPr>
            <a:r>
              <a:rPr lang="en-US" sz="1800" b="1" dirty="0">
                <a:solidFill>
                  <a:srgbClr val="E34628"/>
                </a:solidFill>
                <a:latin typeface="Calibri" pitchFamily="34" charset="0"/>
                <a:ea typeface="Calibri" pitchFamily="34" charset="-122"/>
                <a:cs typeface="Calibri" pitchFamily="34" charset="-120"/>
              </a:rPr>
              <a:t>Blind picks</a:t>
            </a:r>
            <a:endParaRPr lang="en-US" sz="1800" dirty="0"/>
          </a:p>
        </p:txBody>
      </p:sp>
      <p:sp>
        <p:nvSpPr>
          <p:cNvPr id="11" name="Text 9"/>
          <p:cNvSpPr/>
          <p:nvPr/>
        </p:nvSpPr>
        <p:spPr>
          <a:xfrm>
            <a:off x="594360" y="3886200"/>
            <a:ext cx="2423160" cy="822960"/>
          </a:xfrm>
          <a:prstGeom prst="rect">
            <a:avLst/>
          </a:prstGeom>
          <a:noFill/>
          <a:ln/>
        </p:spPr>
        <p:txBody>
          <a:bodyPr wrap="square" lIns="0" tIns="0" rIns="0" bIns="0" rtlCol="0" anchor="ctr"/>
          <a:lstStyle/>
          <a:p>
            <a:pPr marL="0" indent="0">
              <a:buNone/>
            </a:pPr>
            <a:r>
              <a:rPr lang="en-US" sz="1300" dirty="0">
                <a:solidFill>
                  <a:srgbClr val="1A1F2C"/>
                </a:solidFill>
                <a:latin typeface="Calibri" pitchFamily="34" charset="0"/>
                <a:ea typeface="Calibri" pitchFamily="34" charset="-122"/>
                <a:cs typeface="Calibri" pitchFamily="34" charset="-120"/>
              </a:rPr>
              <a:t>Students choose by name recognition or peer influence</a:t>
            </a:r>
            <a:endParaRPr lang="en-US" sz="1300" dirty="0"/>
          </a:p>
        </p:txBody>
      </p:sp>
      <p:sp>
        <p:nvSpPr>
          <p:cNvPr id="12" name="Shape 10"/>
          <p:cNvSpPr/>
          <p:nvPr/>
        </p:nvSpPr>
        <p:spPr>
          <a:xfrm>
            <a:off x="3319272" y="3337560"/>
            <a:ext cx="2697480" cy="1417320"/>
          </a:xfrm>
          <a:prstGeom prst="rect">
            <a:avLst/>
          </a:prstGeom>
          <a:solidFill>
            <a:srgbClr val="FAF7F2"/>
          </a:solidFill>
          <a:ln w="12700">
            <a:solidFill>
              <a:srgbClr val="BA7A65"/>
            </a:solidFill>
            <a:prstDash val="solid"/>
          </a:ln>
        </p:spPr>
        <p:txBody>
          <a:bodyPr/>
          <a:lstStyle/>
          <a:p>
            <a:endParaRPr lang="en-US"/>
          </a:p>
        </p:txBody>
      </p:sp>
      <p:sp>
        <p:nvSpPr>
          <p:cNvPr id="13" name="Text 11"/>
          <p:cNvSpPr/>
          <p:nvPr/>
        </p:nvSpPr>
        <p:spPr>
          <a:xfrm>
            <a:off x="3456432" y="3429000"/>
            <a:ext cx="2423160" cy="457200"/>
          </a:xfrm>
          <a:prstGeom prst="rect">
            <a:avLst/>
          </a:prstGeom>
          <a:noFill/>
          <a:ln/>
        </p:spPr>
        <p:txBody>
          <a:bodyPr wrap="square" lIns="0" tIns="0" rIns="0" bIns="0" rtlCol="0" anchor="ctr"/>
          <a:lstStyle/>
          <a:p>
            <a:pPr marL="0" indent="0">
              <a:buNone/>
            </a:pPr>
            <a:r>
              <a:rPr lang="en-US" sz="1800" b="1" dirty="0">
                <a:solidFill>
                  <a:srgbClr val="E34628"/>
                </a:solidFill>
                <a:latin typeface="Calibri" pitchFamily="34" charset="0"/>
                <a:ea typeface="Calibri" pitchFamily="34" charset="-122"/>
                <a:cs typeface="Calibri" pitchFamily="34" charset="-120"/>
              </a:rPr>
              <a:t>Year-2 switches</a:t>
            </a:r>
            <a:endParaRPr lang="en-US" sz="1800" dirty="0"/>
          </a:p>
        </p:txBody>
      </p:sp>
      <p:sp>
        <p:nvSpPr>
          <p:cNvPr id="14" name="Text 12"/>
          <p:cNvSpPr/>
          <p:nvPr/>
        </p:nvSpPr>
        <p:spPr>
          <a:xfrm>
            <a:off x="3456432" y="3886200"/>
            <a:ext cx="2423160" cy="822960"/>
          </a:xfrm>
          <a:prstGeom prst="rect">
            <a:avLst/>
          </a:prstGeom>
          <a:noFill/>
          <a:ln/>
        </p:spPr>
        <p:txBody>
          <a:bodyPr wrap="square" lIns="0" tIns="0" rIns="0" bIns="0" rtlCol="0" anchor="ctr"/>
          <a:lstStyle/>
          <a:p>
            <a:pPr marL="0" indent="0">
              <a:buNone/>
            </a:pPr>
            <a:r>
              <a:rPr lang="en-US" sz="1300" dirty="0">
                <a:solidFill>
                  <a:srgbClr val="1A1F2C"/>
                </a:solidFill>
                <a:latin typeface="Calibri" pitchFamily="34" charset="0"/>
                <a:ea typeface="Calibri" pitchFamily="34" charset="-122"/>
                <a:cs typeface="Calibri" pitchFamily="34" charset="-120"/>
              </a:rPr>
              <a:t>Misfit students transfer, losing time and tuition</a:t>
            </a:r>
            <a:endParaRPr lang="en-US" sz="1300" dirty="0"/>
          </a:p>
        </p:txBody>
      </p:sp>
      <p:sp>
        <p:nvSpPr>
          <p:cNvPr id="15" name="Shape 13"/>
          <p:cNvSpPr/>
          <p:nvPr/>
        </p:nvSpPr>
        <p:spPr>
          <a:xfrm>
            <a:off x="6181344" y="3337560"/>
            <a:ext cx="2697480" cy="1417320"/>
          </a:xfrm>
          <a:prstGeom prst="rect">
            <a:avLst/>
          </a:prstGeom>
          <a:solidFill>
            <a:srgbClr val="FAF7F2"/>
          </a:solidFill>
          <a:ln w="12700">
            <a:solidFill>
              <a:srgbClr val="BA7A65"/>
            </a:solidFill>
            <a:prstDash val="solid"/>
          </a:ln>
        </p:spPr>
        <p:txBody>
          <a:bodyPr/>
          <a:lstStyle/>
          <a:p>
            <a:endParaRPr lang="en-US"/>
          </a:p>
        </p:txBody>
      </p:sp>
      <p:sp>
        <p:nvSpPr>
          <p:cNvPr id="16" name="Text 14"/>
          <p:cNvSpPr/>
          <p:nvPr/>
        </p:nvSpPr>
        <p:spPr>
          <a:xfrm>
            <a:off x="6318504" y="3429000"/>
            <a:ext cx="2423160" cy="457200"/>
          </a:xfrm>
          <a:prstGeom prst="rect">
            <a:avLst/>
          </a:prstGeom>
          <a:noFill/>
          <a:ln/>
        </p:spPr>
        <p:txBody>
          <a:bodyPr wrap="square" lIns="0" tIns="0" rIns="0" bIns="0" rtlCol="0" anchor="ctr"/>
          <a:lstStyle/>
          <a:p>
            <a:pPr marL="0" indent="0">
              <a:buNone/>
            </a:pPr>
            <a:r>
              <a:rPr lang="en-US" sz="1800" b="1" dirty="0">
                <a:solidFill>
                  <a:srgbClr val="E34628"/>
                </a:solidFill>
                <a:latin typeface="Calibri" pitchFamily="34" charset="0"/>
                <a:ea typeface="Calibri" pitchFamily="34" charset="-122"/>
                <a:cs typeface="Calibri" pitchFamily="34" charset="-120"/>
              </a:rPr>
              <a:t>Counselor bottleneck</a:t>
            </a:r>
            <a:endParaRPr lang="en-US" sz="1800" dirty="0"/>
          </a:p>
        </p:txBody>
      </p:sp>
      <p:sp>
        <p:nvSpPr>
          <p:cNvPr id="17" name="Text 15"/>
          <p:cNvSpPr/>
          <p:nvPr/>
        </p:nvSpPr>
        <p:spPr>
          <a:xfrm>
            <a:off x="6318504" y="3886200"/>
            <a:ext cx="2423160" cy="822960"/>
          </a:xfrm>
          <a:prstGeom prst="rect">
            <a:avLst/>
          </a:prstGeom>
          <a:noFill/>
          <a:ln/>
        </p:spPr>
        <p:txBody>
          <a:bodyPr wrap="square" lIns="0" tIns="0" rIns="0" bIns="0" rtlCol="0" anchor="ctr"/>
          <a:lstStyle/>
          <a:p>
            <a:pPr marL="0" indent="0">
              <a:buNone/>
            </a:pPr>
            <a:r>
              <a:rPr lang="en-US" sz="1300" dirty="0">
                <a:solidFill>
                  <a:srgbClr val="1A1F2C"/>
                </a:solidFill>
                <a:latin typeface="Calibri" pitchFamily="34" charset="0"/>
                <a:ea typeface="Calibri" pitchFamily="34" charset="-122"/>
                <a:cs typeface="Calibri" pitchFamily="34" charset="-120"/>
              </a:rPr>
              <a:t>1-to-1 sessions can't scale to all SPM leavers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56032" cy="256032"/>
          </a:xfrm>
          <a:prstGeom prst="ellipse">
            <a:avLst/>
          </a:prstGeom>
          <a:solidFill>
            <a:srgbClr val="E34628"/>
          </a:solidFill>
          <a:ln w="12700">
            <a:solidFill>
              <a:srgbClr val="E34628"/>
            </a:solidFill>
            <a:prstDash val="solid"/>
          </a:ln>
        </p:spPr>
        <p:txBody>
          <a:bodyPr/>
          <a:lstStyle/>
          <a:p>
            <a:endParaRPr lang="en-US"/>
          </a:p>
        </p:txBody>
      </p:sp>
      <p:sp>
        <p:nvSpPr>
          <p:cNvPr id="3" name="Text 1"/>
          <p:cNvSpPr/>
          <p:nvPr/>
        </p:nvSpPr>
        <p:spPr>
          <a:xfrm>
            <a:off x="868680" y="256032"/>
            <a:ext cx="7772400" cy="548640"/>
          </a:xfrm>
          <a:prstGeom prst="rect">
            <a:avLst/>
          </a:prstGeom>
          <a:noFill/>
          <a:ln/>
        </p:spPr>
        <p:txBody>
          <a:bodyPr wrap="square" lIns="0" tIns="0" rIns="0" bIns="0" rtlCol="0" anchor="ctr"/>
          <a:lstStyle/>
          <a:p>
            <a:pPr marL="0" indent="0">
              <a:buNone/>
            </a:pPr>
            <a:r>
              <a:rPr lang="en-US" sz="3200" b="1" dirty="0">
                <a:solidFill>
                  <a:srgbClr val="0F3361"/>
                </a:solidFill>
                <a:latin typeface="Calibri" pitchFamily="34" charset="0"/>
                <a:ea typeface="Calibri" pitchFamily="34" charset="-122"/>
                <a:cs typeface="Calibri" pitchFamily="34" charset="-120"/>
              </a:rPr>
              <a:t>Project Objective</a:t>
            </a:r>
            <a:endParaRPr lang="en-US" sz="3200" dirty="0"/>
          </a:p>
        </p:txBody>
      </p:sp>
      <p:sp>
        <p:nvSpPr>
          <p:cNvPr id="4" name="Text 2"/>
          <p:cNvSpPr/>
          <p:nvPr/>
        </p:nvSpPr>
        <p:spPr>
          <a:xfrm>
            <a:off x="868680" y="777240"/>
            <a:ext cx="7772400" cy="310896"/>
          </a:xfrm>
          <a:prstGeom prst="rect">
            <a:avLst/>
          </a:prstGeom>
          <a:noFill/>
          <a:ln/>
        </p:spPr>
        <p:txBody>
          <a:bodyPr wrap="square" lIns="0" tIns="0" rIns="0" bIns="0"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Three SMART goals for MyUniPath</a:t>
            </a:r>
            <a:endParaRPr lang="en-US" sz="1400" dirty="0"/>
          </a:p>
        </p:txBody>
      </p:sp>
      <p:sp>
        <p:nvSpPr>
          <p:cNvPr id="5" name="Shape 3"/>
          <p:cNvSpPr/>
          <p:nvPr/>
        </p:nvSpPr>
        <p:spPr>
          <a:xfrm>
            <a:off x="457200" y="1170432"/>
            <a:ext cx="8229600" cy="18288"/>
          </a:xfrm>
          <a:prstGeom prst="rect">
            <a:avLst/>
          </a:prstGeom>
          <a:solidFill>
            <a:srgbClr val="E5E7EB"/>
          </a:solidFill>
          <a:ln w="12700">
            <a:solidFill>
              <a:srgbClr val="E5E7EB"/>
            </a:solidFill>
            <a:prstDash val="solid"/>
          </a:ln>
        </p:spPr>
        <p:txBody>
          <a:bodyPr/>
          <a:lstStyle/>
          <a:p>
            <a:endParaRPr lang="en-US"/>
          </a:p>
        </p:txBody>
      </p:sp>
      <p:sp>
        <p:nvSpPr>
          <p:cNvPr id="6" name="Shape 4"/>
          <p:cNvSpPr/>
          <p:nvPr/>
        </p:nvSpPr>
        <p:spPr>
          <a:xfrm>
            <a:off x="457200" y="1417320"/>
            <a:ext cx="2697480" cy="3063240"/>
          </a:xfrm>
          <a:prstGeom prst="rect">
            <a:avLst/>
          </a:prstGeom>
          <a:solidFill>
            <a:srgbClr val="F8FAFC"/>
          </a:solidFill>
          <a:ln w="12700">
            <a:solidFill>
              <a:srgbClr val="E5E7EB"/>
            </a:solidFill>
            <a:prstDash val="solid"/>
          </a:ln>
          <a:effectLst>
            <a:outerShdw blurRad="76200" dist="25400" dir="5400000" algn="bl" rotWithShape="0">
              <a:srgbClr val="000000">
                <a:alpha val="8000"/>
              </a:srgbClr>
            </a:outerShdw>
          </a:effectLst>
        </p:spPr>
        <p:txBody>
          <a:bodyPr/>
          <a:lstStyle/>
          <a:p>
            <a:endParaRPr lang="en-US"/>
          </a:p>
        </p:txBody>
      </p:sp>
      <p:sp>
        <p:nvSpPr>
          <p:cNvPr id="7" name="Shape 5"/>
          <p:cNvSpPr/>
          <p:nvPr/>
        </p:nvSpPr>
        <p:spPr>
          <a:xfrm>
            <a:off x="457200" y="1417320"/>
            <a:ext cx="73152" cy="3063240"/>
          </a:xfrm>
          <a:prstGeom prst="rect">
            <a:avLst/>
          </a:prstGeom>
          <a:solidFill>
            <a:srgbClr val="E34628"/>
          </a:solidFill>
          <a:ln w="12700">
            <a:solidFill>
              <a:srgbClr val="E34628"/>
            </a:solidFill>
            <a:prstDash val="solid"/>
          </a:ln>
        </p:spPr>
        <p:txBody>
          <a:bodyPr/>
          <a:lstStyle/>
          <a:p>
            <a:endParaRPr lang="en-US"/>
          </a:p>
        </p:txBody>
      </p:sp>
      <p:sp>
        <p:nvSpPr>
          <p:cNvPr id="8" name="Text 6"/>
          <p:cNvSpPr/>
          <p:nvPr/>
        </p:nvSpPr>
        <p:spPr>
          <a:xfrm>
            <a:off x="685800" y="1645920"/>
            <a:ext cx="1463040" cy="914400"/>
          </a:xfrm>
          <a:prstGeom prst="rect">
            <a:avLst/>
          </a:prstGeom>
          <a:noFill/>
          <a:ln/>
        </p:spPr>
        <p:txBody>
          <a:bodyPr wrap="square" lIns="0" tIns="0" rIns="0" bIns="0" rtlCol="0" anchor="ctr"/>
          <a:lstStyle/>
          <a:p>
            <a:pPr marL="0" indent="0" algn="l">
              <a:buNone/>
            </a:pPr>
            <a:r>
              <a:rPr lang="en-US" sz="7200" b="1" dirty="0">
                <a:solidFill>
                  <a:srgbClr val="E34628"/>
                </a:solidFill>
                <a:latin typeface="Calibri" pitchFamily="34" charset="0"/>
                <a:ea typeface="Calibri" pitchFamily="34" charset="-122"/>
                <a:cs typeface="Calibri" pitchFamily="34" charset="-120"/>
              </a:rPr>
              <a:t>01</a:t>
            </a:r>
            <a:endParaRPr lang="en-US" sz="7200" dirty="0"/>
          </a:p>
        </p:txBody>
      </p:sp>
      <p:sp>
        <p:nvSpPr>
          <p:cNvPr id="9" name="Text 7"/>
          <p:cNvSpPr/>
          <p:nvPr/>
        </p:nvSpPr>
        <p:spPr>
          <a:xfrm>
            <a:off x="685800" y="2514600"/>
            <a:ext cx="2286000" cy="457200"/>
          </a:xfrm>
          <a:prstGeom prst="rect">
            <a:avLst/>
          </a:prstGeom>
          <a:noFill/>
          <a:ln/>
        </p:spPr>
        <p:txBody>
          <a:bodyPr wrap="square" lIns="0" tIns="0" rIns="0" bIns="0" rtlCol="0" anchor="ctr"/>
          <a:lstStyle/>
          <a:p>
            <a:pPr marL="0" indent="0">
              <a:buNone/>
            </a:pPr>
            <a:r>
              <a:rPr lang="en-US" sz="1900" b="1" dirty="0">
                <a:solidFill>
                  <a:srgbClr val="0F3361"/>
                </a:solidFill>
                <a:latin typeface="Calibri" pitchFamily="34" charset="0"/>
                <a:ea typeface="Calibri" pitchFamily="34" charset="-122"/>
                <a:cs typeface="Calibri" pitchFamily="34" charset="-120"/>
              </a:rPr>
              <a:t>Build the assessment</a:t>
            </a:r>
            <a:endParaRPr lang="en-US" sz="1900" dirty="0"/>
          </a:p>
        </p:txBody>
      </p:sp>
      <p:sp>
        <p:nvSpPr>
          <p:cNvPr id="10" name="Text 8"/>
          <p:cNvSpPr/>
          <p:nvPr/>
        </p:nvSpPr>
        <p:spPr>
          <a:xfrm>
            <a:off x="685800" y="3017520"/>
            <a:ext cx="2286000" cy="1508760"/>
          </a:xfrm>
          <a:prstGeom prst="rect">
            <a:avLst/>
          </a:prstGeom>
          <a:noFill/>
          <a:ln/>
        </p:spPr>
        <p:txBody>
          <a:bodyPr wrap="square" lIns="0" tIns="0" rIns="0" bIns="0" rtlCol="0" anchor="ctr"/>
          <a:lstStyle/>
          <a:p>
            <a:pPr marL="0" indent="0">
              <a:buNone/>
            </a:pPr>
            <a:r>
              <a:rPr lang="en-US" sz="1400" dirty="0">
                <a:solidFill>
                  <a:srgbClr val="1A1F2C"/>
                </a:solidFill>
                <a:latin typeface="Calibri" pitchFamily="34" charset="0"/>
                <a:ea typeface="Calibri" pitchFamily="34" charset="-122"/>
                <a:cs typeface="Calibri" pitchFamily="34" charset="-120"/>
              </a:rPr>
              <a:t>Design and implement an 8-question web-based quiz that captures interests, work style and cognitive preferences of SPM leavers.</a:t>
            </a:r>
            <a:endParaRPr lang="en-US" sz="1400" dirty="0"/>
          </a:p>
        </p:txBody>
      </p:sp>
      <p:sp>
        <p:nvSpPr>
          <p:cNvPr id="11" name="Shape 9"/>
          <p:cNvSpPr/>
          <p:nvPr/>
        </p:nvSpPr>
        <p:spPr>
          <a:xfrm>
            <a:off x="3319272" y="1417320"/>
            <a:ext cx="2697480" cy="3063240"/>
          </a:xfrm>
          <a:prstGeom prst="rect">
            <a:avLst/>
          </a:prstGeom>
          <a:solidFill>
            <a:srgbClr val="F8FAFC"/>
          </a:solidFill>
          <a:ln w="12700">
            <a:solidFill>
              <a:srgbClr val="E5E7EB"/>
            </a:solidFill>
            <a:prstDash val="solid"/>
          </a:ln>
          <a:effectLst>
            <a:outerShdw blurRad="76200" dist="25400" dir="5400000" algn="bl" rotWithShape="0">
              <a:srgbClr val="000000">
                <a:alpha val="8000"/>
              </a:srgbClr>
            </a:outerShdw>
          </a:effectLst>
        </p:spPr>
        <p:txBody>
          <a:bodyPr/>
          <a:lstStyle/>
          <a:p>
            <a:endParaRPr lang="en-US"/>
          </a:p>
        </p:txBody>
      </p:sp>
      <p:sp>
        <p:nvSpPr>
          <p:cNvPr id="12" name="Shape 10"/>
          <p:cNvSpPr/>
          <p:nvPr/>
        </p:nvSpPr>
        <p:spPr>
          <a:xfrm>
            <a:off x="3319272" y="1417320"/>
            <a:ext cx="73152" cy="3063240"/>
          </a:xfrm>
          <a:prstGeom prst="rect">
            <a:avLst/>
          </a:prstGeom>
          <a:solidFill>
            <a:srgbClr val="E34628"/>
          </a:solidFill>
          <a:ln w="12700">
            <a:solidFill>
              <a:srgbClr val="E34628"/>
            </a:solidFill>
            <a:prstDash val="solid"/>
          </a:ln>
        </p:spPr>
        <p:txBody>
          <a:bodyPr/>
          <a:lstStyle/>
          <a:p>
            <a:endParaRPr lang="en-US"/>
          </a:p>
        </p:txBody>
      </p:sp>
      <p:sp>
        <p:nvSpPr>
          <p:cNvPr id="13" name="Text 11"/>
          <p:cNvSpPr/>
          <p:nvPr/>
        </p:nvSpPr>
        <p:spPr>
          <a:xfrm>
            <a:off x="3547872" y="1645920"/>
            <a:ext cx="1463040" cy="914400"/>
          </a:xfrm>
          <a:prstGeom prst="rect">
            <a:avLst/>
          </a:prstGeom>
          <a:noFill/>
          <a:ln/>
        </p:spPr>
        <p:txBody>
          <a:bodyPr wrap="square" lIns="0" tIns="0" rIns="0" bIns="0" rtlCol="0" anchor="ctr"/>
          <a:lstStyle/>
          <a:p>
            <a:pPr marL="0" indent="0" algn="l">
              <a:buNone/>
            </a:pPr>
            <a:r>
              <a:rPr lang="en-US" sz="7200" b="1" dirty="0">
                <a:solidFill>
                  <a:srgbClr val="E34628"/>
                </a:solidFill>
                <a:latin typeface="Calibri" pitchFamily="34" charset="0"/>
                <a:ea typeface="Calibri" pitchFamily="34" charset="-122"/>
                <a:cs typeface="Calibri" pitchFamily="34" charset="-120"/>
              </a:rPr>
              <a:t>02</a:t>
            </a:r>
            <a:endParaRPr lang="en-US" sz="7200" dirty="0"/>
          </a:p>
        </p:txBody>
      </p:sp>
      <p:sp>
        <p:nvSpPr>
          <p:cNvPr id="14" name="Text 12"/>
          <p:cNvSpPr/>
          <p:nvPr/>
        </p:nvSpPr>
        <p:spPr>
          <a:xfrm>
            <a:off x="3547872" y="2514600"/>
            <a:ext cx="2286000" cy="457200"/>
          </a:xfrm>
          <a:prstGeom prst="rect">
            <a:avLst/>
          </a:prstGeom>
          <a:noFill/>
          <a:ln/>
        </p:spPr>
        <p:txBody>
          <a:bodyPr wrap="square" lIns="0" tIns="0" rIns="0" bIns="0" rtlCol="0" anchor="ctr"/>
          <a:lstStyle/>
          <a:p>
            <a:pPr marL="0" indent="0">
              <a:buNone/>
            </a:pPr>
            <a:r>
              <a:rPr lang="en-US" sz="1900" b="1" dirty="0">
                <a:solidFill>
                  <a:srgbClr val="0F3361"/>
                </a:solidFill>
                <a:latin typeface="Calibri" pitchFamily="34" charset="0"/>
                <a:ea typeface="Calibri" pitchFamily="34" charset="-122"/>
                <a:cs typeface="Calibri" pitchFamily="34" charset="-120"/>
              </a:rPr>
              <a:t>Implement a rule-based engine</a:t>
            </a:r>
            <a:endParaRPr lang="en-US" sz="1900" dirty="0"/>
          </a:p>
        </p:txBody>
      </p:sp>
      <p:sp>
        <p:nvSpPr>
          <p:cNvPr id="15" name="Text 13"/>
          <p:cNvSpPr/>
          <p:nvPr/>
        </p:nvSpPr>
        <p:spPr>
          <a:xfrm>
            <a:off x="3547872" y="3017520"/>
            <a:ext cx="2286000" cy="1508760"/>
          </a:xfrm>
          <a:prstGeom prst="rect">
            <a:avLst/>
          </a:prstGeom>
          <a:noFill/>
          <a:ln/>
        </p:spPr>
        <p:txBody>
          <a:bodyPr wrap="square" lIns="0" tIns="0" rIns="0" bIns="0" rtlCol="0" anchor="ctr"/>
          <a:lstStyle/>
          <a:p>
            <a:pPr marL="0" indent="0">
              <a:buNone/>
            </a:pPr>
            <a:r>
              <a:rPr lang="en-US" sz="1400" dirty="0">
                <a:solidFill>
                  <a:srgbClr val="1A1F2C"/>
                </a:solidFill>
                <a:latin typeface="Calibri" pitchFamily="34" charset="0"/>
                <a:ea typeface="Calibri" pitchFamily="34" charset="-122"/>
                <a:cs typeface="Calibri" pitchFamily="34" charset="-120"/>
              </a:rPr>
              <a:t>Map answers to one of four UNITEN-specific tech personas and rank the top three programs using an editable rules table.</a:t>
            </a:r>
            <a:endParaRPr lang="en-US" sz="1400" dirty="0"/>
          </a:p>
        </p:txBody>
      </p:sp>
      <p:sp>
        <p:nvSpPr>
          <p:cNvPr id="16" name="Shape 14"/>
          <p:cNvSpPr/>
          <p:nvPr/>
        </p:nvSpPr>
        <p:spPr>
          <a:xfrm>
            <a:off x="6181344" y="1417320"/>
            <a:ext cx="2697480" cy="3063240"/>
          </a:xfrm>
          <a:prstGeom prst="rect">
            <a:avLst/>
          </a:prstGeom>
          <a:solidFill>
            <a:srgbClr val="F8FAFC"/>
          </a:solidFill>
          <a:ln w="12700">
            <a:solidFill>
              <a:srgbClr val="E5E7EB"/>
            </a:solidFill>
            <a:prstDash val="solid"/>
          </a:ln>
          <a:effectLst>
            <a:outerShdw blurRad="76200" dist="25400" dir="5400000" algn="bl" rotWithShape="0">
              <a:srgbClr val="000000">
                <a:alpha val="8000"/>
              </a:srgbClr>
            </a:outerShdw>
          </a:effectLst>
        </p:spPr>
        <p:txBody>
          <a:bodyPr/>
          <a:lstStyle/>
          <a:p>
            <a:endParaRPr lang="en-US"/>
          </a:p>
        </p:txBody>
      </p:sp>
      <p:sp>
        <p:nvSpPr>
          <p:cNvPr id="17" name="Shape 15"/>
          <p:cNvSpPr/>
          <p:nvPr/>
        </p:nvSpPr>
        <p:spPr>
          <a:xfrm>
            <a:off x="6181344" y="1417320"/>
            <a:ext cx="73152" cy="3063240"/>
          </a:xfrm>
          <a:prstGeom prst="rect">
            <a:avLst/>
          </a:prstGeom>
          <a:solidFill>
            <a:srgbClr val="E34628"/>
          </a:solidFill>
          <a:ln w="12700">
            <a:solidFill>
              <a:srgbClr val="E34628"/>
            </a:solidFill>
            <a:prstDash val="solid"/>
          </a:ln>
        </p:spPr>
        <p:txBody>
          <a:bodyPr/>
          <a:lstStyle/>
          <a:p>
            <a:endParaRPr lang="en-US"/>
          </a:p>
        </p:txBody>
      </p:sp>
      <p:sp>
        <p:nvSpPr>
          <p:cNvPr id="18" name="Text 16"/>
          <p:cNvSpPr/>
          <p:nvPr/>
        </p:nvSpPr>
        <p:spPr>
          <a:xfrm>
            <a:off x="6409944" y="1645920"/>
            <a:ext cx="1463040" cy="914400"/>
          </a:xfrm>
          <a:prstGeom prst="rect">
            <a:avLst/>
          </a:prstGeom>
          <a:noFill/>
          <a:ln/>
        </p:spPr>
        <p:txBody>
          <a:bodyPr wrap="square" lIns="0" tIns="0" rIns="0" bIns="0" rtlCol="0" anchor="ctr"/>
          <a:lstStyle/>
          <a:p>
            <a:pPr marL="0" indent="0" algn="l">
              <a:buNone/>
            </a:pPr>
            <a:r>
              <a:rPr lang="en-US" sz="7200" b="1" dirty="0">
                <a:solidFill>
                  <a:srgbClr val="E34628"/>
                </a:solidFill>
                <a:latin typeface="Calibri" pitchFamily="34" charset="0"/>
                <a:ea typeface="Calibri" pitchFamily="34" charset="-122"/>
                <a:cs typeface="Calibri" pitchFamily="34" charset="-120"/>
              </a:rPr>
              <a:t>03</a:t>
            </a:r>
            <a:endParaRPr lang="en-US" sz="7200" dirty="0"/>
          </a:p>
        </p:txBody>
      </p:sp>
      <p:sp>
        <p:nvSpPr>
          <p:cNvPr id="19" name="Text 17"/>
          <p:cNvSpPr/>
          <p:nvPr/>
        </p:nvSpPr>
        <p:spPr>
          <a:xfrm>
            <a:off x="6409944" y="2514600"/>
            <a:ext cx="2286000" cy="457200"/>
          </a:xfrm>
          <a:prstGeom prst="rect">
            <a:avLst/>
          </a:prstGeom>
          <a:noFill/>
          <a:ln/>
        </p:spPr>
        <p:txBody>
          <a:bodyPr wrap="square" lIns="0" tIns="0" rIns="0" bIns="0" rtlCol="0" anchor="ctr"/>
          <a:lstStyle/>
          <a:p>
            <a:pPr marL="0" indent="0">
              <a:buNone/>
            </a:pPr>
            <a:r>
              <a:rPr lang="en-US" sz="1900" b="1" dirty="0">
                <a:solidFill>
                  <a:srgbClr val="0F3361"/>
                </a:solidFill>
                <a:latin typeface="Calibri" pitchFamily="34" charset="0"/>
                <a:ea typeface="Calibri" pitchFamily="34" charset="-122"/>
                <a:cs typeface="Calibri" pitchFamily="34" charset="-120"/>
              </a:rPr>
              <a:t>Empower counselors</a:t>
            </a:r>
            <a:endParaRPr lang="en-US" sz="1900" dirty="0"/>
          </a:p>
        </p:txBody>
      </p:sp>
      <p:sp>
        <p:nvSpPr>
          <p:cNvPr id="20" name="Text 18"/>
          <p:cNvSpPr/>
          <p:nvPr/>
        </p:nvSpPr>
        <p:spPr>
          <a:xfrm>
            <a:off x="6409944" y="3017520"/>
            <a:ext cx="2286000" cy="1508760"/>
          </a:xfrm>
          <a:prstGeom prst="rect">
            <a:avLst/>
          </a:prstGeom>
          <a:noFill/>
          <a:ln/>
        </p:spPr>
        <p:txBody>
          <a:bodyPr wrap="square" lIns="0" tIns="0" rIns="0" bIns="0" rtlCol="0" anchor="ctr"/>
          <a:lstStyle/>
          <a:p>
            <a:pPr marL="0" indent="0">
              <a:buNone/>
            </a:pPr>
            <a:r>
              <a:rPr lang="en-US" sz="1400" dirty="0">
                <a:solidFill>
                  <a:srgbClr val="1A1F2C"/>
                </a:solidFill>
                <a:latin typeface="Calibri" pitchFamily="34" charset="0"/>
                <a:ea typeface="Calibri" pitchFamily="34" charset="-122"/>
                <a:cs typeface="Calibri" pitchFamily="34" charset="-120"/>
              </a:rPr>
              <a:t>Deliver an admin panel (Analytics, User Management, Persona Rules CRUD) so non-technical staff can update rules and view trends.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56032" cy="256032"/>
          </a:xfrm>
          <a:prstGeom prst="ellipse">
            <a:avLst/>
          </a:prstGeom>
          <a:solidFill>
            <a:srgbClr val="E34628"/>
          </a:solidFill>
          <a:ln w="12700">
            <a:solidFill>
              <a:srgbClr val="E34628"/>
            </a:solidFill>
            <a:prstDash val="solid"/>
          </a:ln>
        </p:spPr>
        <p:txBody>
          <a:bodyPr/>
          <a:lstStyle/>
          <a:p>
            <a:endParaRPr lang="en-US"/>
          </a:p>
        </p:txBody>
      </p:sp>
      <p:sp>
        <p:nvSpPr>
          <p:cNvPr id="3" name="Text 1"/>
          <p:cNvSpPr/>
          <p:nvPr/>
        </p:nvSpPr>
        <p:spPr>
          <a:xfrm>
            <a:off x="868680" y="256032"/>
            <a:ext cx="7772400" cy="548640"/>
          </a:xfrm>
          <a:prstGeom prst="rect">
            <a:avLst/>
          </a:prstGeom>
          <a:noFill/>
          <a:ln/>
        </p:spPr>
        <p:txBody>
          <a:bodyPr wrap="square" lIns="0" tIns="0" rIns="0" bIns="0" rtlCol="0" anchor="ctr"/>
          <a:lstStyle/>
          <a:p>
            <a:pPr marL="0" indent="0">
              <a:buNone/>
            </a:pPr>
            <a:r>
              <a:rPr lang="en-US" sz="3200" b="1" dirty="0">
                <a:solidFill>
                  <a:srgbClr val="0F3361"/>
                </a:solidFill>
                <a:latin typeface="Calibri" pitchFamily="34" charset="0"/>
                <a:ea typeface="Calibri" pitchFamily="34" charset="-122"/>
                <a:cs typeface="Calibri" pitchFamily="34" charset="-120"/>
              </a:rPr>
              <a:t>Presentation Structure</a:t>
            </a:r>
            <a:endParaRPr lang="en-US" sz="3200" dirty="0"/>
          </a:p>
        </p:txBody>
      </p:sp>
      <p:sp>
        <p:nvSpPr>
          <p:cNvPr id="4" name="Text 2"/>
          <p:cNvSpPr/>
          <p:nvPr/>
        </p:nvSpPr>
        <p:spPr>
          <a:xfrm>
            <a:off x="868680" y="777240"/>
            <a:ext cx="7772400" cy="310896"/>
          </a:xfrm>
          <a:prstGeom prst="rect">
            <a:avLst/>
          </a:prstGeom>
          <a:noFill/>
          <a:ln/>
        </p:spPr>
        <p:txBody>
          <a:bodyPr wrap="square" lIns="0" tIns="0" rIns="0" bIns="0"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What we will cover in the next 17 minutes</a:t>
            </a:r>
            <a:endParaRPr lang="en-US" sz="1400" dirty="0"/>
          </a:p>
        </p:txBody>
      </p:sp>
      <p:sp>
        <p:nvSpPr>
          <p:cNvPr id="5" name="Shape 3"/>
          <p:cNvSpPr/>
          <p:nvPr/>
        </p:nvSpPr>
        <p:spPr>
          <a:xfrm>
            <a:off x="457200" y="1170432"/>
            <a:ext cx="8229600" cy="18288"/>
          </a:xfrm>
          <a:prstGeom prst="rect">
            <a:avLst/>
          </a:prstGeom>
          <a:solidFill>
            <a:srgbClr val="E5E7EB"/>
          </a:solidFill>
          <a:ln w="12700">
            <a:solidFill>
              <a:srgbClr val="E5E7EB"/>
            </a:solidFill>
            <a:prstDash val="solid"/>
          </a:ln>
        </p:spPr>
        <p:txBody>
          <a:bodyPr/>
          <a:lstStyle/>
          <a:p>
            <a:endParaRPr lang="en-US"/>
          </a:p>
        </p:txBody>
      </p:sp>
      <p:sp>
        <p:nvSpPr>
          <p:cNvPr id="6" name="Shape 4"/>
          <p:cNvSpPr/>
          <p:nvPr/>
        </p:nvSpPr>
        <p:spPr>
          <a:xfrm>
            <a:off x="457200" y="1472184"/>
            <a:ext cx="365760" cy="365760"/>
          </a:xfrm>
          <a:prstGeom prst="ellipse">
            <a:avLst/>
          </a:prstGeom>
          <a:solidFill>
            <a:srgbClr val="0F3361"/>
          </a:solidFill>
          <a:ln w="12700">
            <a:solidFill>
              <a:srgbClr val="0F3361"/>
            </a:solidFill>
            <a:prstDash val="solid"/>
          </a:ln>
        </p:spPr>
        <p:txBody>
          <a:bodyPr/>
          <a:lstStyle/>
          <a:p>
            <a:endParaRPr lang="en-US"/>
          </a:p>
        </p:txBody>
      </p:sp>
      <p:sp>
        <p:nvSpPr>
          <p:cNvPr id="7" name="Text 5"/>
          <p:cNvSpPr/>
          <p:nvPr/>
        </p:nvSpPr>
        <p:spPr>
          <a:xfrm>
            <a:off x="457200" y="1472184"/>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932688" y="1453896"/>
            <a:ext cx="3474720" cy="411480"/>
          </a:xfrm>
          <a:prstGeom prst="rect">
            <a:avLst/>
          </a:prstGeom>
          <a:noFill/>
          <a:ln/>
        </p:spPr>
        <p:txBody>
          <a:bodyPr wrap="square" lIns="0" tIns="0" rIns="0" bIns="0" rtlCol="0" anchor="ctr"/>
          <a:lstStyle/>
          <a:p>
            <a:pPr marL="0" indent="0">
              <a:buNone/>
            </a:pPr>
            <a:r>
              <a:rPr lang="en-US" sz="1500" dirty="0">
                <a:solidFill>
                  <a:srgbClr val="1A1F2C"/>
                </a:solidFill>
                <a:latin typeface="Calibri" pitchFamily="34" charset="0"/>
                <a:ea typeface="Calibri" pitchFamily="34" charset="-122"/>
                <a:cs typeface="Calibri" pitchFamily="34" charset="-120"/>
              </a:rPr>
              <a:t>Tech Stack and Architecture</a:t>
            </a:r>
            <a:endParaRPr lang="en-US" sz="1500" dirty="0"/>
          </a:p>
        </p:txBody>
      </p:sp>
      <p:sp>
        <p:nvSpPr>
          <p:cNvPr id="9" name="Shape 7"/>
          <p:cNvSpPr/>
          <p:nvPr/>
        </p:nvSpPr>
        <p:spPr>
          <a:xfrm>
            <a:off x="457200" y="1975104"/>
            <a:ext cx="365760" cy="365760"/>
          </a:xfrm>
          <a:prstGeom prst="ellipse">
            <a:avLst/>
          </a:prstGeom>
          <a:solidFill>
            <a:srgbClr val="0F3361"/>
          </a:solidFill>
          <a:ln w="12700">
            <a:solidFill>
              <a:srgbClr val="0F3361"/>
            </a:solidFill>
            <a:prstDash val="solid"/>
          </a:ln>
        </p:spPr>
        <p:txBody>
          <a:bodyPr/>
          <a:lstStyle/>
          <a:p>
            <a:endParaRPr lang="en-US"/>
          </a:p>
        </p:txBody>
      </p:sp>
      <p:sp>
        <p:nvSpPr>
          <p:cNvPr id="10" name="Text 8"/>
          <p:cNvSpPr/>
          <p:nvPr/>
        </p:nvSpPr>
        <p:spPr>
          <a:xfrm>
            <a:off x="457200" y="1975104"/>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932688" y="1956816"/>
            <a:ext cx="3474720" cy="411480"/>
          </a:xfrm>
          <a:prstGeom prst="rect">
            <a:avLst/>
          </a:prstGeom>
          <a:noFill/>
          <a:ln/>
        </p:spPr>
        <p:txBody>
          <a:bodyPr wrap="square" lIns="0" tIns="0" rIns="0" bIns="0" rtlCol="0" anchor="ctr"/>
          <a:lstStyle/>
          <a:p>
            <a:pPr marL="0" indent="0">
              <a:buNone/>
            </a:pPr>
            <a:r>
              <a:rPr lang="en-US" sz="1500" dirty="0">
                <a:solidFill>
                  <a:srgbClr val="1A1F2C"/>
                </a:solidFill>
                <a:latin typeface="Calibri" pitchFamily="34" charset="0"/>
                <a:ea typeface="Calibri" pitchFamily="34" charset="-122"/>
                <a:cs typeface="Calibri" pitchFamily="34" charset="-120"/>
              </a:rPr>
              <a:t>Context Diagram (DFD Level 0)</a:t>
            </a:r>
            <a:endParaRPr lang="en-US" sz="1500" dirty="0"/>
          </a:p>
        </p:txBody>
      </p:sp>
      <p:sp>
        <p:nvSpPr>
          <p:cNvPr id="12" name="Shape 10"/>
          <p:cNvSpPr/>
          <p:nvPr/>
        </p:nvSpPr>
        <p:spPr>
          <a:xfrm>
            <a:off x="457200" y="2478024"/>
            <a:ext cx="365760" cy="365760"/>
          </a:xfrm>
          <a:prstGeom prst="ellipse">
            <a:avLst/>
          </a:prstGeom>
          <a:solidFill>
            <a:srgbClr val="0F3361"/>
          </a:solidFill>
          <a:ln w="12700">
            <a:solidFill>
              <a:srgbClr val="0F3361"/>
            </a:solidFill>
            <a:prstDash val="solid"/>
          </a:ln>
        </p:spPr>
        <p:txBody>
          <a:bodyPr/>
          <a:lstStyle/>
          <a:p>
            <a:endParaRPr lang="en-US"/>
          </a:p>
        </p:txBody>
      </p:sp>
      <p:sp>
        <p:nvSpPr>
          <p:cNvPr id="13" name="Text 11"/>
          <p:cNvSpPr/>
          <p:nvPr/>
        </p:nvSpPr>
        <p:spPr>
          <a:xfrm>
            <a:off x="457200" y="2478024"/>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932688" y="2459736"/>
            <a:ext cx="3474720" cy="411480"/>
          </a:xfrm>
          <a:prstGeom prst="rect">
            <a:avLst/>
          </a:prstGeom>
          <a:noFill/>
          <a:ln/>
        </p:spPr>
        <p:txBody>
          <a:bodyPr wrap="square" lIns="0" tIns="0" rIns="0" bIns="0" rtlCol="0" anchor="ctr"/>
          <a:lstStyle/>
          <a:p>
            <a:pPr marL="0" indent="0">
              <a:buNone/>
            </a:pPr>
            <a:r>
              <a:rPr lang="en-US" sz="1500" dirty="0">
                <a:solidFill>
                  <a:srgbClr val="1A1F2C"/>
                </a:solidFill>
                <a:latin typeface="Calibri" pitchFamily="34" charset="0"/>
                <a:ea typeface="Calibri" pitchFamily="34" charset="-122"/>
                <a:cs typeface="Calibri" pitchFamily="34" charset="-120"/>
              </a:rPr>
              <a:t>Registration and Login</a:t>
            </a:r>
            <a:endParaRPr lang="en-US" sz="1500" dirty="0"/>
          </a:p>
        </p:txBody>
      </p:sp>
      <p:sp>
        <p:nvSpPr>
          <p:cNvPr id="15" name="Shape 13"/>
          <p:cNvSpPr/>
          <p:nvPr/>
        </p:nvSpPr>
        <p:spPr>
          <a:xfrm>
            <a:off x="457200" y="2980944"/>
            <a:ext cx="365760" cy="365760"/>
          </a:xfrm>
          <a:prstGeom prst="ellipse">
            <a:avLst/>
          </a:prstGeom>
          <a:solidFill>
            <a:srgbClr val="0F3361"/>
          </a:solidFill>
          <a:ln w="12700">
            <a:solidFill>
              <a:srgbClr val="0F3361"/>
            </a:solidFill>
            <a:prstDash val="solid"/>
          </a:ln>
        </p:spPr>
        <p:txBody>
          <a:bodyPr/>
          <a:lstStyle/>
          <a:p>
            <a:endParaRPr lang="en-US"/>
          </a:p>
        </p:txBody>
      </p:sp>
      <p:sp>
        <p:nvSpPr>
          <p:cNvPr id="16" name="Text 14"/>
          <p:cNvSpPr/>
          <p:nvPr/>
        </p:nvSpPr>
        <p:spPr>
          <a:xfrm>
            <a:off x="457200" y="2980944"/>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932688" y="2962656"/>
            <a:ext cx="3474720" cy="411480"/>
          </a:xfrm>
          <a:prstGeom prst="rect">
            <a:avLst/>
          </a:prstGeom>
          <a:noFill/>
          <a:ln/>
        </p:spPr>
        <p:txBody>
          <a:bodyPr wrap="square" lIns="0" tIns="0" rIns="0" bIns="0" rtlCol="0" anchor="ctr"/>
          <a:lstStyle/>
          <a:p>
            <a:pPr marL="0" indent="0">
              <a:buNone/>
            </a:pPr>
            <a:r>
              <a:rPr lang="en-US" sz="1500" dirty="0">
                <a:solidFill>
                  <a:srgbClr val="1A1F2C"/>
                </a:solidFill>
                <a:latin typeface="Calibri" pitchFamily="34" charset="0"/>
                <a:ea typeface="Calibri" pitchFamily="34" charset="-122"/>
                <a:cs typeface="Calibri" pitchFamily="34" charset="-120"/>
              </a:rPr>
              <a:t>8-Question Quiz Assessment</a:t>
            </a:r>
            <a:endParaRPr lang="en-US" sz="1500" dirty="0"/>
          </a:p>
        </p:txBody>
      </p:sp>
      <p:sp>
        <p:nvSpPr>
          <p:cNvPr id="18" name="Shape 16"/>
          <p:cNvSpPr/>
          <p:nvPr/>
        </p:nvSpPr>
        <p:spPr>
          <a:xfrm>
            <a:off x="457200" y="3483864"/>
            <a:ext cx="365760" cy="365760"/>
          </a:xfrm>
          <a:prstGeom prst="ellipse">
            <a:avLst/>
          </a:prstGeom>
          <a:solidFill>
            <a:srgbClr val="0F3361"/>
          </a:solidFill>
          <a:ln w="12700">
            <a:solidFill>
              <a:srgbClr val="0F3361"/>
            </a:solidFill>
            <a:prstDash val="solid"/>
          </a:ln>
        </p:spPr>
        <p:txBody>
          <a:bodyPr/>
          <a:lstStyle/>
          <a:p>
            <a:endParaRPr lang="en-US"/>
          </a:p>
        </p:txBody>
      </p:sp>
      <p:sp>
        <p:nvSpPr>
          <p:cNvPr id="19" name="Text 17"/>
          <p:cNvSpPr/>
          <p:nvPr/>
        </p:nvSpPr>
        <p:spPr>
          <a:xfrm>
            <a:off x="457200" y="3483864"/>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0" name="Text 18"/>
          <p:cNvSpPr/>
          <p:nvPr/>
        </p:nvSpPr>
        <p:spPr>
          <a:xfrm>
            <a:off x="932688" y="3465576"/>
            <a:ext cx="3474720" cy="411480"/>
          </a:xfrm>
          <a:prstGeom prst="rect">
            <a:avLst/>
          </a:prstGeom>
          <a:noFill/>
          <a:ln/>
        </p:spPr>
        <p:txBody>
          <a:bodyPr wrap="square" lIns="0" tIns="0" rIns="0" bIns="0" rtlCol="0" anchor="ctr"/>
          <a:lstStyle/>
          <a:p>
            <a:pPr marL="0" indent="0">
              <a:buNone/>
            </a:pPr>
            <a:r>
              <a:rPr lang="en-US" sz="1500" dirty="0">
                <a:solidFill>
                  <a:srgbClr val="1A1F2C"/>
                </a:solidFill>
                <a:latin typeface="Calibri" pitchFamily="34" charset="0"/>
                <a:ea typeface="Calibri" pitchFamily="34" charset="-122"/>
                <a:cs typeface="Calibri" pitchFamily="34" charset="-120"/>
              </a:rPr>
              <a:t>Recommendation Engine (DFD Level 2)</a:t>
            </a:r>
            <a:endParaRPr lang="en-US" sz="1500" dirty="0"/>
          </a:p>
        </p:txBody>
      </p:sp>
      <p:sp>
        <p:nvSpPr>
          <p:cNvPr id="21" name="Shape 19"/>
          <p:cNvSpPr/>
          <p:nvPr/>
        </p:nvSpPr>
        <p:spPr>
          <a:xfrm>
            <a:off x="457200" y="3986784"/>
            <a:ext cx="365760" cy="365760"/>
          </a:xfrm>
          <a:prstGeom prst="ellipse">
            <a:avLst/>
          </a:prstGeom>
          <a:solidFill>
            <a:srgbClr val="0F3361"/>
          </a:solidFill>
          <a:ln w="12700">
            <a:solidFill>
              <a:srgbClr val="0F3361"/>
            </a:solidFill>
            <a:prstDash val="solid"/>
          </a:ln>
        </p:spPr>
        <p:txBody>
          <a:bodyPr/>
          <a:lstStyle/>
          <a:p>
            <a:endParaRPr lang="en-US"/>
          </a:p>
        </p:txBody>
      </p:sp>
      <p:sp>
        <p:nvSpPr>
          <p:cNvPr id="22" name="Text 20"/>
          <p:cNvSpPr/>
          <p:nvPr/>
        </p:nvSpPr>
        <p:spPr>
          <a:xfrm>
            <a:off x="457200" y="3986784"/>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3" name="Text 21"/>
          <p:cNvSpPr/>
          <p:nvPr/>
        </p:nvSpPr>
        <p:spPr>
          <a:xfrm>
            <a:off x="932688" y="3968496"/>
            <a:ext cx="3474720" cy="411480"/>
          </a:xfrm>
          <a:prstGeom prst="rect">
            <a:avLst/>
          </a:prstGeom>
          <a:noFill/>
          <a:ln/>
        </p:spPr>
        <p:txBody>
          <a:bodyPr wrap="square" lIns="0" tIns="0" rIns="0" bIns="0" rtlCol="0" anchor="ctr"/>
          <a:lstStyle/>
          <a:p>
            <a:pPr marL="0" indent="0">
              <a:buNone/>
            </a:pPr>
            <a:r>
              <a:rPr lang="en-US" sz="1500" dirty="0">
                <a:solidFill>
                  <a:srgbClr val="1A1F2C"/>
                </a:solidFill>
                <a:latin typeface="Calibri" pitchFamily="34" charset="0"/>
                <a:ea typeface="Calibri" pitchFamily="34" charset="-122"/>
                <a:cs typeface="Calibri" pitchFamily="34" charset="-120"/>
              </a:rPr>
              <a:t>Tech Personas and Result Page</a:t>
            </a:r>
            <a:endParaRPr lang="en-US" sz="1500" dirty="0"/>
          </a:p>
        </p:txBody>
      </p:sp>
      <p:sp>
        <p:nvSpPr>
          <p:cNvPr id="24" name="Shape 22"/>
          <p:cNvSpPr/>
          <p:nvPr/>
        </p:nvSpPr>
        <p:spPr>
          <a:xfrm>
            <a:off x="4663440" y="1472184"/>
            <a:ext cx="365760" cy="365760"/>
          </a:xfrm>
          <a:prstGeom prst="ellipse">
            <a:avLst/>
          </a:prstGeom>
          <a:solidFill>
            <a:srgbClr val="0F3361"/>
          </a:solidFill>
          <a:ln w="12700">
            <a:solidFill>
              <a:srgbClr val="0F3361"/>
            </a:solidFill>
            <a:prstDash val="solid"/>
          </a:ln>
        </p:spPr>
        <p:txBody>
          <a:bodyPr/>
          <a:lstStyle/>
          <a:p>
            <a:endParaRPr lang="en-US"/>
          </a:p>
        </p:txBody>
      </p:sp>
      <p:sp>
        <p:nvSpPr>
          <p:cNvPr id="25" name="Text 23"/>
          <p:cNvSpPr/>
          <p:nvPr/>
        </p:nvSpPr>
        <p:spPr>
          <a:xfrm>
            <a:off x="4663440" y="1472184"/>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26" name="Text 24"/>
          <p:cNvSpPr/>
          <p:nvPr/>
        </p:nvSpPr>
        <p:spPr>
          <a:xfrm>
            <a:off x="5138928" y="1453896"/>
            <a:ext cx="3474720" cy="411480"/>
          </a:xfrm>
          <a:prstGeom prst="rect">
            <a:avLst/>
          </a:prstGeom>
          <a:noFill/>
          <a:ln/>
        </p:spPr>
        <p:txBody>
          <a:bodyPr wrap="square" lIns="0" tIns="0" rIns="0" bIns="0" rtlCol="0" anchor="ctr"/>
          <a:lstStyle/>
          <a:p>
            <a:pPr marL="0" indent="0">
              <a:buNone/>
            </a:pPr>
            <a:r>
              <a:rPr lang="en-US" sz="1500" dirty="0">
                <a:solidFill>
                  <a:srgbClr val="1A1F2C"/>
                </a:solidFill>
                <a:latin typeface="Calibri" pitchFamily="34" charset="0"/>
                <a:ea typeface="Calibri" pitchFamily="34" charset="-122"/>
                <a:cs typeface="Calibri" pitchFamily="34" charset="-120"/>
              </a:rPr>
              <a:t>Programs - Browse, Details, Compare</a:t>
            </a:r>
            <a:endParaRPr lang="en-US" sz="1500" dirty="0"/>
          </a:p>
        </p:txBody>
      </p:sp>
      <p:sp>
        <p:nvSpPr>
          <p:cNvPr id="27" name="Shape 25"/>
          <p:cNvSpPr/>
          <p:nvPr/>
        </p:nvSpPr>
        <p:spPr>
          <a:xfrm>
            <a:off x="4663440" y="1975104"/>
            <a:ext cx="365760" cy="365760"/>
          </a:xfrm>
          <a:prstGeom prst="ellipse">
            <a:avLst/>
          </a:prstGeom>
          <a:solidFill>
            <a:srgbClr val="0F3361"/>
          </a:solidFill>
          <a:ln w="12700">
            <a:solidFill>
              <a:srgbClr val="0F3361"/>
            </a:solidFill>
            <a:prstDash val="solid"/>
          </a:ln>
        </p:spPr>
        <p:txBody>
          <a:bodyPr/>
          <a:lstStyle/>
          <a:p>
            <a:endParaRPr lang="en-US"/>
          </a:p>
        </p:txBody>
      </p:sp>
      <p:sp>
        <p:nvSpPr>
          <p:cNvPr id="28" name="Text 26"/>
          <p:cNvSpPr/>
          <p:nvPr/>
        </p:nvSpPr>
        <p:spPr>
          <a:xfrm>
            <a:off x="4663440" y="1975104"/>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29" name="Text 27"/>
          <p:cNvSpPr/>
          <p:nvPr/>
        </p:nvSpPr>
        <p:spPr>
          <a:xfrm>
            <a:off x="5138928" y="1956816"/>
            <a:ext cx="3474720" cy="411480"/>
          </a:xfrm>
          <a:prstGeom prst="rect">
            <a:avLst/>
          </a:prstGeom>
          <a:noFill/>
          <a:ln/>
        </p:spPr>
        <p:txBody>
          <a:bodyPr wrap="square" lIns="0" tIns="0" rIns="0" bIns="0" rtlCol="0" anchor="ctr"/>
          <a:lstStyle/>
          <a:p>
            <a:pPr marL="0" indent="0">
              <a:buNone/>
            </a:pPr>
            <a:r>
              <a:rPr lang="en-US" sz="1500" dirty="0">
                <a:solidFill>
                  <a:srgbClr val="1A1F2C"/>
                </a:solidFill>
                <a:latin typeface="Calibri" pitchFamily="34" charset="0"/>
                <a:ea typeface="Calibri" pitchFamily="34" charset="-122"/>
                <a:cs typeface="Calibri" pitchFamily="34" charset="-120"/>
              </a:rPr>
              <a:t>Student Profile</a:t>
            </a:r>
            <a:endParaRPr lang="en-US" sz="1500" dirty="0"/>
          </a:p>
        </p:txBody>
      </p:sp>
      <p:sp>
        <p:nvSpPr>
          <p:cNvPr id="30" name="Shape 28"/>
          <p:cNvSpPr/>
          <p:nvPr/>
        </p:nvSpPr>
        <p:spPr>
          <a:xfrm>
            <a:off x="4663440" y="2478024"/>
            <a:ext cx="365760" cy="365760"/>
          </a:xfrm>
          <a:prstGeom prst="ellipse">
            <a:avLst/>
          </a:prstGeom>
          <a:solidFill>
            <a:srgbClr val="0F3361"/>
          </a:solidFill>
          <a:ln w="12700">
            <a:solidFill>
              <a:srgbClr val="0F3361"/>
            </a:solidFill>
            <a:prstDash val="solid"/>
          </a:ln>
        </p:spPr>
        <p:txBody>
          <a:bodyPr/>
          <a:lstStyle/>
          <a:p>
            <a:endParaRPr lang="en-US"/>
          </a:p>
        </p:txBody>
      </p:sp>
      <p:sp>
        <p:nvSpPr>
          <p:cNvPr id="31" name="Text 29"/>
          <p:cNvSpPr/>
          <p:nvPr/>
        </p:nvSpPr>
        <p:spPr>
          <a:xfrm>
            <a:off x="4663440" y="2478024"/>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32" name="Text 30"/>
          <p:cNvSpPr/>
          <p:nvPr/>
        </p:nvSpPr>
        <p:spPr>
          <a:xfrm>
            <a:off x="5138928" y="2459736"/>
            <a:ext cx="3474720" cy="411480"/>
          </a:xfrm>
          <a:prstGeom prst="rect">
            <a:avLst/>
          </a:prstGeom>
          <a:noFill/>
          <a:ln/>
        </p:spPr>
        <p:txBody>
          <a:bodyPr wrap="square" lIns="0" tIns="0" rIns="0" bIns="0" rtlCol="0" anchor="ctr"/>
          <a:lstStyle/>
          <a:p>
            <a:pPr marL="0" indent="0">
              <a:buNone/>
            </a:pPr>
            <a:r>
              <a:rPr lang="en-US" sz="1500" dirty="0">
                <a:solidFill>
                  <a:srgbClr val="1A1F2C"/>
                </a:solidFill>
                <a:latin typeface="Calibri" pitchFamily="34" charset="0"/>
                <a:ea typeface="Calibri" pitchFamily="34" charset="-122"/>
                <a:cs typeface="Calibri" pitchFamily="34" charset="-120"/>
              </a:rPr>
              <a:t>Admin - Analytics, Users, Rules CRUD</a:t>
            </a:r>
            <a:endParaRPr lang="en-US" sz="1500" dirty="0"/>
          </a:p>
        </p:txBody>
      </p:sp>
      <p:sp>
        <p:nvSpPr>
          <p:cNvPr id="33" name="Shape 31"/>
          <p:cNvSpPr/>
          <p:nvPr/>
        </p:nvSpPr>
        <p:spPr>
          <a:xfrm>
            <a:off x="4663440" y="2980944"/>
            <a:ext cx="365760" cy="365760"/>
          </a:xfrm>
          <a:prstGeom prst="ellipse">
            <a:avLst/>
          </a:prstGeom>
          <a:solidFill>
            <a:srgbClr val="0F3361"/>
          </a:solidFill>
          <a:ln w="12700">
            <a:solidFill>
              <a:srgbClr val="0F3361"/>
            </a:solidFill>
            <a:prstDash val="solid"/>
          </a:ln>
        </p:spPr>
        <p:txBody>
          <a:bodyPr/>
          <a:lstStyle/>
          <a:p>
            <a:endParaRPr lang="en-US"/>
          </a:p>
        </p:txBody>
      </p:sp>
      <p:sp>
        <p:nvSpPr>
          <p:cNvPr id="34" name="Text 32"/>
          <p:cNvSpPr/>
          <p:nvPr/>
        </p:nvSpPr>
        <p:spPr>
          <a:xfrm>
            <a:off x="4663440" y="2980944"/>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35" name="Text 33"/>
          <p:cNvSpPr/>
          <p:nvPr/>
        </p:nvSpPr>
        <p:spPr>
          <a:xfrm>
            <a:off x="5138928" y="2962656"/>
            <a:ext cx="3474720" cy="411480"/>
          </a:xfrm>
          <a:prstGeom prst="rect">
            <a:avLst/>
          </a:prstGeom>
          <a:noFill/>
          <a:ln/>
        </p:spPr>
        <p:txBody>
          <a:bodyPr wrap="square" lIns="0" tIns="0" rIns="0" bIns="0" rtlCol="0" anchor="ctr"/>
          <a:lstStyle/>
          <a:p>
            <a:pPr marL="0" indent="0">
              <a:buNone/>
            </a:pPr>
            <a:r>
              <a:rPr lang="en-US" sz="1500" dirty="0">
                <a:solidFill>
                  <a:srgbClr val="1A1F2C"/>
                </a:solidFill>
                <a:latin typeface="Calibri" pitchFamily="34" charset="0"/>
                <a:ea typeface="Calibri" pitchFamily="34" charset="-122"/>
                <a:cs typeface="Calibri" pitchFamily="34" charset="-120"/>
              </a:rPr>
              <a:t>Database Schema (ERD)</a:t>
            </a:r>
            <a:endParaRPr lang="en-US" sz="1500" dirty="0"/>
          </a:p>
        </p:txBody>
      </p:sp>
      <p:sp>
        <p:nvSpPr>
          <p:cNvPr id="36" name="Shape 34"/>
          <p:cNvSpPr/>
          <p:nvPr/>
        </p:nvSpPr>
        <p:spPr>
          <a:xfrm>
            <a:off x="4663440" y="3483864"/>
            <a:ext cx="365760" cy="365760"/>
          </a:xfrm>
          <a:prstGeom prst="ellipse">
            <a:avLst/>
          </a:prstGeom>
          <a:solidFill>
            <a:srgbClr val="0F3361"/>
          </a:solidFill>
          <a:ln w="12700">
            <a:solidFill>
              <a:srgbClr val="0F3361"/>
            </a:solidFill>
            <a:prstDash val="solid"/>
          </a:ln>
        </p:spPr>
        <p:txBody>
          <a:bodyPr/>
          <a:lstStyle/>
          <a:p>
            <a:endParaRPr lang="en-US"/>
          </a:p>
        </p:txBody>
      </p:sp>
      <p:sp>
        <p:nvSpPr>
          <p:cNvPr id="37" name="Text 35"/>
          <p:cNvSpPr/>
          <p:nvPr/>
        </p:nvSpPr>
        <p:spPr>
          <a:xfrm>
            <a:off x="4663440" y="3483864"/>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11</a:t>
            </a:r>
            <a:endParaRPr lang="en-US" sz="1200" dirty="0"/>
          </a:p>
        </p:txBody>
      </p:sp>
      <p:sp>
        <p:nvSpPr>
          <p:cNvPr id="38" name="Text 36"/>
          <p:cNvSpPr/>
          <p:nvPr/>
        </p:nvSpPr>
        <p:spPr>
          <a:xfrm>
            <a:off x="5138928" y="3465576"/>
            <a:ext cx="3474720" cy="411480"/>
          </a:xfrm>
          <a:prstGeom prst="rect">
            <a:avLst/>
          </a:prstGeom>
          <a:noFill/>
          <a:ln/>
        </p:spPr>
        <p:txBody>
          <a:bodyPr wrap="square" lIns="0" tIns="0" rIns="0" bIns="0" rtlCol="0" anchor="ctr"/>
          <a:lstStyle/>
          <a:p>
            <a:pPr marL="0" indent="0">
              <a:buNone/>
            </a:pPr>
            <a:r>
              <a:rPr lang="en-US" sz="1500" dirty="0">
                <a:solidFill>
                  <a:srgbClr val="1A1F2C"/>
                </a:solidFill>
                <a:latin typeface="Calibri" pitchFamily="34" charset="0"/>
                <a:ea typeface="Calibri" pitchFamily="34" charset="-122"/>
                <a:cs typeface="Calibri" pitchFamily="34" charset="-120"/>
              </a:rPr>
              <a:t>Scope, Limitations and Future Work</a:t>
            </a:r>
            <a:endParaRPr lang="en-US" sz="1500" dirty="0"/>
          </a:p>
        </p:txBody>
      </p:sp>
      <p:sp>
        <p:nvSpPr>
          <p:cNvPr id="39" name="Shape 37"/>
          <p:cNvSpPr/>
          <p:nvPr/>
        </p:nvSpPr>
        <p:spPr>
          <a:xfrm>
            <a:off x="4663440" y="3986784"/>
            <a:ext cx="365760" cy="365760"/>
          </a:xfrm>
          <a:prstGeom prst="ellipse">
            <a:avLst/>
          </a:prstGeom>
          <a:solidFill>
            <a:srgbClr val="0F3361"/>
          </a:solidFill>
          <a:ln w="12700">
            <a:solidFill>
              <a:srgbClr val="0F3361"/>
            </a:solidFill>
            <a:prstDash val="solid"/>
          </a:ln>
        </p:spPr>
        <p:txBody>
          <a:bodyPr/>
          <a:lstStyle/>
          <a:p>
            <a:endParaRPr lang="en-US"/>
          </a:p>
        </p:txBody>
      </p:sp>
      <p:sp>
        <p:nvSpPr>
          <p:cNvPr id="40" name="Text 38"/>
          <p:cNvSpPr/>
          <p:nvPr/>
        </p:nvSpPr>
        <p:spPr>
          <a:xfrm>
            <a:off x="4663440" y="3986784"/>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Q&amp;A</a:t>
            </a:r>
            <a:endParaRPr lang="en-US" sz="1200" dirty="0"/>
          </a:p>
        </p:txBody>
      </p:sp>
      <p:sp>
        <p:nvSpPr>
          <p:cNvPr id="41" name="Text 39"/>
          <p:cNvSpPr/>
          <p:nvPr/>
        </p:nvSpPr>
        <p:spPr>
          <a:xfrm>
            <a:off x="5138928" y="3968496"/>
            <a:ext cx="3474720" cy="411480"/>
          </a:xfrm>
          <a:prstGeom prst="rect">
            <a:avLst/>
          </a:prstGeom>
          <a:noFill/>
          <a:ln/>
        </p:spPr>
        <p:txBody>
          <a:bodyPr wrap="square" lIns="0" tIns="0" rIns="0" bIns="0" rtlCol="0" anchor="ctr"/>
          <a:lstStyle/>
          <a:p>
            <a:pPr marL="0" indent="0">
              <a:buNone/>
            </a:pPr>
            <a:r>
              <a:rPr lang="en-US" sz="1500" dirty="0">
                <a:solidFill>
                  <a:srgbClr val="1A1F2C"/>
                </a:solidFill>
                <a:latin typeface="Calibri" pitchFamily="34" charset="0"/>
                <a:ea typeface="Calibri" pitchFamily="34" charset="-122"/>
                <a:cs typeface="Calibri" pitchFamily="34" charset="-120"/>
              </a:rPr>
              <a:t>Questions from the panel</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56032" cy="256032"/>
          </a:xfrm>
          <a:prstGeom prst="ellipse">
            <a:avLst/>
          </a:prstGeom>
          <a:solidFill>
            <a:srgbClr val="E34628"/>
          </a:solidFill>
          <a:ln w="12700">
            <a:solidFill>
              <a:srgbClr val="E34628"/>
            </a:solidFill>
            <a:prstDash val="solid"/>
          </a:ln>
        </p:spPr>
        <p:txBody>
          <a:bodyPr/>
          <a:lstStyle/>
          <a:p>
            <a:endParaRPr lang="en-US"/>
          </a:p>
        </p:txBody>
      </p:sp>
      <p:sp>
        <p:nvSpPr>
          <p:cNvPr id="3" name="Text 1"/>
          <p:cNvSpPr/>
          <p:nvPr/>
        </p:nvSpPr>
        <p:spPr>
          <a:xfrm>
            <a:off x="868680" y="256032"/>
            <a:ext cx="7772400" cy="548640"/>
          </a:xfrm>
          <a:prstGeom prst="rect">
            <a:avLst/>
          </a:prstGeom>
          <a:noFill/>
          <a:ln/>
        </p:spPr>
        <p:txBody>
          <a:bodyPr wrap="square" lIns="0" tIns="0" rIns="0" bIns="0" rtlCol="0" anchor="ctr"/>
          <a:lstStyle/>
          <a:p>
            <a:pPr marL="0" indent="0">
              <a:buNone/>
            </a:pPr>
            <a:r>
              <a:rPr lang="en-US" sz="3200" b="1" dirty="0">
                <a:solidFill>
                  <a:srgbClr val="0F3361"/>
                </a:solidFill>
                <a:latin typeface="Calibri" pitchFamily="34" charset="0"/>
                <a:ea typeface="Calibri" pitchFamily="34" charset="-122"/>
                <a:cs typeface="Calibri" pitchFamily="34" charset="-120"/>
              </a:rPr>
              <a:t>Tech Stack and Architecture</a:t>
            </a:r>
            <a:endParaRPr lang="en-US" sz="3200" dirty="0"/>
          </a:p>
        </p:txBody>
      </p:sp>
      <p:sp>
        <p:nvSpPr>
          <p:cNvPr id="4" name="Text 2"/>
          <p:cNvSpPr/>
          <p:nvPr/>
        </p:nvSpPr>
        <p:spPr>
          <a:xfrm>
            <a:off x="868680" y="777240"/>
            <a:ext cx="7772400" cy="310896"/>
          </a:xfrm>
          <a:prstGeom prst="rect">
            <a:avLst/>
          </a:prstGeom>
          <a:noFill/>
          <a:ln/>
        </p:spPr>
        <p:txBody>
          <a:bodyPr wrap="square" lIns="0" tIns="0" rIns="0" bIns="0"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Decoupled SPA over REST API over relational store</a:t>
            </a:r>
            <a:endParaRPr lang="en-US" sz="1400" dirty="0"/>
          </a:p>
        </p:txBody>
      </p:sp>
      <p:sp>
        <p:nvSpPr>
          <p:cNvPr id="5" name="Shape 3"/>
          <p:cNvSpPr/>
          <p:nvPr/>
        </p:nvSpPr>
        <p:spPr>
          <a:xfrm>
            <a:off x="457200" y="1170432"/>
            <a:ext cx="8229600" cy="18288"/>
          </a:xfrm>
          <a:prstGeom prst="rect">
            <a:avLst/>
          </a:prstGeom>
          <a:solidFill>
            <a:srgbClr val="E5E7EB"/>
          </a:solidFill>
          <a:ln w="12700">
            <a:solidFill>
              <a:srgbClr val="E5E7EB"/>
            </a:solidFill>
            <a:prstDash val="solid"/>
          </a:ln>
        </p:spPr>
        <p:txBody>
          <a:bodyPr/>
          <a:lstStyle/>
          <a:p>
            <a:endParaRPr lang="en-US"/>
          </a:p>
        </p:txBody>
      </p:sp>
      <p:sp>
        <p:nvSpPr>
          <p:cNvPr id="6" name="Shape 4"/>
          <p:cNvSpPr/>
          <p:nvPr/>
        </p:nvSpPr>
        <p:spPr>
          <a:xfrm>
            <a:off x="594360" y="1508760"/>
            <a:ext cx="1691640" cy="1188720"/>
          </a:xfrm>
          <a:prstGeom prst="rect">
            <a:avLst/>
          </a:prstGeom>
          <a:solidFill>
            <a:srgbClr val="BA7A65"/>
          </a:solidFill>
          <a:ln w="12700">
            <a:solidFill>
              <a:srgbClr val="BA7A65"/>
            </a:solidFill>
            <a:prstDash val="solid"/>
          </a:ln>
          <a:effectLst>
            <a:outerShdw blurRad="152400" dist="38100" dir="5400000" algn="bl" rotWithShape="0">
              <a:srgbClr val="000000">
                <a:alpha val="10000"/>
              </a:srgbClr>
            </a:outerShdw>
          </a:effectLst>
        </p:spPr>
        <p:txBody>
          <a:bodyPr/>
          <a:lstStyle/>
          <a:p>
            <a:endParaRPr lang="en-US"/>
          </a:p>
        </p:txBody>
      </p:sp>
      <p:sp>
        <p:nvSpPr>
          <p:cNvPr id="7" name="Text 5"/>
          <p:cNvSpPr/>
          <p:nvPr/>
        </p:nvSpPr>
        <p:spPr>
          <a:xfrm>
            <a:off x="594360" y="1691640"/>
            <a:ext cx="1691640" cy="45720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Browser</a:t>
            </a:r>
            <a:endParaRPr lang="en-US" sz="1900" dirty="0"/>
          </a:p>
        </p:txBody>
      </p:sp>
      <p:sp>
        <p:nvSpPr>
          <p:cNvPr id="8" name="Text 6"/>
          <p:cNvSpPr/>
          <p:nvPr/>
        </p:nvSpPr>
        <p:spPr>
          <a:xfrm>
            <a:off x="640080" y="2148840"/>
            <a:ext cx="1600200" cy="502920"/>
          </a:xfrm>
          <a:prstGeom prst="rect">
            <a:avLst/>
          </a:prstGeom>
          <a:noFill/>
          <a:ln/>
        </p:spPr>
        <p:txBody>
          <a:bodyPr wrap="square" lIns="0" tIns="0" rIns="0" bIns="0" rtlCol="0" anchor="t"/>
          <a:lstStyle/>
          <a:p>
            <a:pPr marL="0" indent="0" algn="ctr">
              <a:buNone/>
            </a:pPr>
            <a:r>
              <a:rPr lang="en-US" sz="1100" dirty="0">
                <a:solidFill>
                  <a:srgbClr val="FFFFFF">
                    <a:alpha val="85000"/>
                  </a:srgbClr>
                </a:solidFill>
                <a:latin typeface="Calibri" pitchFamily="34" charset="0"/>
                <a:ea typeface="Calibri" pitchFamily="34" charset="-122"/>
                <a:cs typeface="Calibri" pitchFamily="34" charset="-120"/>
              </a:rPr>
              <a:t>Chrome / Edge</a:t>
            </a:r>
            <a:endParaRPr lang="en-US" sz="1100" dirty="0"/>
          </a:p>
        </p:txBody>
      </p:sp>
      <p:sp>
        <p:nvSpPr>
          <p:cNvPr id="9" name="Shape 7"/>
          <p:cNvSpPr/>
          <p:nvPr/>
        </p:nvSpPr>
        <p:spPr>
          <a:xfrm>
            <a:off x="2322576" y="2103120"/>
            <a:ext cx="201168" cy="0"/>
          </a:xfrm>
          <a:prstGeom prst="line">
            <a:avLst/>
          </a:prstGeom>
          <a:noFill/>
          <a:ln w="31750">
            <a:solidFill>
              <a:srgbClr val="6B7280"/>
            </a:solidFill>
            <a:prstDash val="solid"/>
            <a:tailEnd type="triangle"/>
          </a:ln>
        </p:spPr>
        <p:txBody>
          <a:bodyPr/>
          <a:lstStyle/>
          <a:p>
            <a:endParaRPr lang="en-US"/>
          </a:p>
        </p:txBody>
      </p:sp>
      <p:sp>
        <p:nvSpPr>
          <p:cNvPr id="10" name="Shape 8"/>
          <p:cNvSpPr/>
          <p:nvPr/>
        </p:nvSpPr>
        <p:spPr>
          <a:xfrm>
            <a:off x="2560320" y="1508760"/>
            <a:ext cx="1691640" cy="1188720"/>
          </a:xfrm>
          <a:prstGeom prst="rect">
            <a:avLst/>
          </a:prstGeom>
          <a:solidFill>
            <a:srgbClr val="0F3361"/>
          </a:solidFill>
          <a:ln w="12700">
            <a:solidFill>
              <a:srgbClr val="0F3361"/>
            </a:solidFill>
            <a:prstDash val="solid"/>
          </a:ln>
          <a:effectLst>
            <a:outerShdw blurRad="152400" dist="38100" dir="5400000" algn="bl" rotWithShape="0">
              <a:srgbClr val="000000">
                <a:alpha val="10000"/>
              </a:srgbClr>
            </a:outerShdw>
          </a:effectLst>
        </p:spPr>
        <p:txBody>
          <a:bodyPr/>
          <a:lstStyle/>
          <a:p>
            <a:endParaRPr lang="en-US"/>
          </a:p>
        </p:txBody>
      </p:sp>
      <p:sp>
        <p:nvSpPr>
          <p:cNvPr id="11" name="Text 9"/>
          <p:cNvSpPr/>
          <p:nvPr/>
        </p:nvSpPr>
        <p:spPr>
          <a:xfrm>
            <a:off x="2560320" y="1691640"/>
            <a:ext cx="1691640" cy="45720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React 18</a:t>
            </a:r>
            <a:endParaRPr lang="en-US" sz="1900" dirty="0"/>
          </a:p>
        </p:txBody>
      </p:sp>
      <p:sp>
        <p:nvSpPr>
          <p:cNvPr id="12" name="Text 10"/>
          <p:cNvSpPr/>
          <p:nvPr/>
        </p:nvSpPr>
        <p:spPr>
          <a:xfrm>
            <a:off x="2606040" y="2148840"/>
            <a:ext cx="1600200" cy="502920"/>
          </a:xfrm>
          <a:prstGeom prst="rect">
            <a:avLst/>
          </a:prstGeom>
          <a:noFill/>
          <a:ln/>
        </p:spPr>
        <p:txBody>
          <a:bodyPr wrap="square" lIns="0" tIns="0" rIns="0" bIns="0" rtlCol="0" anchor="t"/>
          <a:lstStyle/>
          <a:p>
            <a:pPr marL="0" indent="0" algn="ctr">
              <a:buNone/>
            </a:pPr>
            <a:r>
              <a:rPr lang="en-US" sz="1100" dirty="0">
                <a:solidFill>
                  <a:srgbClr val="FFFFFF">
                    <a:alpha val="85000"/>
                  </a:srgbClr>
                </a:solidFill>
                <a:latin typeface="Calibri" pitchFamily="34" charset="0"/>
                <a:ea typeface="Calibri" pitchFamily="34" charset="-122"/>
                <a:cs typeface="Calibri" pitchFamily="34" charset="-120"/>
              </a:rPr>
              <a:t>Vite, TypeScript</a:t>
            </a:r>
            <a:endParaRPr lang="en-US" sz="1100" dirty="0"/>
          </a:p>
          <a:p>
            <a:pPr marL="0" indent="0" algn="ctr">
              <a:buNone/>
            </a:pPr>
            <a:r>
              <a:rPr lang="en-US" sz="1100" dirty="0">
                <a:solidFill>
                  <a:srgbClr val="FFFFFF">
                    <a:alpha val="85000"/>
                  </a:srgbClr>
                </a:solidFill>
                <a:latin typeface="Calibri" pitchFamily="34" charset="0"/>
                <a:ea typeface="Calibri" pitchFamily="34" charset="-122"/>
                <a:cs typeface="Calibri" pitchFamily="34" charset="-120"/>
              </a:rPr>
              <a:t>Tailwind, shadcn/ui</a:t>
            </a:r>
            <a:endParaRPr lang="en-US" sz="1100" dirty="0"/>
          </a:p>
        </p:txBody>
      </p:sp>
      <p:sp>
        <p:nvSpPr>
          <p:cNvPr id="13" name="Shape 11"/>
          <p:cNvSpPr/>
          <p:nvPr/>
        </p:nvSpPr>
        <p:spPr>
          <a:xfrm>
            <a:off x="4288536" y="2103120"/>
            <a:ext cx="201168" cy="0"/>
          </a:xfrm>
          <a:prstGeom prst="line">
            <a:avLst/>
          </a:prstGeom>
          <a:noFill/>
          <a:ln w="31750">
            <a:solidFill>
              <a:srgbClr val="6B7280"/>
            </a:solidFill>
            <a:prstDash val="solid"/>
            <a:tailEnd type="triangle"/>
          </a:ln>
        </p:spPr>
        <p:txBody>
          <a:bodyPr/>
          <a:lstStyle/>
          <a:p>
            <a:endParaRPr lang="en-US"/>
          </a:p>
        </p:txBody>
      </p:sp>
      <p:sp>
        <p:nvSpPr>
          <p:cNvPr id="14" name="Shape 12"/>
          <p:cNvSpPr/>
          <p:nvPr/>
        </p:nvSpPr>
        <p:spPr>
          <a:xfrm>
            <a:off x="4526280" y="1508760"/>
            <a:ext cx="1691640" cy="1188720"/>
          </a:xfrm>
          <a:prstGeom prst="rect">
            <a:avLst/>
          </a:prstGeom>
          <a:solidFill>
            <a:srgbClr val="E34628"/>
          </a:solidFill>
          <a:ln w="12700">
            <a:solidFill>
              <a:srgbClr val="E34628"/>
            </a:solidFill>
            <a:prstDash val="solid"/>
          </a:ln>
          <a:effectLst>
            <a:outerShdw blurRad="152400" dist="38100" dir="5400000" algn="bl" rotWithShape="0">
              <a:srgbClr val="000000">
                <a:alpha val="10000"/>
              </a:srgbClr>
            </a:outerShdw>
          </a:effectLst>
        </p:spPr>
        <p:txBody>
          <a:bodyPr/>
          <a:lstStyle/>
          <a:p>
            <a:endParaRPr lang="en-US"/>
          </a:p>
        </p:txBody>
      </p:sp>
      <p:sp>
        <p:nvSpPr>
          <p:cNvPr id="15" name="Text 13"/>
          <p:cNvSpPr/>
          <p:nvPr/>
        </p:nvSpPr>
        <p:spPr>
          <a:xfrm>
            <a:off x="4526280" y="1691640"/>
            <a:ext cx="1691640" cy="45720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Laravel 11</a:t>
            </a:r>
            <a:endParaRPr lang="en-US" sz="1900" dirty="0"/>
          </a:p>
        </p:txBody>
      </p:sp>
      <p:sp>
        <p:nvSpPr>
          <p:cNvPr id="16" name="Text 14"/>
          <p:cNvSpPr/>
          <p:nvPr/>
        </p:nvSpPr>
        <p:spPr>
          <a:xfrm>
            <a:off x="4572000" y="2148840"/>
            <a:ext cx="1600200" cy="502920"/>
          </a:xfrm>
          <a:prstGeom prst="rect">
            <a:avLst/>
          </a:prstGeom>
          <a:noFill/>
          <a:ln/>
        </p:spPr>
        <p:txBody>
          <a:bodyPr wrap="square" lIns="0" tIns="0" rIns="0" bIns="0" rtlCol="0" anchor="t"/>
          <a:lstStyle/>
          <a:p>
            <a:pPr marL="0" indent="0" algn="ctr">
              <a:buNone/>
            </a:pPr>
            <a:r>
              <a:rPr lang="en-US" sz="1100" dirty="0">
                <a:solidFill>
                  <a:srgbClr val="FFFFFF">
                    <a:alpha val="85000"/>
                  </a:srgbClr>
                </a:solidFill>
                <a:latin typeface="Calibri" pitchFamily="34" charset="0"/>
                <a:ea typeface="Calibri" pitchFamily="34" charset="-122"/>
                <a:cs typeface="Calibri" pitchFamily="34" charset="-120"/>
              </a:rPr>
              <a:t>PHP 8.3, Eloquent</a:t>
            </a:r>
            <a:endParaRPr lang="en-US" sz="1100" dirty="0"/>
          </a:p>
        </p:txBody>
      </p:sp>
      <p:sp>
        <p:nvSpPr>
          <p:cNvPr id="17" name="Shape 15"/>
          <p:cNvSpPr/>
          <p:nvPr/>
        </p:nvSpPr>
        <p:spPr>
          <a:xfrm>
            <a:off x="6254496" y="2103120"/>
            <a:ext cx="201168" cy="0"/>
          </a:xfrm>
          <a:prstGeom prst="line">
            <a:avLst/>
          </a:prstGeom>
          <a:noFill/>
          <a:ln w="31750">
            <a:solidFill>
              <a:srgbClr val="6B7280"/>
            </a:solidFill>
            <a:prstDash val="solid"/>
            <a:tailEnd type="triangle"/>
          </a:ln>
        </p:spPr>
        <p:txBody>
          <a:bodyPr/>
          <a:lstStyle/>
          <a:p>
            <a:endParaRPr lang="en-US"/>
          </a:p>
        </p:txBody>
      </p:sp>
      <p:sp>
        <p:nvSpPr>
          <p:cNvPr id="18" name="Shape 16"/>
          <p:cNvSpPr/>
          <p:nvPr/>
        </p:nvSpPr>
        <p:spPr>
          <a:xfrm>
            <a:off x="6492240" y="1508760"/>
            <a:ext cx="1691640" cy="1188720"/>
          </a:xfrm>
          <a:prstGeom prst="rect">
            <a:avLst/>
          </a:prstGeom>
          <a:solidFill>
            <a:srgbClr val="0F3361"/>
          </a:solidFill>
          <a:ln w="12700">
            <a:solidFill>
              <a:srgbClr val="0F3361"/>
            </a:solidFill>
            <a:prstDash val="solid"/>
          </a:ln>
          <a:effectLst>
            <a:outerShdw blurRad="152400" dist="38100" dir="5400000" algn="bl" rotWithShape="0">
              <a:srgbClr val="000000">
                <a:alpha val="10000"/>
              </a:srgbClr>
            </a:outerShdw>
          </a:effectLst>
        </p:spPr>
        <p:txBody>
          <a:bodyPr/>
          <a:lstStyle/>
          <a:p>
            <a:endParaRPr lang="en-US"/>
          </a:p>
        </p:txBody>
      </p:sp>
      <p:sp>
        <p:nvSpPr>
          <p:cNvPr id="19" name="Text 17"/>
          <p:cNvSpPr/>
          <p:nvPr/>
        </p:nvSpPr>
        <p:spPr>
          <a:xfrm>
            <a:off x="6492240" y="1691640"/>
            <a:ext cx="1691640" cy="45720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MySQL 8</a:t>
            </a:r>
            <a:endParaRPr lang="en-US" sz="1900" dirty="0"/>
          </a:p>
        </p:txBody>
      </p:sp>
      <p:sp>
        <p:nvSpPr>
          <p:cNvPr id="20" name="Text 18"/>
          <p:cNvSpPr/>
          <p:nvPr/>
        </p:nvSpPr>
        <p:spPr>
          <a:xfrm>
            <a:off x="6537960" y="2148840"/>
            <a:ext cx="1600200" cy="502920"/>
          </a:xfrm>
          <a:prstGeom prst="rect">
            <a:avLst/>
          </a:prstGeom>
          <a:noFill/>
          <a:ln/>
        </p:spPr>
        <p:txBody>
          <a:bodyPr wrap="square" lIns="0" tIns="0" rIns="0" bIns="0" rtlCol="0" anchor="t"/>
          <a:lstStyle/>
          <a:p>
            <a:pPr marL="0" indent="0" algn="ctr">
              <a:buNone/>
            </a:pPr>
            <a:r>
              <a:rPr lang="en-US" sz="1100" dirty="0">
                <a:solidFill>
                  <a:srgbClr val="FFFFFF">
                    <a:alpha val="85000"/>
                  </a:srgbClr>
                </a:solidFill>
                <a:latin typeface="Calibri" pitchFamily="34" charset="0"/>
                <a:ea typeface="Calibri" pitchFamily="34" charset="-122"/>
                <a:cs typeface="Calibri" pitchFamily="34" charset="-120"/>
              </a:rPr>
              <a:t>6 tables, phpMyAdmin</a:t>
            </a:r>
            <a:endParaRPr lang="en-US" sz="1100" dirty="0"/>
          </a:p>
        </p:txBody>
      </p:sp>
      <p:sp>
        <p:nvSpPr>
          <p:cNvPr id="21" name="Text 19"/>
          <p:cNvSpPr/>
          <p:nvPr/>
        </p:nvSpPr>
        <p:spPr>
          <a:xfrm>
            <a:off x="457200" y="2834640"/>
            <a:ext cx="8229600" cy="365760"/>
          </a:xfrm>
          <a:prstGeom prst="rect">
            <a:avLst/>
          </a:prstGeom>
          <a:noFill/>
          <a:ln/>
        </p:spPr>
        <p:txBody>
          <a:bodyPr wrap="square" lIns="0" tIns="0" rIns="0" bIns="0" rtlCol="0" anchor="ctr"/>
          <a:lstStyle/>
          <a:p>
            <a:pPr marL="0" indent="0" algn="ctr">
              <a:buNone/>
            </a:pPr>
            <a:r>
              <a:rPr lang="en-US" sz="1300" i="1" dirty="0">
                <a:solidFill>
                  <a:srgbClr val="6B7280"/>
                </a:solidFill>
                <a:latin typeface="Calibri" pitchFamily="34" charset="0"/>
                <a:ea typeface="Calibri" pitchFamily="34" charset="-122"/>
                <a:cs typeface="Calibri" pitchFamily="34" charset="-120"/>
              </a:rPr>
              <a:t>HTTP / JSON     -     stateless API     -     X-Session-Id auth</a:t>
            </a:r>
            <a:endParaRPr lang="en-US" sz="1300" dirty="0"/>
          </a:p>
        </p:txBody>
      </p:sp>
      <p:sp>
        <p:nvSpPr>
          <p:cNvPr id="22" name="Shape 20"/>
          <p:cNvSpPr/>
          <p:nvPr/>
        </p:nvSpPr>
        <p:spPr>
          <a:xfrm>
            <a:off x="457200" y="3337560"/>
            <a:ext cx="4023360" cy="1325880"/>
          </a:xfrm>
          <a:prstGeom prst="rect">
            <a:avLst/>
          </a:prstGeom>
          <a:solidFill>
            <a:srgbClr val="F8FAFC"/>
          </a:solidFill>
          <a:ln w="12700">
            <a:solidFill>
              <a:srgbClr val="E5E7EB"/>
            </a:solidFill>
            <a:prstDash val="solid"/>
          </a:ln>
        </p:spPr>
        <p:txBody>
          <a:bodyPr/>
          <a:lstStyle/>
          <a:p>
            <a:endParaRPr lang="en-US"/>
          </a:p>
        </p:txBody>
      </p:sp>
      <p:sp>
        <p:nvSpPr>
          <p:cNvPr id="23" name="Text 21"/>
          <p:cNvSpPr/>
          <p:nvPr/>
        </p:nvSpPr>
        <p:spPr>
          <a:xfrm>
            <a:off x="640080" y="3401568"/>
            <a:ext cx="3657600" cy="320040"/>
          </a:xfrm>
          <a:prstGeom prst="rect">
            <a:avLst/>
          </a:prstGeom>
          <a:noFill/>
          <a:ln/>
        </p:spPr>
        <p:txBody>
          <a:bodyPr wrap="square" lIns="0" tIns="0" rIns="0" bIns="0" rtlCol="0" anchor="ctr"/>
          <a:lstStyle/>
          <a:p>
            <a:pPr marL="0" indent="0">
              <a:buNone/>
            </a:pPr>
            <a:r>
              <a:rPr lang="en-US" sz="1400" b="1" dirty="0">
                <a:solidFill>
                  <a:srgbClr val="0F3361"/>
                </a:solidFill>
                <a:latin typeface="Calibri" pitchFamily="34" charset="0"/>
                <a:ea typeface="Calibri" pitchFamily="34" charset="-122"/>
                <a:cs typeface="Calibri" pitchFamily="34" charset="-120"/>
              </a:rPr>
              <a:t>Frontend stack</a:t>
            </a:r>
            <a:endParaRPr lang="en-US" sz="1400" dirty="0"/>
          </a:p>
        </p:txBody>
      </p:sp>
      <p:sp>
        <p:nvSpPr>
          <p:cNvPr id="24" name="Text 22"/>
          <p:cNvSpPr/>
          <p:nvPr/>
        </p:nvSpPr>
        <p:spPr>
          <a:xfrm>
            <a:off x="685800" y="3703320"/>
            <a:ext cx="3749040" cy="91440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1F2C"/>
                </a:solidFill>
                <a:latin typeface="Calibri" pitchFamily="34" charset="0"/>
                <a:ea typeface="Calibri" pitchFamily="34" charset="-122"/>
                <a:cs typeface="Calibri" pitchFamily="34" charset="-120"/>
              </a:rPr>
              <a:t>React 18 + TypeScript</a:t>
            </a:r>
            <a:endParaRPr lang="en-US" sz="1200" dirty="0"/>
          </a:p>
          <a:p>
            <a:pPr marL="342900" indent="-342900">
              <a:spcAft>
                <a:spcPts val="400"/>
              </a:spcAft>
              <a:buSzPct val="100000"/>
              <a:buChar char="●"/>
            </a:pPr>
            <a:r>
              <a:rPr lang="en-US" sz="1200" dirty="0">
                <a:solidFill>
                  <a:srgbClr val="1A1F2C"/>
                </a:solidFill>
                <a:latin typeface="Calibri" pitchFamily="34" charset="0"/>
                <a:ea typeface="Calibri" pitchFamily="34" charset="-122"/>
                <a:cs typeface="Calibri" pitchFamily="34" charset="-120"/>
              </a:rPr>
              <a:t>Tailwind v4 + shadcn/ui + Radix</a:t>
            </a:r>
            <a:endParaRPr lang="en-US" sz="1200" dirty="0"/>
          </a:p>
          <a:p>
            <a:pPr marL="342900" indent="-342900">
              <a:spcAft>
                <a:spcPts val="400"/>
              </a:spcAft>
              <a:buSzPct val="100000"/>
              <a:buChar char="●"/>
            </a:pPr>
            <a:r>
              <a:rPr lang="en-US" sz="1200" dirty="0">
                <a:solidFill>
                  <a:srgbClr val="1A1F2C"/>
                </a:solidFill>
                <a:latin typeface="Calibri" pitchFamily="34" charset="0"/>
                <a:ea typeface="Calibri" pitchFamily="34" charset="-122"/>
                <a:cs typeface="Calibri" pitchFamily="34" charset="-120"/>
              </a:rPr>
              <a:t>Framer Motion, Recharts</a:t>
            </a:r>
            <a:endParaRPr lang="en-US" sz="1200" dirty="0"/>
          </a:p>
          <a:p>
            <a:pPr marL="342900" indent="-342900">
              <a:spcAft>
                <a:spcPts val="400"/>
              </a:spcAft>
              <a:buSzPct val="100000"/>
              <a:buChar char="●"/>
            </a:pPr>
            <a:r>
              <a:rPr lang="en-US" sz="1200" dirty="0">
                <a:solidFill>
                  <a:srgbClr val="1A1F2C"/>
                </a:solidFill>
                <a:latin typeface="Calibri" pitchFamily="34" charset="0"/>
                <a:ea typeface="Calibri" pitchFamily="34" charset="-122"/>
                <a:cs typeface="Calibri" pitchFamily="34" charset="-120"/>
              </a:rPr>
              <a:t>React Router v6, Context API</a:t>
            </a:r>
            <a:endParaRPr lang="en-US" sz="1200" dirty="0"/>
          </a:p>
        </p:txBody>
      </p:sp>
      <p:sp>
        <p:nvSpPr>
          <p:cNvPr id="25" name="Shape 23"/>
          <p:cNvSpPr/>
          <p:nvPr/>
        </p:nvSpPr>
        <p:spPr>
          <a:xfrm>
            <a:off x="4663440" y="3337560"/>
            <a:ext cx="4023360" cy="1325880"/>
          </a:xfrm>
          <a:prstGeom prst="rect">
            <a:avLst/>
          </a:prstGeom>
          <a:solidFill>
            <a:srgbClr val="F8FAFC"/>
          </a:solidFill>
          <a:ln w="12700">
            <a:solidFill>
              <a:srgbClr val="E5E7EB"/>
            </a:solidFill>
            <a:prstDash val="solid"/>
          </a:ln>
        </p:spPr>
        <p:txBody>
          <a:bodyPr/>
          <a:lstStyle/>
          <a:p>
            <a:endParaRPr lang="en-US"/>
          </a:p>
        </p:txBody>
      </p:sp>
      <p:sp>
        <p:nvSpPr>
          <p:cNvPr id="26" name="Text 24"/>
          <p:cNvSpPr/>
          <p:nvPr/>
        </p:nvSpPr>
        <p:spPr>
          <a:xfrm>
            <a:off x="4846320" y="3401568"/>
            <a:ext cx="3657600" cy="320040"/>
          </a:xfrm>
          <a:prstGeom prst="rect">
            <a:avLst/>
          </a:prstGeom>
          <a:noFill/>
          <a:ln/>
        </p:spPr>
        <p:txBody>
          <a:bodyPr wrap="square" lIns="0" tIns="0" rIns="0" bIns="0" rtlCol="0" anchor="ctr"/>
          <a:lstStyle/>
          <a:p>
            <a:pPr marL="0" indent="0">
              <a:buNone/>
            </a:pPr>
            <a:r>
              <a:rPr lang="en-US" sz="1400" b="1" dirty="0">
                <a:solidFill>
                  <a:srgbClr val="E34628"/>
                </a:solidFill>
                <a:latin typeface="Calibri" pitchFamily="34" charset="0"/>
                <a:ea typeface="Calibri" pitchFamily="34" charset="-122"/>
                <a:cs typeface="Calibri" pitchFamily="34" charset="-120"/>
              </a:rPr>
              <a:t>Backend stack</a:t>
            </a:r>
            <a:endParaRPr lang="en-US" sz="1400" dirty="0"/>
          </a:p>
        </p:txBody>
      </p:sp>
      <p:sp>
        <p:nvSpPr>
          <p:cNvPr id="27" name="Text 25"/>
          <p:cNvSpPr/>
          <p:nvPr/>
        </p:nvSpPr>
        <p:spPr>
          <a:xfrm>
            <a:off x="4892040" y="3703320"/>
            <a:ext cx="3749040" cy="91440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1F2C"/>
                </a:solidFill>
                <a:latin typeface="Calibri" pitchFamily="34" charset="0"/>
                <a:ea typeface="Calibri" pitchFamily="34" charset="-122"/>
                <a:cs typeface="Calibri" pitchFamily="34" charset="-120"/>
              </a:rPr>
              <a:t>Laravel 11 + PHP 8.3 + Eloquent ORM</a:t>
            </a:r>
            <a:endParaRPr lang="en-US" sz="1200" dirty="0"/>
          </a:p>
          <a:p>
            <a:pPr marL="342900" indent="-342900">
              <a:spcAft>
                <a:spcPts val="400"/>
              </a:spcAft>
              <a:buSzPct val="100000"/>
              <a:buChar char="●"/>
            </a:pPr>
            <a:r>
              <a:rPr lang="en-US" sz="1200" dirty="0">
                <a:solidFill>
                  <a:srgbClr val="1A1F2C"/>
                </a:solidFill>
                <a:latin typeface="Calibri" pitchFamily="34" charset="0"/>
                <a:ea typeface="Calibri" pitchFamily="34" charset="-122"/>
                <a:cs typeface="Calibri" pitchFamily="34" charset="-120"/>
              </a:rPr>
              <a:t>MySQL 8 (managed via phpMyAdmin)</a:t>
            </a:r>
            <a:endParaRPr lang="en-US" sz="1200" dirty="0"/>
          </a:p>
          <a:p>
            <a:pPr marL="342900" indent="-342900">
              <a:spcAft>
                <a:spcPts val="400"/>
              </a:spcAft>
              <a:buSzPct val="100000"/>
              <a:buChar char="●"/>
            </a:pPr>
            <a:r>
              <a:rPr lang="en-US" sz="1200" dirty="0">
                <a:solidFill>
                  <a:srgbClr val="1A1F2C"/>
                </a:solidFill>
                <a:latin typeface="Calibri" pitchFamily="34" charset="0"/>
                <a:ea typeface="Calibri" pitchFamily="34" charset="-122"/>
                <a:cs typeface="Calibri" pitchFamily="34" charset="-120"/>
              </a:rPr>
              <a:t>Bcrypt password hashing</a:t>
            </a:r>
            <a:endParaRPr lang="en-US" sz="1200" dirty="0"/>
          </a:p>
          <a:p>
            <a:pPr marL="342900" indent="-342900">
              <a:spcAft>
                <a:spcPts val="400"/>
              </a:spcAft>
              <a:buSzPct val="100000"/>
              <a:buChar char="●"/>
            </a:pPr>
            <a:r>
              <a:rPr lang="en-US" sz="1200" dirty="0">
                <a:solidFill>
                  <a:srgbClr val="1A1F2C"/>
                </a:solidFill>
                <a:latin typeface="Calibri" pitchFamily="34" charset="0"/>
                <a:ea typeface="Calibri" pitchFamily="34" charset="-122"/>
                <a:cs typeface="Calibri" pitchFamily="34" charset="-120"/>
              </a:rPr>
              <a:t>Custom admin guard (X-Admin-Password)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56032" cy="256032"/>
          </a:xfrm>
          <a:prstGeom prst="ellipse">
            <a:avLst/>
          </a:prstGeom>
          <a:solidFill>
            <a:srgbClr val="E34628"/>
          </a:solidFill>
          <a:ln w="12700">
            <a:solidFill>
              <a:srgbClr val="E34628"/>
            </a:solidFill>
            <a:prstDash val="solid"/>
          </a:ln>
        </p:spPr>
        <p:txBody>
          <a:bodyPr/>
          <a:lstStyle/>
          <a:p>
            <a:endParaRPr lang="en-US"/>
          </a:p>
        </p:txBody>
      </p:sp>
      <p:sp>
        <p:nvSpPr>
          <p:cNvPr id="3" name="Text 1"/>
          <p:cNvSpPr/>
          <p:nvPr/>
        </p:nvSpPr>
        <p:spPr>
          <a:xfrm>
            <a:off x="868680" y="256032"/>
            <a:ext cx="7772400" cy="548640"/>
          </a:xfrm>
          <a:prstGeom prst="rect">
            <a:avLst/>
          </a:prstGeom>
          <a:noFill/>
          <a:ln/>
        </p:spPr>
        <p:txBody>
          <a:bodyPr wrap="square" lIns="0" tIns="0" rIns="0" bIns="0" rtlCol="0" anchor="ctr"/>
          <a:lstStyle/>
          <a:p>
            <a:pPr marL="0" indent="0">
              <a:buNone/>
            </a:pPr>
            <a:r>
              <a:rPr lang="en-US" sz="3200" b="1" dirty="0">
                <a:solidFill>
                  <a:srgbClr val="0F3361"/>
                </a:solidFill>
                <a:latin typeface="Calibri" pitchFamily="34" charset="0"/>
                <a:ea typeface="Calibri" pitchFamily="34" charset="-122"/>
                <a:cs typeface="Calibri" pitchFamily="34" charset="-120"/>
              </a:rPr>
              <a:t>Context Diagram</a:t>
            </a:r>
            <a:endParaRPr lang="en-US" sz="3200" dirty="0"/>
          </a:p>
        </p:txBody>
      </p:sp>
      <p:sp>
        <p:nvSpPr>
          <p:cNvPr id="4" name="Text 2"/>
          <p:cNvSpPr/>
          <p:nvPr/>
        </p:nvSpPr>
        <p:spPr>
          <a:xfrm>
            <a:off x="868680" y="777240"/>
            <a:ext cx="7772400" cy="310896"/>
          </a:xfrm>
          <a:prstGeom prst="rect">
            <a:avLst/>
          </a:prstGeom>
          <a:noFill/>
          <a:ln/>
        </p:spPr>
        <p:txBody>
          <a:bodyPr wrap="square" lIns="0" tIns="0" rIns="0" bIns="0"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External actors that exchange data with MyUniPath</a:t>
            </a:r>
            <a:endParaRPr lang="en-US" sz="1400" dirty="0"/>
          </a:p>
        </p:txBody>
      </p:sp>
      <p:sp>
        <p:nvSpPr>
          <p:cNvPr id="5" name="Shape 3"/>
          <p:cNvSpPr/>
          <p:nvPr/>
        </p:nvSpPr>
        <p:spPr>
          <a:xfrm>
            <a:off x="457200" y="1170432"/>
            <a:ext cx="8229600" cy="18288"/>
          </a:xfrm>
          <a:prstGeom prst="rect">
            <a:avLst/>
          </a:prstGeom>
          <a:solidFill>
            <a:srgbClr val="E5E7EB"/>
          </a:solidFill>
          <a:ln w="12700">
            <a:solidFill>
              <a:srgbClr val="E5E7EB"/>
            </a:solidFill>
            <a:prstDash val="solid"/>
          </a:ln>
        </p:spPr>
        <p:txBody>
          <a:bodyPr/>
          <a:lstStyle/>
          <a:p>
            <a:endParaRPr lang="en-US"/>
          </a:p>
        </p:txBody>
      </p:sp>
      <p:sp>
        <p:nvSpPr>
          <p:cNvPr id="6" name="Shape 4"/>
          <p:cNvSpPr/>
          <p:nvPr/>
        </p:nvSpPr>
        <p:spPr>
          <a:xfrm>
            <a:off x="457200" y="1417320"/>
            <a:ext cx="1874520" cy="685800"/>
          </a:xfrm>
          <a:prstGeom prst="rect">
            <a:avLst/>
          </a:prstGeom>
          <a:solidFill>
            <a:srgbClr val="E34628"/>
          </a:solidFill>
          <a:ln w="25400">
            <a:solidFill>
              <a:srgbClr val="E34628"/>
            </a:solidFill>
            <a:prstDash val="solid"/>
          </a:ln>
          <a:effectLst>
            <a:outerShdw blurRad="76200" dist="25400" dir="5400000" algn="bl" rotWithShape="0">
              <a:srgbClr val="000000">
                <a:alpha val="8000"/>
              </a:srgbClr>
            </a:outerShdw>
          </a:effectLst>
        </p:spPr>
        <p:txBody>
          <a:bodyPr/>
          <a:lstStyle/>
          <a:p>
            <a:endParaRPr lang="en-US"/>
          </a:p>
        </p:txBody>
      </p:sp>
      <p:sp>
        <p:nvSpPr>
          <p:cNvPr id="7" name="Text 5"/>
          <p:cNvSpPr/>
          <p:nvPr/>
        </p:nvSpPr>
        <p:spPr>
          <a:xfrm>
            <a:off x="457200" y="1417320"/>
            <a:ext cx="1874520" cy="6858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STUDENT</a:t>
            </a:r>
            <a:endParaRPr lang="en-US" sz="1400" dirty="0"/>
          </a:p>
        </p:txBody>
      </p:sp>
      <p:sp>
        <p:nvSpPr>
          <p:cNvPr id="8" name="Shape 6"/>
          <p:cNvSpPr/>
          <p:nvPr/>
        </p:nvSpPr>
        <p:spPr>
          <a:xfrm>
            <a:off x="2496312" y="1417320"/>
            <a:ext cx="1874520" cy="685800"/>
          </a:xfrm>
          <a:prstGeom prst="rect">
            <a:avLst/>
          </a:prstGeom>
          <a:solidFill>
            <a:srgbClr val="0F3361"/>
          </a:solidFill>
          <a:ln w="25400">
            <a:solidFill>
              <a:srgbClr val="0F3361"/>
            </a:solidFill>
            <a:prstDash val="solid"/>
          </a:ln>
          <a:effectLst>
            <a:outerShdw blurRad="76200" dist="25400" dir="5400000" algn="bl" rotWithShape="0">
              <a:srgbClr val="000000">
                <a:alpha val="8000"/>
              </a:srgbClr>
            </a:outerShdw>
          </a:effectLst>
        </p:spPr>
        <p:txBody>
          <a:bodyPr/>
          <a:lstStyle/>
          <a:p>
            <a:endParaRPr lang="en-US"/>
          </a:p>
        </p:txBody>
      </p:sp>
      <p:sp>
        <p:nvSpPr>
          <p:cNvPr id="9" name="Text 7"/>
          <p:cNvSpPr/>
          <p:nvPr/>
        </p:nvSpPr>
        <p:spPr>
          <a:xfrm>
            <a:off x="2496312" y="1417320"/>
            <a:ext cx="1874520" cy="6858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ADMIN</a:t>
            </a:r>
            <a:endParaRPr lang="en-US" sz="1400" dirty="0"/>
          </a:p>
        </p:txBody>
      </p:sp>
      <p:sp>
        <p:nvSpPr>
          <p:cNvPr id="10" name="Shape 8"/>
          <p:cNvSpPr/>
          <p:nvPr/>
        </p:nvSpPr>
        <p:spPr>
          <a:xfrm>
            <a:off x="4535424" y="1417320"/>
            <a:ext cx="1874520" cy="685800"/>
          </a:xfrm>
          <a:prstGeom prst="rect">
            <a:avLst/>
          </a:prstGeom>
          <a:solidFill>
            <a:srgbClr val="E34628"/>
          </a:solidFill>
          <a:ln w="25400">
            <a:solidFill>
              <a:srgbClr val="E34628"/>
            </a:solidFill>
            <a:prstDash val="solid"/>
          </a:ln>
          <a:effectLst>
            <a:outerShdw blurRad="76200" dist="25400" dir="5400000" algn="bl" rotWithShape="0">
              <a:srgbClr val="000000">
                <a:alpha val="8000"/>
              </a:srgbClr>
            </a:outerShdw>
          </a:effectLst>
        </p:spPr>
        <p:txBody>
          <a:bodyPr/>
          <a:lstStyle/>
          <a:p>
            <a:endParaRPr lang="en-US"/>
          </a:p>
        </p:txBody>
      </p:sp>
      <p:sp>
        <p:nvSpPr>
          <p:cNvPr id="11" name="Text 9"/>
          <p:cNvSpPr/>
          <p:nvPr/>
        </p:nvSpPr>
        <p:spPr>
          <a:xfrm>
            <a:off x="4535424" y="1417320"/>
            <a:ext cx="1874520" cy="6858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GUEST (Browser)</a:t>
            </a:r>
            <a:endParaRPr lang="en-US" sz="1400" dirty="0"/>
          </a:p>
        </p:txBody>
      </p:sp>
      <p:sp>
        <p:nvSpPr>
          <p:cNvPr id="12" name="Shape 10"/>
          <p:cNvSpPr/>
          <p:nvPr/>
        </p:nvSpPr>
        <p:spPr>
          <a:xfrm>
            <a:off x="6574536" y="1417320"/>
            <a:ext cx="1874520" cy="685800"/>
          </a:xfrm>
          <a:prstGeom prst="rect">
            <a:avLst/>
          </a:prstGeom>
          <a:solidFill>
            <a:srgbClr val="BA7A65"/>
          </a:solidFill>
          <a:ln w="25400">
            <a:solidFill>
              <a:srgbClr val="BA7A65"/>
            </a:solidFill>
            <a:prstDash val="solid"/>
          </a:ln>
          <a:effectLst>
            <a:outerShdw blurRad="76200" dist="25400" dir="5400000" algn="bl" rotWithShape="0">
              <a:srgbClr val="000000">
                <a:alpha val="8000"/>
              </a:srgbClr>
            </a:outerShdw>
          </a:effectLst>
        </p:spPr>
        <p:txBody>
          <a:bodyPr/>
          <a:lstStyle/>
          <a:p>
            <a:endParaRPr lang="en-US"/>
          </a:p>
        </p:txBody>
      </p:sp>
      <p:sp>
        <p:nvSpPr>
          <p:cNvPr id="13" name="Text 11"/>
          <p:cNvSpPr/>
          <p:nvPr/>
        </p:nvSpPr>
        <p:spPr>
          <a:xfrm>
            <a:off x="6574536" y="1417320"/>
            <a:ext cx="1874520" cy="6858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UNITEN WEBSITE</a:t>
            </a:r>
            <a:endParaRPr lang="en-US" sz="1400" dirty="0"/>
          </a:p>
        </p:txBody>
      </p:sp>
      <p:sp>
        <p:nvSpPr>
          <p:cNvPr id="14" name="Shape 12"/>
          <p:cNvSpPr/>
          <p:nvPr/>
        </p:nvSpPr>
        <p:spPr>
          <a:xfrm>
            <a:off x="457200" y="3749040"/>
            <a:ext cx="8229600" cy="868680"/>
          </a:xfrm>
          <a:prstGeom prst="ellipse">
            <a:avLst/>
          </a:prstGeom>
          <a:solidFill>
            <a:srgbClr val="0F3361"/>
          </a:solidFill>
          <a:ln w="25400">
            <a:solidFill>
              <a:srgbClr val="0F3361"/>
            </a:solidFill>
            <a:prstDash val="solid"/>
          </a:ln>
          <a:effectLst>
            <a:outerShdw blurRad="152400" dist="38100" dir="5400000" algn="bl" rotWithShape="0">
              <a:srgbClr val="000000">
                <a:alpha val="10000"/>
              </a:srgbClr>
            </a:outerShdw>
          </a:effectLst>
        </p:spPr>
        <p:txBody>
          <a:bodyPr/>
          <a:lstStyle/>
          <a:p>
            <a:endParaRPr lang="en-US"/>
          </a:p>
        </p:txBody>
      </p:sp>
      <p:sp>
        <p:nvSpPr>
          <p:cNvPr id="15" name="Text 13"/>
          <p:cNvSpPr/>
          <p:nvPr/>
        </p:nvSpPr>
        <p:spPr>
          <a:xfrm>
            <a:off x="457200" y="3749040"/>
            <a:ext cx="1097280" cy="868680"/>
          </a:xfrm>
          <a:prstGeom prst="rect">
            <a:avLst/>
          </a:prstGeom>
          <a:noFill/>
          <a:ln/>
        </p:spPr>
        <p:txBody>
          <a:bodyPr wrap="square" lIns="0" tIns="0" rIns="0" bIns="0" rtlCol="0" anchor="ctr"/>
          <a:lstStyle/>
          <a:p>
            <a:pPr marL="0" indent="0" algn="ctr">
              <a:buNone/>
            </a:pPr>
            <a:r>
              <a:rPr lang="en-US" sz="3200" b="1" dirty="0">
                <a:solidFill>
                  <a:srgbClr val="E34628"/>
                </a:solidFill>
                <a:latin typeface="Calibri" pitchFamily="34" charset="0"/>
                <a:ea typeface="Calibri" pitchFamily="34" charset="-122"/>
                <a:cs typeface="Calibri" pitchFamily="34" charset="-120"/>
              </a:rPr>
              <a:t>0</a:t>
            </a:r>
            <a:endParaRPr lang="en-US" sz="3200" dirty="0"/>
          </a:p>
        </p:txBody>
      </p:sp>
      <p:sp>
        <p:nvSpPr>
          <p:cNvPr id="16" name="Shape 14"/>
          <p:cNvSpPr/>
          <p:nvPr/>
        </p:nvSpPr>
        <p:spPr>
          <a:xfrm>
            <a:off x="1325880" y="3913632"/>
            <a:ext cx="18288" cy="548640"/>
          </a:xfrm>
          <a:prstGeom prst="rect">
            <a:avLst/>
          </a:prstGeom>
          <a:solidFill>
            <a:srgbClr val="E34628"/>
          </a:solidFill>
          <a:ln w="12700">
            <a:solidFill>
              <a:srgbClr val="E34628"/>
            </a:solidFill>
            <a:prstDash val="solid"/>
          </a:ln>
        </p:spPr>
        <p:txBody>
          <a:bodyPr/>
          <a:lstStyle/>
          <a:p>
            <a:endParaRPr lang="en-US"/>
          </a:p>
        </p:txBody>
      </p:sp>
      <p:sp>
        <p:nvSpPr>
          <p:cNvPr id="17" name="Text 15"/>
          <p:cNvSpPr/>
          <p:nvPr/>
        </p:nvSpPr>
        <p:spPr>
          <a:xfrm>
            <a:off x="1463040" y="3749040"/>
            <a:ext cx="7132320" cy="86868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MyUniPath System</a:t>
            </a:r>
            <a:endParaRPr lang="en-US" sz="2200" dirty="0"/>
          </a:p>
        </p:txBody>
      </p:sp>
      <p:sp>
        <p:nvSpPr>
          <p:cNvPr id="18" name="Shape 16"/>
          <p:cNvSpPr/>
          <p:nvPr/>
        </p:nvSpPr>
        <p:spPr>
          <a:xfrm>
            <a:off x="594360" y="2121408"/>
            <a:ext cx="0" cy="548640"/>
          </a:xfrm>
          <a:prstGeom prst="line">
            <a:avLst/>
          </a:prstGeom>
          <a:noFill/>
          <a:ln w="28575">
            <a:solidFill>
              <a:srgbClr val="0F3361"/>
            </a:solidFill>
            <a:prstDash val="solid"/>
          </a:ln>
        </p:spPr>
        <p:txBody>
          <a:bodyPr/>
          <a:lstStyle/>
          <a:p>
            <a:endParaRPr lang="en-US"/>
          </a:p>
        </p:txBody>
      </p:sp>
      <p:sp>
        <p:nvSpPr>
          <p:cNvPr id="19" name="Shape 17"/>
          <p:cNvSpPr/>
          <p:nvPr/>
        </p:nvSpPr>
        <p:spPr>
          <a:xfrm>
            <a:off x="594360" y="3310128"/>
            <a:ext cx="0" cy="457200"/>
          </a:xfrm>
          <a:prstGeom prst="line">
            <a:avLst/>
          </a:prstGeom>
          <a:noFill/>
          <a:ln w="28575">
            <a:solidFill>
              <a:srgbClr val="0F3361"/>
            </a:solidFill>
            <a:prstDash val="solid"/>
            <a:tailEnd type="triangle"/>
          </a:ln>
        </p:spPr>
        <p:txBody>
          <a:bodyPr/>
          <a:lstStyle/>
          <a:p>
            <a:endParaRPr lang="en-US"/>
          </a:p>
        </p:txBody>
      </p:sp>
      <p:sp>
        <p:nvSpPr>
          <p:cNvPr id="20" name="Shape 18"/>
          <p:cNvSpPr/>
          <p:nvPr/>
        </p:nvSpPr>
        <p:spPr>
          <a:xfrm>
            <a:off x="2194560" y="2121408"/>
            <a:ext cx="0" cy="548640"/>
          </a:xfrm>
          <a:prstGeom prst="line">
            <a:avLst/>
          </a:prstGeom>
          <a:noFill/>
          <a:ln w="28575">
            <a:solidFill>
              <a:srgbClr val="E34628"/>
            </a:solidFill>
            <a:prstDash val="solid"/>
            <a:headEnd type="triangle"/>
          </a:ln>
        </p:spPr>
        <p:txBody>
          <a:bodyPr/>
          <a:lstStyle/>
          <a:p>
            <a:endParaRPr lang="en-US"/>
          </a:p>
        </p:txBody>
      </p:sp>
      <p:sp>
        <p:nvSpPr>
          <p:cNvPr id="21" name="Shape 19"/>
          <p:cNvSpPr/>
          <p:nvPr/>
        </p:nvSpPr>
        <p:spPr>
          <a:xfrm>
            <a:off x="2194560" y="3310128"/>
            <a:ext cx="0" cy="457200"/>
          </a:xfrm>
          <a:prstGeom prst="line">
            <a:avLst/>
          </a:prstGeom>
          <a:noFill/>
          <a:ln w="28575">
            <a:solidFill>
              <a:srgbClr val="E34628"/>
            </a:solidFill>
            <a:prstDash val="solid"/>
          </a:ln>
        </p:spPr>
        <p:txBody>
          <a:bodyPr/>
          <a:lstStyle/>
          <a:p>
            <a:endParaRPr lang="en-US"/>
          </a:p>
        </p:txBody>
      </p:sp>
      <p:sp>
        <p:nvSpPr>
          <p:cNvPr id="22" name="Text 20"/>
          <p:cNvSpPr/>
          <p:nvPr/>
        </p:nvSpPr>
        <p:spPr>
          <a:xfrm>
            <a:off x="731520" y="2697480"/>
            <a:ext cx="1325880" cy="292608"/>
          </a:xfrm>
          <a:prstGeom prst="rect">
            <a:avLst/>
          </a:prstGeom>
          <a:noFill/>
          <a:ln/>
        </p:spPr>
        <p:txBody>
          <a:bodyPr wrap="square" lIns="0" tIns="0" rIns="0" bIns="0" rtlCol="0" anchor="ctr"/>
          <a:lstStyle/>
          <a:p>
            <a:pPr marL="0" indent="0" algn="ctr">
              <a:buNone/>
            </a:pPr>
            <a:r>
              <a:rPr lang="en-US" sz="900" i="1" dirty="0">
                <a:solidFill>
                  <a:srgbClr val="0F3361"/>
                </a:solidFill>
                <a:latin typeface="Calibri" pitchFamily="34" charset="0"/>
                <a:ea typeface="Calibri" pitchFamily="34" charset="-122"/>
                <a:cs typeface="Calibri" pitchFamily="34" charset="-120"/>
              </a:rPr>
              <a:t>Quiz answers, login, profile</a:t>
            </a:r>
            <a:endParaRPr lang="en-US" sz="900" dirty="0"/>
          </a:p>
        </p:txBody>
      </p:sp>
      <p:sp>
        <p:nvSpPr>
          <p:cNvPr id="23" name="Text 21"/>
          <p:cNvSpPr/>
          <p:nvPr/>
        </p:nvSpPr>
        <p:spPr>
          <a:xfrm>
            <a:off x="731520" y="2990088"/>
            <a:ext cx="1325880" cy="292608"/>
          </a:xfrm>
          <a:prstGeom prst="rect">
            <a:avLst/>
          </a:prstGeom>
          <a:noFill/>
          <a:ln/>
        </p:spPr>
        <p:txBody>
          <a:bodyPr wrap="square" lIns="0" tIns="0" rIns="0" bIns="0" rtlCol="0" anchor="ctr"/>
          <a:lstStyle/>
          <a:p>
            <a:pPr marL="0" indent="0" algn="ctr">
              <a:buNone/>
            </a:pPr>
            <a:r>
              <a:rPr lang="en-US" sz="900" i="1" dirty="0">
                <a:solidFill>
                  <a:srgbClr val="E34628"/>
                </a:solidFill>
                <a:latin typeface="Calibri" pitchFamily="34" charset="0"/>
                <a:ea typeface="Calibri" pitchFamily="34" charset="-122"/>
                <a:cs typeface="Calibri" pitchFamily="34" charset="-120"/>
              </a:rPr>
              <a:t>Persona, recommendations</a:t>
            </a:r>
            <a:endParaRPr lang="en-US" sz="900" dirty="0"/>
          </a:p>
        </p:txBody>
      </p:sp>
      <p:sp>
        <p:nvSpPr>
          <p:cNvPr id="24" name="Shape 22"/>
          <p:cNvSpPr/>
          <p:nvPr/>
        </p:nvSpPr>
        <p:spPr>
          <a:xfrm>
            <a:off x="2633472" y="2121408"/>
            <a:ext cx="0" cy="548640"/>
          </a:xfrm>
          <a:prstGeom prst="line">
            <a:avLst/>
          </a:prstGeom>
          <a:noFill/>
          <a:ln w="28575">
            <a:solidFill>
              <a:srgbClr val="0F3361"/>
            </a:solidFill>
            <a:prstDash val="solid"/>
          </a:ln>
        </p:spPr>
        <p:txBody>
          <a:bodyPr/>
          <a:lstStyle/>
          <a:p>
            <a:endParaRPr lang="en-US"/>
          </a:p>
        </p:txBody>
      </p:sp>
      <p:sp>
        <p:nvSpPr>
          <p:cNvPr id="25" name="Shape 23"/>
          <p:cNvSpPr/>
          <p:nvPr/>
        </p:nvSpPr>
        <p:spPr>
          <a:xfrm>
            <a:off x="2633472" y="3310128"/>
            <a:ext cx="0" cy="457200"/>
          </a:xfrm>
          <a:prstGeom prst="line">
            <a:avLst/>
          </a:prstGeom>
          <a:noFill/>
          <a:ln w="28575">
            <a:solidFill>
              <a:srgbClr val="0F3361"/>
            </a:solidFill>
            <a:prstDash val="solid"/>
            <a:tailEnd type="triangle"/>
          </a:ln>
        </p:spPr>
        <p:txBody>
          <a:bodyPr/>
          <a:lstStyle/>
          <a:p>
            <a:endParaRPr lang="en-US"/>
          </a:p>
        </p:txBody>
      </p:sp>
      <p:sp>
        <p:nvSpPr>
          <p:cNvPr id="26" name="Shape 24"/>
          <p:cNvSpPr/>
          <p:nvPr/>
        </p:nvSpPr>
        <p:spPr>
          <a:xfrm>
            <a:off x="4233672" y="2121408"/>
            <a:ext cx="0" cy="548640"/>
          </a:xfrm>
          <a:prstGeom prst="line">
            <a:avLst/>
          </a:prstGeom>
          <a:noFill/>
          <a:ln w="28575">
            <a:solidFill>
              <a:srgbClr val="E34628"/>
            </a:solidFill>
            <a:prstDash val="solid"/>
            <a:headEnd type="triangle"/>
          </a:ln>
        </p:spPr>
        <p:txBody>
          <a:bodyPr/>
          <a:lstStyle/>
          <a:p>
            <a:endParaRPr lang="en-US"/>
          </a:p>
        </p:txBody>
      </p:sp>
      <p:sp>
        <p:nvSpPr>
          <p:cNvPr id="27" name="Shape 25"/>
          <p:cNvSpPr/>
          <p:nvPr/>
        </p:nvSpPr>
        <p:spPr>
          <a:xfrm>
            <a:off x="4233672" y="3310128"/>
            <a:ext cx="0" cy="457200"/>
          </a:xfrm>
          <a:prstGeom prst="line">
            <a:avLst/>
          </a:prstGeom>
          <a:noFill/>
          <a:ln w="28575">
            <a:solidFill>
              <a:srgbClr val="E34628"/>
            </a:solidFill>
            <a:prstDash val="solid"/>
          </a:ln>
        </p:spPr>
        <p:txBody>
          <a:bodyPr/>
          <a:lstStyle/>
          <a:p>
            <a:endParaRPr lang="en-US"/>
          </a:p>
        </p:txBody>
      </p:sp>
      <p:sp>
        <p:nvSpPr>
          <p:cNvPr id="28" name="Text 26"/>
          <p:cNvSpPr/>
          <p:nvPr/>
        </p:nvSpPr>
        <p:spPr>
          <a:xfrm>
            <a:off x="2770632" y="2697480"/>
            <a:ext cx="1325880" cy="292608"/>
          </a:xfrm>
          <a:prstGeom prst="rect">
            <a:avLst/>
          </a:prstGeom>
          <a:noFill/>
          <a:ln/>
        </p:spPr>
        <p:txBody>
          <a:bodyPr wrap="square" lIns="0" tIns="0" rIns="0" bIns="0" rtlCol="0" anchor="ctr"/>
          <a:lstStyle/>
          <a:p>
            <a:pPr marL="0" indent="0" algn="ctr">
              <a:buNone/>
            </a:pPr>
            <a:r>
              <a:rPr lang="en-US" sz="900" i="1" dirty="0">
                <a:solidFill>
                  <a:srgbClr val="0F3361"/>
                </a:solidFill>
                <a:latin typeface="Calibri" pitchFamily="34" charset="0"/>
                <a:ea typeface="Calibri" pitchFamily="34" charset="-122"/>
                <a:cs typeface="Calibri" pitchFamily="34" charset="-120"/>
              </a:rPr>
              <a:t>Login, edit users, rule changes</a:t>
            </a:r>
            <a:endParaRPr lang="en-US" sz="900" dirty="0"/>
          </a:p>
        </p:txBody>
      </p:sp>
      <p:sp>
        <p:nvSpPr>
          <p:cNvPr id="29" name="Text 27"/>
          <p:cNvSpPr/>
          <p:nvPr/>
        </p:nvSpPr>
        <p:spPr>
          <a:xfrm>
            <a:off x="2770632" y="2990088"/>
            <a:ext cx="1325880" cy="292608"/>
          </a:xfrm>
          <a:prstGeom prst="rect">
            <a:avLst/>
          </a:prstGeom>
          <a:noFill/>
          <a:ln/>
        </p:spPr>
        <p:txBody>
          <a:bodyPr wrap="square" lIns="0" tIns="0" rIns="0" bIns="0" rtlCol="0" anchor="ctr"/>
          <a:lstStyle/>
          <a:p>
            <a:pPr marL="0" indent="0" algn="ctr">
              <a:buNone/>
            </a:pPr>
            <a:r>
              <a:rPr lang="en-US" sz="900" i="1" dirty="0">
                <a:solidFill>
                  <a:srgbClr val="E34628"/>
                </a:solidFill>
                <a:latin typeface="Calibri" pitchFamily="34" charset="0"/>
                <a:ea typeface="Calibri" pitchFamily="34" charset="-122"/>
                <a:cs typeface="Calibri" pitchFamily="34" charset="-120"/>
              </a:rPr>
              <a:t>Analytics, user list, rules</a:t>
            </a:r>
            <a:endParaRPr lang="en-US" sz="900" dirty="0"/>
          </a:p>
        </p:txBody>
      </p:sp>
      <p:sp>
        <p:nvSpPr>
          <p:cNvPr id="30" name="Shape 28"/>
          <p:cNvSpPr/>
          <p:nvPr/>
        </p:nvSpPr>
        <p:spPr>
          <a:xfrm>
            <a:off x="4672584" y="2121408"/>
            <a:ext cx="0" cy="548640"/>
          </a:xfrm>
          <a:prstGeom prst="line">
            <a:avLst/>
          </a:prstGeom>
          <a:noFill/>
          <a:ln w="28575">
            <a:solidFill>
              <a:srgbClr val="0F3361"/>
            </a:solidFill>
            <a:prstDash val="solid"/>
          </a:ln>
        </p:spPr>
        <p:txBody>
          <a:bodyPr/>
          <a:lstStyle/>
          <a:p>
            <a:endParaRPr lang="en-US"/>
          </a:p>
        </p:txBody>
      </p:sp>
      <p:sp>
        <p:nvSpPr>
          <p:cNvPr id="31" name="Shape 29"/>
          <p:cNvSpPr/>
          <p:nvPr/>
        </p:nvSpPr>
        <p:spPr>
          <a:xfrm>
            <a:off x="4672584" y="3310128"/>
            <a:ext cx="0" cy="457200"/>
          </a:xfrm>
          <a:prstGeom prst="line">
            <a:avLst/>
          </a:prstGeom>
          <a:noFill/>
          <a:ln w="28575">
            <a:solidFill>
              <a:srgbClr val="0F3361"/>
            </a:solidFill>
            <a:prstDash val="solid"/>
            <a:tailEnd type="triangle"/>
          </a:ln>
        </p:spPr>
        <p:txBody>
          <a:bodyPr/>
          <a:lstStyle/>
          <a:p>
            <a:endParaRPr lang="en-US"/>
          </a:p>
        </p:txBody>
      </p:sp>
      <p:sp>
        <p:nvSpPr>
          <p:cNvPr id="32" name="Shape 30"/>
          <p:cNvSpPr/>
          <p:nvPr/>
        </p:nvSpPr>
        <p:spPr>
          <a:xfrm>
            <a:off x="6272784" y="2121408"/>
            <a:ext cx="0" cy="548640"/>
          </a:xfrm>
          <a:prstGeom prst="line">
            <a:avLst/>
          </a:prstGeom>
          <a:noFill/>
          <a:ln w="28575">
            <a:solidFill>
              <a:srgbClr val="E34628"/>
            </a:solidFill>
            <a:prstDash val="solid"/>
            <a:headEnd type="triangle"/>
          </a:ln>
        </p:spPr>
        <p:txBody>
          <a:bodyPr/>
          <a:lstStyle/>
          <a:p>
            <a:endParaRPr lang="en-US"/>
          </a:p>
        </p:txBody>
      </p:sp>
      <p:sp>
        <p:nvSpPr>
          <p:cNvPr id="33" name="Shape 31"/>
          <p:cNvSpPr/>
          <p:nvPr/>
        </p:nvSpPr>
        <p:spPr>
          <a:xfrm>
            <a:off x="6272784" y="3310128"/>
            <a:ext cx="0" cy="457200"/>
          </a:xfrm>
          <a:prstGeom prst="line">
            <a:avLst/>
          </a:prstGeom>
          <a:noFill/>
          <a:ln w="28575">
            <a:solidFill>
              <a:srgbClr val="E34628"/>
            </a:solidFill>
            <a:prstDash val="solid"/>
          </a:ln>
        </p:spPr>
        <p:txBody>
          <a:bodyPr/>
          <a:lstStyle/>
          <a:p>
            <a:endParaRPr lang="en-US"/>
          </a:p>
        </p:txBody>
      </p:sp>
      <p:sp>
        <p:nvSpPr>
          <p:cNvPr id="34" name="Text 32"/>
          <p:cNvSpPr/>
          <p:nvPr/>
        </p:nvSpPr>
        <p:spPr>
          <a:xfrm>
            <a:off x="4809744" y="2697480"/>
            <a:ext cx="1325880" cy="292608"/>
          </a:xfrm>
          <a:prstGeom prst="rect">
            <a:avLst/>
          </a:prstGeom>
          <a:noFill/>
          <a:ln/>
        </p:spPr>
        <p:txBody>
          <a:bodyPr wrap="square" lIns="0" tIns="0" rIns="0" bIns="0" rtlCol="0" anchor="ctr"/>
          <a:lstStyle/>
          <a:p>
            <a:pPr marL="0" indent="0" algn="ctr">
              <a:buNone/>
            </a:pPr>
            <a:r>
              <a:rPr lang="en-US" sz="900" i="1" dirty="0">
                <a:solidFill>
                  <a:srgbClr val="0F3361"/>
                </a:solidFill>
                <a:latin typeface="Calibri" pitchFamily="34" charset="0"/>
                <a:ea typeface="Calibri" pitchFamily="34" charset="-122"/>
                <a:cs typeface="Calibri" pitchFamily="34" charset="-120"/>
              </a:rPr>
              <a:t>Browse programs, about page</a:t>
            </a:r>
            <a:endParaRPr lang="en-US" sz="900" dirty="0"/>
          </a:p>
        </p:txBody>
      </p:sp>
      <p:sp>
        <p:nvSpPr>
          <p:cNvPr id="35" name="Text 33"/>
          <p:cNvSpPr/>
          <p:nvPr/>
        </p:nvSpPr>
        <p:spPr>
          <a:xfrm>
            <a:off x="4809744" y="2990088"/>
            <a:ext cx="1325880" cy="292608"/>
          </a:xfrm>
          <a:prstGeom prst="rect">
            <a:avLst/>
          </a:prstGeom>
          <a:noFill/>
          <a:ln/>
        </p:spPr>
        <p:txBody>
          <a:bodyPr wrap="square" lIns="0" tIns="0" rIns="0" bIns="0" rtlCol="0" anchor="ctr"/>
          <a:lstStyle/>
          <a:p>
            <a:pPr marL="0" indent="0" algn="ctr">
              <a:buNone/>
            </a:pPr>
            <a:r>
              <a:rPr lang="en-US" sz="900" i="1" dirty="0">
                <a:solidFill>
                  <a:srgbClr val="E34628"/>
                </a:solidFill>
                <a:latin typeface="Calibri" pitchFamily="34" charset="0"/>
                <a:ea typeface="Calibri" pitchFamily="34" charset="-122"/>
                <a:cs typeface="Calibri" pitchFamily="34" charset="-120"/>
              </a:rPr>
              <a:t>Public pages, program data</a:t>
            </a:r>
            <a:endParaRPr lang="en-US" sz="900" dirty="0"/>
          </a:p>
        </p:txBody>
      </p:sp>
      <p:sp>
        <p:nvSpPr>
          <p:cNvPr id="36" name="Shape 34"/>
          <p:cNvSpPr/>
          <p:nvPr/>
        </p:nvSpPr>
        <p:spPr>
          <a:xfrm>
            <a:off x="8311896" y="2121408"/>
            <a:ext cx="0" cy="548640"/>
          </a:xfrm>
          <a:prstGeom prst="line">
            <a:avLst/>
          </a:prstGeom>
          <a:noFill/>
          <a:ln w="28575">
            <a:solidFill>
              <a:srgbClr val="BA7A65"/>
            </a:solidFill>
            <a:prstDash val="dash"/>
            <a:headEnd type="triangle"/>
          </a:ln>
        </p:spPr>
        <p:txBody>
          <a:bodyPr/>
          <a:lstStyle/>
          <a:p>
            <a:endParaRPr lang="en-US"/>
          </a:p>
        </p:txBody>
      </p:sp>
      <p:sp>
        <p:nvSpPr>
          <p:cNvPr id="37" name="Shape 35"/>
          <p:cNvSpPr/>
          <p:nvPr/>
        </p:nvSpPr>
        <p:spPr>
          <a:xfrm>
            <a:off x="8311896" y="3310128"/>
            <a:ext cx="0" cy="457200"/>
          </a:xfrm>
          <a:prstGeom prst="line">
            <a:avLst/>
          </a:prstGeom>
          <a:noFill/>
          <a:ln w="28575">
            <a:solidFill>
              <a:srgbClr val="BA7A65"/>
            </a:solidFill>
            <a:prstDash val="dash"/>
          </a:ln>
        </p:spPr>
        <p:txBody>
          <a:bodyPr/>
          <a:lstStyle/>
          <a:p>
            <a:endParaRPr lang="en-US"/>
          </a:p>
        </p:txBody>
      </p:sp>
      <p:sp>
        <p:nvSpPr>
          <p:cNvPr id="38" name="Text 36"/>
          <p:cNvSpPr/>
          <p:nvPr/>
        </p:nvSpPr>
        <p:spPr>
          <a:xfrm>
            <a:off x="6848856" y="2990088"/>
            <a:ext cx="1325880" cy="292608"/>
          </a:xfrm>
          <a:prstGeom prst="rect">
            <a:avLst/>
          </a:prstGeom>
          <a:noFill/>
          <a:ln/>
        </p:spPr>
        <p:txBody>
          <a:bodyPr wrap="square" lIns="0" tIns="0" rIns="0" bIns="0" rtlCol="0" anchor="ctr"/>
          <a:lstStyle/>
          <a:p>
            <a:pPr marL="0" indent="0" algn="ctr">
              <a:buNone/>
            </a:pPr>
            <a:r>
              <a:rPr lang="en-US" sz="900" i="1" dirty="0">
                <a:solidFill>
                  <a:srgbClr val="BA7A65"/>
                </a:solidFill>
                <a:latin typeface="Calibri" pitchFamily="34" charset="0"/>
                <a:ea typeface="Calibri" pitchFamily="34" charset="-122"/>
                <a:cs typeface="Calibri" pitchFamily="34" charset="-120"/>
              </a:rPr>
              <a:t>Program URLs (new tab)</a:t>
            </a:r>
            <a:endParaRPr lang="en-US" sz="900" dirty="0"/>
          </a:p>
        </p:txBody>
      </p:sp>
      <p:sp>
        <p:nvSpPr>
          <p:cNvPr id="39" name="Shape 37"/>
          <p:cNvSpPr/>
          <p:nvPr/>
        </p:nvSpPr>
        <p:spPr>
          <a:xfrm>
            <a:off x="1463040" y="4846320"/>
            <a:ext cx="274320" cy="0"/>
          </a:xfrm>
          <a:prstGeom prst="line">
            <a:avLst/>
          </a:prstGeom>
          <a:noFill/>
          <a:ln w="28575">
            <a:solidFill>
              <a:srgbClr val="0F3361"/>
            </a:solidFill>
            <a:prstDash val="solid"/>
            <a:tailEnd type="triangle"/>
          </a:ln>
        </p:spPr>
        <p:txBody>
          <a:bodyPr/>
          <a:lstStyle/>
          <a:p>
            <a:endParaRPr lang="en-US"/>
          </a:p>
        </p:txBody>
      </p:sp>
      <p:sp>
        <p:nvSpPr>
          <p:cNvPr id="40" name="Text 38"/>
          <p:cNvSpPr/>
          <p:nvPr/>
        </p:nvSpPr>
        <p:spPr>
          <a:xfrm>
            <a:off x="1783080" y="4754880"/>
            <a:ext cx="1554480" cy="201168"/>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Inputs to system</a:t>
            </a:r>
            <a:endParaRPr lang="en-US" sz="1000" dirty="0"/>
          </a:p>
        </p:txBody>
      </p:sp>
      <p:sp>
        <p:nvSpPr>
          <p:cNvPr id="41" name="Shape 39"/>
          <p:cNvSpPr/>
          <p:nvPr/>
        </p:nvSpPr>
        <p:spPr>
          <a:xfrm>
            <a:off x="3657600" y="4846320"/>
            <a:ext cx="274320" cy="0"/>
          </a:xfrm>
          <a:prstGeom prst="line">
            <a:avLst/>
          </a:prstGeom>
          <a:noFill/>
          <a:ln w="28575">
            <a:solidFill>
              <a:srgbClr val="E34628"/>
            </a:solidFill>
            <a:prstDash val="solid"/>
            <a:tailEnd type="triangle"/>
          </a:ln>
        </p:spPr>
        <p:txBody>
          <a:bodyPr/>
          <a:lstStyle/>
          <a:p>
            <a:endParaRPr lang="en-US"/>
          </a:p>
        </p:txBody>
      </p:sp>
      <p:sp>
        <p:nvSpPr>
          <p:cNvPr id="42" name="Text 40"/>
          <p:cNvSpPr/>
          <p:nvPr/>
        </p:nvSpPr>
        <p:spPr>
          <a:xfrm>
            <a:off x="3977640" y="4754880"/>
            <a:ext cx="1645920" cy="201168"/>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Outputs from system</a:t>
            </a:r>
            <a:endParaRPr lang="en-US" sz="1000" dirty="0"/>
          </a:p>
        </p:txBody>
      </p:sp>
      <p:sp>
        <p:nvSpPr>
          <p:cNvPr id="43" name="Shape 41"/>
          <p:cNvSpPr/>
          <p:nvPr/>
        </p:nvSpPr>
        <p:spPr>
          <a:xfrm>
            <a:off x="5943600" y="4846320"/>
            <a:ext cx="274320" cy="0"/>
          </a:xfrm>
          <a:prstGeom prst="line">
            <a:avLst/>
          </a:prstGeom>
          <a:noFill/>
          <a:ln w="28575">
            <a:solidFill>
              <a:srgbClr val="BA7A65"/>
            </a:solidFill>
            <a:prstDash val="dash"/>
          </a:ln>
        </p:spPr>
        <p:txBody>
          <a:bodyPr/>
          <a:lstStyle/>
          <a:p>
            <a:endParaRPr lang="en-US"/>
          </a:p>
        </p:txBody>
      </p:sp>
      <p:sp>
        <p:nvSpPr>
          <p:cNvPr id="44" name="Text 42"/>
          <p:cNvSpPr/>
          <p:nvPr/>
        </p:nvSpPr>
        <p:spPr>
          <a:xfrm>
            <a:off x="6263640" y="4754880"/>
            <a:ext cx="1371600" cy="201168"/>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External link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56032" cy="256032"/>
          </a:xfrm>
          <a:prstGeom prst="ellipse">
            <a:avLst/>
          </a:prstGeom>
          <a:solidFill>
            <a:srgbClr val="E34628"/>
          </a:solidFill>
          <a:ln w="12700">
            <a:solidFill>
              <a:srgbClr val="E34628"/>
            </a:solidFill>
            <a:prstDash val="solid"/>
          </a:ln>
        </p:spPr>
        <p:txBody>
          <a:bodyPr/>
          <a:lstStyle/>
          <a:p>
            <a:endParaRPr lang="en-US"/>
          </a:p>
        </p:txBody>
      </p:sp>
      <p:sp>
        <p:nvSpPr>
          <p:cNvPr id="3" name="Text 1"/>
          <p:cNvSpPr/>
          <p:nvPr/>
        </p:nvSpPr>
        <p:spPr>
          <a:xfrm>
            <a:off x="868680" y="256032"/>
            <a:ext cx="7772400" cy="548640"/>
          </a:xfrm>
          <a:prstGeom prst="rect">
            <a:avLst/>
          </a:prstGeom>
          <a:noFill/>
          <a:ln/>
        </p:spPr>
        <p:txBody>
          <a:bodyPr wrap="square" lIns="0" tIns="0" rIns="0" bIns="0" rtlCol="0" anchor="ctr"/>
          <a:lstStyle/>
          <a:p>
            <a:pPr marL="0" indent="0">
              <a:buNone/>
            </a:pPr>
            <a:r>
              <a:rPr lang="en-US" sz="3200" b="1" dirty="0">
                <a:solidFill>
                  <a:srgbClr val="0F3361"/>
                </a:solidFill>
                <a:latin typeface="Calibri" pitchFamily="34" charset="0"/>
                <a:ea typeface="Calibri" pitchFamily="34" charset="-122"/>
                <a:cs typeface="Calibri" pitchFamily="34" charset="-120"/>
              </a:rPr>
              <a:t>Registration and Login</a:t>
            </a:r>
            <a:endParaRPr lang="en-US" sz="3200" dirty="0"/>
          </a:p>
        </p:txBody>
      </p:sp>
      <p:sp>
        <p:nvSpPr>
          <p:cNvPr id="4" name="Text 2"/>
          <p:cNvSpPr/>
          <p:nvPr/>
        </p:nvSpPr>
        <p:spPr>
          <a:xfrm>
            <a:off x="868680" y="777240"/>
            <a:ext cx="7772400" cy="310896"/>
          </a:xfrm>
          <a:prstGeom prst="rect">
            <a:avLst/>
          </a:prstGeom>
          <a:noFill/>
          <a:ln/>
        </p:spPr>
        <p:txBody>
          <a:bodyPr wrap="square" lIns="0" tIns="0" rIns="0" bIns="0"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Process 1.0  -  Authenticate User</a:t>
            </a:r>
            <a:endParaRPr lang="en-US" sz="1400" dirty="0"/>
          </a:p>
        </p:txBody>
      </p:sp>
      <p:sp>
        <p:nvSpPr>
          <p:cNvPr id="5" name="Shape 3"/>
          <p:cNvSpPr/>
          <p:nvPr/>
        </p:nvSpPr>
        <p:spPr>
          <a:xfrm>
            <a:off x="457200" y="1170432"/>
            <a:ext cx="8229600" cy="18288"/>
          </a:xfrm>
          <a:prstGeom prst="rect">
            <a:avLst/>
          </a:prstGeom>
          <a:solidFill>
            <a:srgbClr val="E5E7EB"/>
          </a:solidFill>
          <a:ln w="12700">
            <a:solidFill>
              <a:srgbClr val="E5E7EB"/>
            </a:solidFill>
            <a:prstDash val="solid"/>
          </a:ln>
        </p:spPr>
        <p:txBody>
          <a:bodyPr/>
          <a:lstStyle/>
          <a:p>
            <a:endParaRPr lang="en-US"/>
          </a:p>
        </p:txBody>
      </p:sp>
      <p:sp>
        <p:nvSpPr>
          <p:cNvPr id="6" name="Shape 4"/>
          <p:cNvSpPr/>
          <p:nvPr/>
        </p:nvSpPr>
        <p:spPr>
          <a:xfrm>
            <a:off x="457200" y="1417320"/>
            <a:ext cx="3657600" cy="3246120"/>
          </a:xfrm>
          <a:prstGeom prst="rect">
            <a:avLst/>
          </a:prstGeom>
          <a:solidFill>
            <a:srgbClr val="F8FAFC"/>
          </a:solidFill>
          <a:ln w="12700">
            <a:solidFill>
              <a:srgbClr val="E5E7EB"/>
            </a:solidFill>
            <a:prstDash val="solid"/>
          </a:ln>
          <a:effectLst>
            <a:outerShdw blurRad="76200" dist="25400" dir="5400000" algn="bl" rotWithShape="0">
              <a:srgbClr val="000000">
                <a:alpha val="8000"/>
              </a:srgbClr>
            </a:outerShdw>
          </a:effectLst>
        </p:spPr>
        <p:txBody>
          <a:bodyPr/>
          <a:lstStyle/>
          <a:p>
            <a:endParaRPr lang="en-US"/>
          </a:p>
        </p:txBody>
      </p:sp>
      <p:sp>
        <p:nvSpPr>
          <p:cNvPr id="7" name="Text 5"/>
          <p:cNvSpPr/>
          <p:nvPr/>
        </p:nvSpPr>
        <p:spPr>
          <a:xfrm>
            <a:off x="594360" y="1554480"/>
            <a:ext cx="3383280" cy="320040"/>
          </a:xfrm>
          <a:prstGeom prst="rect">
            <a:avLst/>
          </a:prstGeom>
          <a:noFill/>
          <a:ln/>
        </p:spPr>
        <p:txBody>
          <a:bodyPr wrap="square" lIns="0" tIns="0" rIns="0" bIns="0" rtlCol="0" anchor="ctr"/>
          <a:lstStyle/>
          <a:p>
            <a:pPr marL="0" indent="0">
              <a:buNone/>
            </a:pPr>
            <a:r>
              <a:rPr lang="en-US" sz="1400" b="1" dirty="0">
                <a:solidFill>
                  <a:srgbClr val="0F3361"/>
                </a:solidFill>
                <a:latin typeface="Calibri" pitchFamily="34" charset="0"/>
                <a:ea typeface="Calibri" pitchFamily="34" charset="-122"/>
                <a:cs typeface="Calibri" pitchFamily="34" charset="-120"/>
              </a:rPr>
              <a:t>Registration Form</a:t>
            </a:r>
            <a:endParaRPr lang="en-US" sz="1400" dirty="0"/>
          </a:p>
        </p:txBody>
      </p:sp>
      <p:sp>
        <p:nvSpPr>
          <p:cNvPr id="8" name="Shape 6"/>
          <p:cNvSpPr/>
          <p:nvPr/>
        </p:nvSpPr>
        <p:spPr>
          <a:xfrm>
            <a:off x="594360" y="1965960"/>
            <a:ext cx="3383280" cy="292608"/>
          </a:xfrm>
          <a:prstGeom prst="rect">
            <a:avLst/>
          </a:prstGeom>
          <a:solidFill>
            <a:srgbClr val="FFFFFF"/>
          </a:solidFill>
          <a:ln w="12700">
            <a:solidFill>
              <a:srgbClr val="E5E7EB"/>
            </a:solidFill>
            <a:prstDash val="solid"/>
          </a:ln>
        </p:spPr>
        <p:txBody>
          <a:bodyPr/>
          <a:lstStyle/>
          <a:p>
            <a:endParaRPr lang="en-US"/>
          </a:p>
        </p:txBody>
      </p:sp>
      <p:sp>
        <p:nvSpPr>
          <p:cNvPr id="9" name="Text 7"/>
          <p:cNvSpPr/>
          <p:nvPr/>
        </p:nvSpPr>
        <p:spPr>
          <a:xfrm>
            <a:off x="731520" y="1965960"/>
            <a:ext cx="3200400" cy="292608"/>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Full name</a:t>
            </a:r>
            <a:endParaRPr lang="en-US" sz="1100" dirty="0"/>
          </a:p>
        </p:txBody>
      </p:sp>
      <p:sp>
        <p:nvSpPr>
          <p:cNvPr id="10" name="Shape 8"/>
          <p:cNvSpPr/>
          <p:nvPr/>
        </p:nvSpPr>
        <p:spPr>
          <a:xfrm>
            <a:off x="594360" y="2331720"/>
            <a:ext cx="3383280" cy="292608"/>
          </a:xfrm>
          <a:prstGeom prst="rect">
            <a:avLst/>
          </a:prstGeom>
          <a:solidFill>
            <a:srgbClr val="FFFFFF"/>
          </a:solidFill>
          <a:ln w="12700">
            <a:solidFill>
              <a:srgbClr val="E5E7EB"/>
            </a:solidFill>
            <a:prstDash val="solid"/>
          </a:ln>
        </p:spPr>
        <p:txBody>
          <a:bodyPr/>
          <a:lstStyle/>
          <a:p>
            <a:endParaRPr lang="en-US"/>
          </a:p>
        </p:txBody>
      </p:sp>
      <p:sp>
        <p:nvSpPr>
          <p:cNvPr id="11" name="Text 9"/>
          <p:cNvSpPr/>
          <p:nvPr/>
        </p:nvSpPr>
        <p:spPr>
          <a:xfrm>
            <a:off x="731520" y="2331720"/>
            <a:ext cx="3200400" cy="292608"/>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Email address</a:t>
            </a:r>
            <a:endParaRPr lang="en-US" sz="1100" dirty="0"/>
          </a:p>
        </p:txBody>
      </p:sp>
      <p:sp>
        <p:nvSpPr>
          <p:cNvPr id="12" name="Shape 10"/>
          <p:cNvSpPr/>
          <p:nvPr/>
        </p:nvSpPr>
        <p:spPr>
          <a:xfrm>
            <a:off x="594360" y="2697480"/>
            <a:ext cx="3383280" cy="292608"/>
          </a:xfrm>
          <a:prstGeom prst="rect">
            <a:avLst/>
          </a:prstGeom>
          <a:solidFill>
            <a:srgbClr val="FFFFFF"/>
          </a:solidFill>
          <a:ln w="12700">
            <a:solidFill>
              <a:srgbClr val="E5E7EB"/>
            </a:solidFill>
            <a:prstDash val="solid"/>
          </a:ln>
        </p:spPr>
        <p:txBody>
          <a:bodyPr/>
          <a:lstStyle/>
          <a:p>
            <a:endParaRPr lang="en-US"/>
          </a:p>
        </p:txBody>
      </p:sp>
      <p:sp>
        <p:nvSpPr>
          <p:cNvPr id="13" name="Text 11"/>
          <p:cNvSpPr/>
          <p:nvPr/>
        </p:nvSpPr>
        <p:spPr>
          <a:xfrm>
            <a:off x="731520" y="2697480"/>
            <a:ext cx="3200400" cy="292608"/>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Password</a:t>
            </a:r>
            <a:endParaRPr lang="en-US" sz="1100" dirty="0"/>
          </a:p>
        </p:txBody>
      </p:sp>
      <p:sp>
        <p:nvSpPr>
          <p:cNvPr id="14" name="Shape 12"/>
          <p:cNvSpPr/>
          <p:nvPr/>
        </p:nvSpPr>
        <p:spPr>
          <a:xfrm>
            <a:off x="594360" y="3063240"/>
            <a:ext cx="3383280" cy="292608"/>
          </a:xfrm>
          <a:prstGeom prst="rect">
            <a:avLst/>
          </a:prstGeom>
          <a:solidFill>
            <a:srgbClr val="FFFFFF"/>
          </a:solidFill>
          <a:ln w="12700">
            <a:solidFill>
              <a:srgbClr val="E5E7EB"/>
            </a:solidFill>
            <a:prstDash val="solid"/>
          </a:ln>
        </p:spPr>
        <p:txBody>
          <a:bodyPr/>
          <a:lstStyle/>
          <a:p>
            <a:endParaRPr lang="en-US"/>
          </a:p>
        </p:txBody>
      </p:sp>
      <p:sp>
        <p:nvSpPr>
          <p:cNvPr id="15" name="Text 13"/>
          <p:cNvSpPr/>
          <p:nvPr/>
        </p:nvSpPr>
        <p:spPr>
          <a:xfrm>
            <a:off x="731520" y="3063240"/>
            <a:ext cx="3200400" cy="292608"/>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Age</a:t>
            </a:r>
            <a:endParaRPr lang="en-US" sz="1100" dirty="0"/>
          </a:p>
        </p:txBody>
      </p:sp>
      <p:sp>
        <p:nvSpPr>
          <p:cNvPr id="16" name="Shape 14"/>
          <p:cNvSpPr/>
          <p:nvPr/>
        </p:nvSpPr>
        <p:spPr>
          <a:xfrm>
            <a:off x="594360" y="3429000"/>
            <a:ext cx="3383280" cy="292608"/>
          </a:xfrm>
          <a:prstGeom prst="rect">
            <a:avLst/>
          </a:prstGeom>
          <a:solidFill>
            <a:srgbClr val="FFFFFF"/>
          </a:solidFill>
          <a:ln w="12700">
            <a:solidFill>
              <a:srgbClr val="E5E7EB"/>
            </a:solidFill>
            <a:prstDash val="solid"/>
          </a:ln>
        </p:spPr>
        <p:txBody>
          <a:bodyPr/>
          <a:lstStyle/>
          <a:p>
            <a:endParaRPr lang="en-US"/>
          </a:p>
        </p:txBody>
      </p:sp>
      <p:sp>
        <p:nvSpPr>
          <p:cNvPr id="17" name="Text 15"/>
          <p:cNvSpPr/>
          <p:nvPr/>
        </p:nvSpPr>
        <p:spPr>
          <a:xfrm>
            <a:off x="731520" y="3429000"/>
            <a:ext cx="3200400" cy="292608"/>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Highest qualification</a:t>
            </a:r>
            <a:endParaRPr lang="en-US" sz="1100" dirty="0"/>
          </a:p>
        </p:txBody>
      </p:sp>
      <p:sp>
        <p:nvSpPr>
          <p:cNvPr id="18" name="Shape 16"/>
          <p:cNvSpPr/>
          <p:nvPr/>
        </p:nvSpPr>
        <p:spPr>
          <a:xfrm>
            <a:off x="594360" y="3794760"/>
            <a:ext cx="3383280" cy="292608"/>
          </a:xfrm>
          <a:prstGeom prst="rect">
            <a:avLst/>
          </a:prstGeom>
          <a:solidFill>
            <a:srgbClr val="FFFFFF"/>
          </a:solidFill>
          <a:ln w="12700">
            <a:solidFill>
              <a:srgbClr val="E5E7EB"/>
            </a:solidFill>
            <a:prstDash val="solid"/>
          </a:ln>
        </p:spPr>
        <p:txBody>
          <a:bodyPr/>
          <a:lstStyle/>
          <a:p>
            <a:endParaRPr lang="en-US"/>
          </a:p>
        </p:txBody>
      </p:sp>
      <p:sp>
        <p:nvSpPr>
          <p:cNvPr id="19" name="Text 17"/>
          <p:cNvSpPr/>
          <p:nvPr/>
        </p:nvSpPr>
        <p:spPr>
          <a:xfrm>
            <a:off x="731520" y="3794760"/>
            <a:ext cx="3200400" cy="292608"/>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Upload SPM transcript (PDF)</a:t>
            </a:r>
            <a:endParaRPr lang="en-US" sz="1100" dirty="0"/>
          </a:p>
        </p:txBody>
      </p:sp>
      <p:sp>
        <p:nvSpPr>
          <p:cNvPr id="20" name="Shape 18"/>
          <p:cNvSpPr/>
          <p:nvPr/>
        </p:nvSpPr>
        <p:spPr>
          <a:xfrm>
            <a:off x="594360" y="4206240"/>
            <a:ext cx="3383280" cy="411480"/>
          </a:xfrm>
          <a:prstGeom prst="rect">
            <a:avLst/>
          </a:prstGeom>
          <a:solidFill>
            <a:srgbClr val="E34628"/>
          </a:solidFill>
          <a:ln w="12700">
            <a:solidFill>
              <a:srgbClr val="E34628"/>
            </a:solidFill>
            <a:prstDash val="solid"/>
          </a:ln>
        </p:spPr>
        <p:txBody>
          <a:bodyPr/>
          <a:lstStyle/>
          <a:p>
            <a:endParaRPr lang="en-US"/>
          </a:p>
        </p:txBody>
      </p:sp>
      <p:sp>
        <p:nvSpPr>
          <p:cNvPr id="21" name="Text 19"/>
          <p:cNvSpPr/>
          <p:nvPr/>
        </p:nvSpPr>
        <p:spPr>
          <a:xfrm>
            <a:off x="594360" y="4206240"/>
            <a:ext cx="33832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Create Account</a:t>
            </a:r>
            <a:endParaRPr lang="en-US" sz="1300" dirty="0"/>
          </a:p>
        </p:txBody>
      </p:sp>
      <p:sp>
        <p:nvSpPr>
          <p:cNvPr id="22" name="Text 20"/>
          <p:cNvSpPr/>
          <p:nvPr/>
        </p:nvSpPr>
        <p:spPr>
          <a:xfrm>
            <a:off x="4389120" y="1417320"/>
            <a:ext cx="4297680" cy="365760"/>
          </a:xfrm>
          <a:prstGeom prst="rect">
            <a:avLst/>
          </a:prstGeom>
          <a:noFill/>
          <a:ln/>
        </p:spPr>
        <p:txBody>
          <a:bodyPr wrap="square" lIns="0" tIns="0" rIns="0" bIns="0" rtlCol="0" anchor="ctr"/>
          <a:lstStyle/>
          <a:p>
            <a:pPr marL="0" indent="0">
              <a:buNone/>
            </a:pPr>
            <a:r>
              <a:rPr lang="en-US" sz="1800" b="1" dirty="0">
                <a:solidFill>
                  <a:srgbClr val="0F3361"/>
                </a:solidFill>
                <a:latin typeface="Calibri" pitchFamily="34" charset="0"/>
                <a:ea typeface="Calibri" pitchFamily="34" charset="-122"/>
                <a:cs typeface="Calibri" pitchFamily="34" charset="-120"/>
              </a:rPr>
              <a:t>Key features</a:t>
            </a:r>
            <a:endParaRPr lang="en-US" sz="1800" dirty="0"/>
          </a:p>
        </p:txBody>
      </p:sp>
      <p:sp>
        <p:nvSpPr>
          <p:cNvPr id="23" name="Shape 21"/>
          <p:cNvSpPr/>
          <p:nvPr/>
        </p:nvSpPr>
        <p:spPr>
          <a:xfrm>
            <a:off x="4389120" y="1920240"/>
            <a:ext cx="256032" cy="256032"/>
          </a:xfrm>
          <a:prstGeom prst="ellipse">
            <a:avLst/>
          </a:prstGeom>
          <a:solidFill>
            <a:srgbClr val="0F3361"/>
          </a:solidFill>
          <a:ln w="12700">
            <a:solidFill>
              <a:srgbClr val="0F3361"/>
            </a:solidFill>
            <a:prstDash val="solid"/>
          </a:ln>
        </p:spPr>
        <p:txBody>
          <a:bodyPr/>
          <a:lstStyle/>
          <a:p>
            <a:endParaRPr lang="en-US"/>
          </a:p>
        </p:txBody>
      </p:sp>
      <p:sp>
        <p:nvSpPr>
          <p:cNvPr id="24" name="Text 22"/>
          <p:cNvSpPr/>
          <p:nvPr/>
        </p:nvSpPr>
        <p:spPr>
          <a:xfrm>
            <a:off x="4389120" y="1920240"/>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5" name="Text 23"/>
          <p:cNvSpPr/>
          <p:nvPr/>
        </p:nvSpPr>
        <p:spPr>
          <a:xfrm>
            <a:off x="4736592" y="1874520"/>
            <a:ext cx="3931920" cy="292608"/>
          </a:xfrm>
          <a:prstGeom prst="rect">
            <a:avLst/>
          </a:prstGeom>
          <a:noFill/>
          <a:ln/>
        </p:spPr>
        <p:txBody>
          <a:bodyPr wrap="square" lIns="0" tIns="0" rIns="0" bIns="0" rtlCol="0" anchor="ctr"/>
          <a:lstStyle/>
          <a:p>
            <a:pPr marL="0" indent="0">
              <a:buNone/>
            </a:pPr>
            <a:r>
              <a:rPr lang="en-US" sz="1400" b="1" dirty="0">
                <a:solidFill>
                  <a:srgbClr val="1A1F2C"/>
                </a:solidFill>
                <a:latin typeface="Calibri" pitchFamily="34" charset="0"/>
                <a:ea typeface="Calibri" pitchFamily="34" charset="-122"/>
                <a:cs typeface="Calibri" pitchFamily="34" charset="-120"/>
              </a:rPr>
              <a:t>Bcrypt password hashing</a:t>
            </a:r>
            <a:endParaRPr lang="en-US" sz="1400" dirty="0"/>
          </a:p>
        </p:txBody>
      </p:sp>
      <p:sp>
        <p:nvSpPr>
          <p:cNvPr id="26" name="Text 24"/>
          <p:cNvSpPr/>
          <p:nvPr/>
        </p:nvSpPr>
        <p:spPr>
          <a:xfrm>
            <a:off x="4736592" y="2185416"/>
            <a:ext cx="3931920" cy="3657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Hash::make() on register; Hash::check() on login. Never plaintext.</a:t>
            </a:r>
            <a:endParaRPr lang="en-US" sz="1200" dirty="0"/>
          </a:p>
        </p:txBody>
      </p:sp>
      <p:sp>
        <p:nvSpPr>
          <p:cNvPr id="27" name="Shape 25"/>
          <p:cNvSpPr/>
          <p:nvPr/>
        </p:nvSpPr>
        <p:spPr>
          <a:xfrm>
            <a:off x="4389120" y="2633472"/>
            <a:ext cx="256032" cy="256032"/>
          </a:xfrm>
          <a:prstGeom prst="ellipse">
            <a:avLst/>
          </a:prstGeom>
          <a:solidFill>
            <a:srgbClr val="0F3361"/>
          </a:solidFill>
          <a:ln w="12700">
            <a:solidFill>
              <a:srgbClr val="0F3361"/>
            </a:solidFill>
            <a:prstDash val="solid"/>
          </a:ln>
        </p:spPr>
        <p:txBody>
          <a:bodyPr/>
          <a:lstStyle/>
          <a:p>
            <a:endParaRPr lang="en-US"/>
          </a:p>
        </p:txBody>
      </p:sp>
      <p:sp>
        <p:nvSpPr>
          <p:cNvPr id="28" name="Text 26"/>
          <p:cNvSpPr/>
          <p:nvPr/>
        </p:nvSpPr>
        <p:spPr>
          <a:xfrm>
            <a:off x="4389120" y="2633472"/>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9" name="Text 27"/>
          <p:cNvSpPr/>
          <p:nvPr/>
        </p:nvSpPr>
        <p:spPr>
          <a:xfrm>
            <a:off x="4736592" y="2587752"/>
            <a:ext cx="3931920" cy="292608"/>
          </a:xfrm>
          <a:prstGeom prst="rect">
            <a:avLst/>
          </a:prstGeom>
          <a:noFill/>
          <a:ln/>
        </p:spPr>
        <p:txBody>
          <a:bodyPr wrap="square" lIns="0" tIns="0" rIns="0" bIns="0" rtlCol="0" anchor="ctr"/>
          <a:lstStyle/>
          <a:p>
            <a:pPr marL="0" indent="0">
              <a:buNone/>
            </a:pPr>
            <a:r>
              <a:rPr lang="en-US" sz="1400" b="1" dirty="0">
                <a:solidFill>
                  <a:srgbClr val="1A1F2C"/>
                </a:solidFill>
                <a:latin typeface="Calibri" pitchFamily="34" charset="0"/>
                <a:ea typeface="Calibri" pitchFamily="34" charset="-122"/>
                <a:cs typeface="Calibri" pitchFamily="34" charset="-120"/>
              </a:rPr>
              <a:t>Session-id authentication</a:t>
            </a:r>
            <a:endParaRPr lang="en-US" sz="1400" dirty="0"/>
          </a:p>
        </p:txBody>
      </p:sp>
      <p:sp>
        <p:nvSpPr>
          <p:cNvPr id="30" name="Text 28"/>
          <p:cNvSpPr/>
          <p:nvPr/>
        </p:nvSpPr>
        <p:spPr>
          <a:xfrm>
            <a:off x="4736592" y="2898648"/>
            <a:ext cx="3931920" cy="3657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UUID stored client-side, sent via X-Session-Id header - stateless API.</a:t>
            </a:r>
            <a:endParaRPr lang="en-US" sz="1200" dirty="0"/>
          </a:p>
        </p:txBody>
      </p:sp>
      <p:sp>
        <p:nvSpPr>
          <p:cNvPr id="31" name="Shape 29"/>
          <p:cNvSpPr/>
          <p:nvPr/>
        </p:nvSpPr>
        <p:spPr>
          <a:xfrm>
            <a:off x="4389120" y="3346704"/>
            <a:ext cx="256032" cy="256032"/>
          </a:xfrm>
          <a:prstGeom prst="ellipse">
            <a:avLst/>
          </a:prstGeom>
          <a:solidFill>
            <a:srgbClr val="0F3361"/>
          </a:solidFill>
          <a:ln w="12700">
            <a:solidFill>
              <a:srgbClr val="0F3361"/>
            </a:solidFill>
            <a:prstDash val="solid"/>
          </a:ln>
        </p:spPr>
        <p:txBody>
          <a:bodyPr/>
          <a:lstStyle/>
          <a:p>
            <a:endParaRPr lang="en-US"/>
          </a:p>
        </p:txBody>
      </p:sp>
      <p:sp>
        <p:nvSpPr>
          <p:cNvPr id="32" name="Text 30"/>
          <p:cNvSpPr/>
          <p:nvPr/>
        </p:nvSpPr>
        <p:spPr>
          <a:xfrm>
            <a:off x="4389120" y="3346704"/>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3" name="Text 31"/>
          <p:cNvSpPr/>
          <p:nvPr/>
        </p:nvSpPr>
        <p:spPr>
          <a:xfrm>
            <a:off x="4736592" y="3300984"/>
            <a:ext cx="3931920" cy="292608"/>
          </a:xfrm>
          <a:prstGeom prst="rect">
            <a:avLst/>
          </a:prstGeom>
          <a:noFill/>
          <a:ln/>
        </p:spPr>
        <p:txBody>
          <a:bodyPr wrap="square" lIns="0" tIns="0" rIns="0" bIns="0" rtlCol="0" anchor="ctr"/>
          <a:lstStyle/>
          <a:p>
            <a:pPr marL="0" indent="0">
              <a:buNone/>
            </a:pPr>
            <a:r>
              <a:rPr lang="en-US" sz="1400" b="1" dirty="0">
                <a:solidFill>
                  <a:srgbClr val="1A1F2C"/>
                </a:solidFill>
                <a:latin typeface="Calibri" pitchFamily="34" charset="0"/>
                <a:ea typeface="Calibri" pitchFamily="34" charset="-122"/>
                <a:cs typeface="Calibri" pitchFamily="34" charset="-120"/>
              </a:rPr>
              <a:t>PDF transcript upload</a:t>
            </a:r>
            <a:endParaRPr lang="en-US" sz="1400" dirty="0"/>
          </a:p>
        </p:txBody>
      </p:sp>
      <p:sp>
        <p:nvSpPr>
          <p:cNvPr id="34" name="Text 32"/>
          <p:cNvSpPr/>
          <p:nvPr/>
        </p:nvSpPr>
        <p:spPr>
          <a:xfrm>
            <a:off x="4736592" y="3611880"/>
            <a:ext cx="3931920" cy="3657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Stored under storage/app/public/transcripts/ with hashed filenames.</a:t>
            </a:r>
            <a:endParaRPr lang="en-US" sz="1200" dirty="0"/>
          </a:p>
        </p:txBody>
      </p:sp>
      <p:sp>
        <p:nvSpPr>
          <p:cNvPr id="35" name="Shape 33"/>
          <p:cNvSpPr/>
          <p:nvPr/>
        </p:nvSpPr>
        <p:spPr>
          <a:xfrm>
            <a:off x="4389120" y="4059936"/>
            <a:ext cx="256032" cy="256032"/>
          </a:xfrm>
          <a:prstGeom prst="ellipse">
            <a:avLst/>
          </a:prstGeom>
          <a:solidFill>
            <a:srgbClr val="0F3361"/>
          </a:solidFill>
          <a:ln w="12700">
            <a:solidFill>
              <a:srgbClr val="0F3361"/>
            </a:solidFill>
            <a:prstDash val="solid"/>
          </a:ln>
        </p:spPr>
        <p:txBody>
          <a:bodyPr/>
          <a:lstStyle/>
          <a:p>
            <a:endParaRPr lang="en-US"/>
          </a:p>
        </p:txBody>
      </p:sp>
      <p:sp>
        <p:nvSpPr>
          <p:cNvPr id="36" name="Text 34"/>
          <p:cNvSpPr/>
          <p:nvPr/>
        </p:nvSpPr>
        <p:spPr>
          <a:xfrm>
            <a:off x="4389120" y="4059936"/>
            <a:ext cx="256032"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7" name="Text 35"/>
          <p:cNvSpPr/>
          <p:nvPr/>
        </p:nvSpPr>
        <p:spPr>
          <a:xfrm>
            <a:off x="4736592" y="4014216"/>
            <a:ext cx="3931920" cy="292608"/>
          </a:xfrm>
          <a:prstGeom prst="rect">
            <a:avLst/>
          </a:prstGeom>
          <a:noFill/>
          <a:ln/>
        </p:spPr>
        <p:txBody>
          <a:bodyPr wrap="square" lIns="0" tIns="0" rIns="0" bIns="0" rtlCol="0" anchor="ctr"/>
          <a:lstStyle/>
          <a:p>
            <a:pPr marL="0" indent="0">
              <a:buNone/>
            </a:pPr>
            <a:r>
              <a:rPr lang="en-US" sz="1400" b="1" dirty="0">
                <a:solidFill>
                  <a:srgbClr val="1A1F2C"/>
                </a:solidFill>
                <a:latin typeface="Calibri" pitchFamily="34" charset="0"/>
                <a:ea typeface="Calibri" pitchFamily="34" charset="-122"/>
                <a:cs typeface="Calibri" pitchFamily="34" charset="-120"/>
              </a:rPr>
              <a:t>Smart redirect</a:t>
            </a:r>
            <a:endParaRPr lang="en-US" sz="1400" dirty="0"/>
          </a:p>
        </p:txBody>
      </p:sp>
      <p:sp>
        <p:nvSpPr>
          <p:cNvPr id="38" name="Text 36"/>
          <p:cNvSpPr/>
          <p:nvPr/>
        </p:nvSpPr>
        <p:spPr>
          <a:xfrm>
            <a:off x="4736592" y="4325112"/>
            <a:ext cx="3931920" cy="3657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If user clicked 'Start Assessment', login auto-redirects to /quiz.</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56032" cy="256032"/>
          </a:xfrm>
          <a:prstGeom prst="ellipse">
            <a:avLst/>
          </a:prstGeom>
          <a:solidFill>
            <a:srgbClr val="E34628"/>
          </a:solidFill>
          <a:ln w="12700">
            <a:solidFill>
              <a:srgbClr val="E34628"/>
            </a:solidFill>
            <a:prstDash val="solid"/>
          </a:ln>
        </p:spPr>
        <p:txBody>
          <a:bodyPr/>
          <a:lstStyle/>
          <a:p>
            <a:endParaRPr lang="en-US"/>
          </a:p>
        </p:txBody>
      </p:sp>
      <p:sp>
        <p:nvSpPr>
          <p:cNvPr id="3" name="Text 1"/>
          <p:cNvSpPr/>
          <p:nvPr/>
        </p:nvSpPr>
        <p:spPr>
          <a:xfrm>
            <a:off x="868680" y="256032"/>
            <a:ext cx="7772400" cy="548640"/>
          </a:xfrm>
          <a:prstGeom prst="rect">
            <a:avLst/>
          </a:prstGeom>
          <a:noFill/>
          <a:ln/>
        </p:spPr>
        <p:txBody>
          <a:bodyPr wrap="square" lIns="0" tIns="0" rIns="0" bIns="0" rtlCol="0" anchor="ctr"/>
          <a:lstStyle/>
          <a:p>
            <a:pPr marL="0" indent="0">
              <a:buNone/>
            </a:pPr>
            <a:r>
              <a:rPr lang="en-US" sz="3200" b="1" dirty="0">
                <a:solidFill>
                  <a:srgbClr val="0F3361"/>
                </a:solidFill>
                <a:latin typeface="Calibri" pitchFamily="34" charset="0"/>
                <a:ea typeface="Calibri" pitchFamily="34" charset="-122"/>
                <a:cs typeface="Calibri" pitchFamily="34" charset="-120"/>
              </a:rPr>
              <a:t>8-Question Quiz Assessment</a:t>
            </a:r>
            <a:endParaRPr lang="en-US" sz="3200" dirty="0"/>
          </a:p>
        </p:txBody>
      </p:sp>
      <p:sp>
        <p:nvSpPr>
          <p:cNvPr id="4" name="Text 2"/>
          <p:cNvSpPr/>
          <p:nvPr/>
        </p:nvSpPr>
        <p:spPr>
          <a:xfrm>
            <a:off x="868680" y="777240"/>
            <a:ext cx="7772400" cy="310896"/>
          </a:xfrm>
          <a:prstGeom prst="rect">
            <a:avLst/>
          </a:prstGeom>
          <a:noFill/>
          <a:ln/>
        </p:spPr>
        <p:txBody>
          <a:bodyPr wrap="square" lIns="0" tIns="0" rIns="0" bIns="0"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Process 2.0  -  Capture two parallel signals</a:t>
            </a:r>
            <a:endParaRPr lang="en-US" sz="1400" dirty="0"/>
          </a:p>
        </p:txBody>
      </p:sp>
      <p:sp>
        <p:nvSpPr>
          <p:cNvPr id="5" name="Shape 3"/>
          <p:cNvSpPr/>
          <p:nvPr/>
        </p:nvSpPr>
        <p:spPr>
          <a:xfrm>
            <a:off x="457200" y="1170432"/>
            <a:ext cx="8229600" cy="18288"/>
          </a:xfrm>
          <a:prstGeom prst="rect">
            <a:avLst/>
          </a:prstGeom>
          <a:solidFill>
            <a:srgbClr val="E5E7EB"/>
          </a:solidFill>
          <a:ln w="12700">
            <a:solidFill>
              <a:srgbClr val="E5E7EB"/>
            </a:solidFill>
            <a:prstDash val="solid"/>
          </a:ln>
        </p:spPr>
        <p:txBody>
          <a:bodyPr/>
          <a:lstStyle/>
          <a:p>
            <a:endParaRPr lang="en-US"/>
          </a:p>
        </p:txBody>
      </p:sp>
      <p:sp>
        <p:nvSpPr>
          <p:cNvPr id="6" name="Shape 4"/>
          <p:cNvSpPr/>
          <p:nvPr/>
        </p:nvSpPr>
        <p:spPr>
          <a:xfrm>
            <a:off x="457200" y="1417320"/>
            <a:ext cx="3657600" cy="3246120"/>
          </a:xfrm>
          <a:prstGeom prst="rect">
            <a:avLst/>
          </a:prstGeom>
          <a:solidFill>
            <a:srgbClr val="F8FAFC"/>
          </a:solidFill>
          <a:ln w="12700">
            <a:solidFill>
              <a:srgbClr val="E5E7EB"/>
            </a:solidFill>
            <a:prstDash val="solid"/>
          </a:ln>
          <a:effectLst>
            <a:outerShdw blurRad="76200" dist="25400" dir="5400000" algn="bl" rotWithShape="0">
              <a:srgbClr val="000000">
                <a:alpha val="8000"/>
              </a:srgbClr>
            </a:outerShdw>
          </a:effectLst>
        </p:spPr>
        <p:txBody>
          <a:bodyPr/>
          <a:lstStyle/>
          <a:p>
            <a:endParaRPr lang="en-US"/>
          </a:p>
        </p:txBody>
      </p:sp>
      <p:sp>
        <p:nvSpPr>
          <p:cNvPr id="7" name="Shape 5"/>
          <p:cNvSpPr/>
          <p:nvPr/>
        </p:nvSpPr>
        <p:spPr>
          <a:xfrm>
            <a:off x="594360" y="1554480"/>
            <a:ext cx="3383280" cy="91440"/>
          </a:xfrm>
          <a:prstGeom prst="rect">
            <a:avLst/>
          </a:prstGeom>
          <a:solidFill>
            <a:srgbClr val="E5E7EB"/>
          </a:solidFill>
          <a:ln w="12700">
            <a:solidFill>
              <a:srgbClr val="E5E7EB"/>
            </a:solidFill>
            <a:prstDash val="solid"/>
          </a:ln>
        </p:spPr>
        <p:txBody>
          <a:bodyPr/>
          <a:lstStyle/>
          <a:p>
            <a:endParaRPr lang="en-US"/>
          </a:p>
        </p:txBody>
      </p:sp>
      <p:sp>
        <p:nvSpPr>
          <p:cNvPr id="8" name="Shape 6"/>
          <p:cNvSpPr/>
          <p:nvPr/>
        </p:nvSpPr>
        <p:spPr>
          <a:xfrm>
            <a:off x="594360" y="1554480"/>
            <a:ext cx="1691640" cy="91440"/>
          </a:xfrm>
          <a:prstGeom prst="rect">
            <a:avLst/>
          </a:prstGeom>
          <a:solidFill>
            <a:srgbClr val="E34628"/>
          </a:solidFill>
          <a:ln w="12700">
            <a:solidFill>
              <a:srgbClr val="E34628"/>
            </a:solidFill>
            <a:prstDash val="solid"/>
          </a:ln>
        </p:spPr>
        <p:txBody>
          <a:bodyPr/>
          <a:lstStyle/>
          <a:p>
            <a:endParaRPr lang="en-US"/>
          </a:p>
        </p:txBody>
      </p:sp>
      <p:sp>
        <p:nvSpPr>
          <p:cNvPr id="9" name="Text 7"/>
          <p:cNvSpPr/>
          <p:nvPr/>
        </p:nvSpPr>
        <p:spPr>
          <a:xfrm>
            <a:off x="594360" y="1691640"/>
            <a:ext cx="338328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Question 4 of 8</a:t>
            </a:r>
            <a:endParaRPr lang="en-US" sz="1000" dirty="0"/>
          </a:p>
        </p:txBody>
      </p:sp>
      <p:sp>
        <p:nvSpPr>
          <p:cNvPr id="10" name="Text 8"/>
          <p:cNvSpPr/>
          <p:nvPr/>
        </p:nvSpPr>
        <p:spPr>
          <a:xfrm>
            <a:off x="594360" y="1965960"/>
            <a:ext cx="3383280" cy="640080"/>
          </a:xfrm>
          <a:prstGeom prst="rect">
            <a:avLst/>
          </a:prstGeom>
          <a:noFill/>
          <a:ln/>
        </p:spPr>
        <p:txBody>
          <a:bodyPr wrap="square" lIns="0" tIns="0" rIns="0" bIns="0" rtlCol="0" anchor="ctr"/>
          <a:lstStyle/>
          <a:p>
            <a:pPr marL="0" indent="0">
              <a:buNone/>
            </a:pPr>
            <a:r>
              <a:rPr lang="en-US" sz="1400" b="1" dirty="0">
                <a:solidFill>
                  <a:srgbClr val="1A1F2C"/>
                </a:solidFill>
                <a:latin typeface="Calibri" pitchFamily="34" charset="0"/>
                <a:ea typeface="Calibri" pitchFamily="34" charset="-122"/>
                <a:cs typeface="Calibri" pitchFamily="34" charset="-120"/>
              </a:rPr>
              <a:t>What excites you most about technology?</a:t>
            </a:r>
            <a:endParaRPr lang="en-US" sz="1400" dirty="0"/>
          </a:p>
        </p:txBody>
      </p:sp>
      <p:sp>
        <p:nvSpPr>
          <p:cNvPr id="11" name="Shape 9"/>
          <p:cNvSpPr/>
          <p:nvPr/>
        </p:nvSpPr>
        <p:spPr>
          <a:xfrm>
            <a:off x="594360" y="2697480"/>
            <a:ext cx="3383280" cy="384048"/>
          </a:xfrm>
          <a:prstGeom prst="rect">
            <a:avLst/>
          </a:prstGeom>
          <a:solidFill>
            <a:srgbClr val="FCE7DF"/>
          </a:solidFill>
          <a:ln w="25400">
            <a:solidFill>
              <a:srgbClr val="E34628"/>
            </a:solidFill>
            <a:prstDash val="solid"/>
          </a:ln>
        </p:spPr>
        <p:txBody>
          <a:bodyPr/>
          <a:lstStyle/>
          <a:p>
            <a:endParaRPr lang="en-US"/>
          </a:p>
        </p:txBody>
      </p:sp>
      <p:sp>
        <p:nvSpPr>
          <p:cNvPr id="12" name="Text 10"/>
          <p:cNvSpPr/>
          <p:nvPr/>
        </p:nvSpPr>
        <p:spPr>
          <a:xfrm>
            <a:off x="731520" y="2697480"/>
            <a:ext cx="3108960" cy="384048"/>
          </a:xfrm>
          <a:prstGeom prst="rect">
            <a:avLst/>
          </a:prstGeom>
          <a:noFill/>
          <a:ln/>
        </p:spPr>
        <p:txBody>
          <a:bodyPr wrap="square" lIns="0" tIns="0" rIns="0" bIns="0" rtlCol="0" anchor="ctr"/>
          <a:lstStyle/>
          <a:p>
            <a:pPr marL="0" indent="0">
              <a:buNone/>
            </a:pPr>
            <a:r>
              <a:rPr lang="en-US" sz="1100" b="1" dirty="0">
                <a:solidFill>
                  <a:srgbClr val="1A1F2C"/>
                </a:solidFill>
                <a:latin typeface="Calibri" pitchFamily="34" charset="0"/>
                <a:ea typeface="Calibri" pitchFamily="34" charset="-122"/>
                <a:cs typeface="Calibri" pitchFamily="34" charset="-120"/>
              </a:rPr>
              <a:t>Building apps and websites</a:t>
            </a:r>
            <a:endParaRPr lang="en-US" sz="1100" dirty="0"/>
          </a:p>
        </p:txBody>
      </p:sp>
      <p:sp>
        <p:nvSpPr>
          <p:cNvPr id="13" name="Shape 11"/>
          <p:cNvSpPr/>
          <p:nvPr/>
        </p:nvSpPr>
        <p:spPr>
          <a:xfrm>
            <a:off x="594360" y="3136392"/>
            <a:ext cx="3383280" cy="384048"/>
          </a:xfrm>
          <a:prstGeom prst="rect">
            <a:avLst/>
          </a:prstGeom>
          <a:solidFill>
            <a:srgbClr val="FFFFFF"/>
          </a:solidFill>
          <a:ln w="12700">
            <a:solidFill>
              <a:srgbClr val="E5E7EB"/>
            </a:solidFill>
            <a:prstDash val="solid"/>
          </a:ln>
        </p:spPr>
        <p:txBody>
          <a:bodyPr/>
          <a:lstStyle/>
          <a:p>
            <a:endParaRPr lang="en-US"/>
          </a:p>
        </p:txBody>
      </p:sp>
      <p:sp>
        <p:nvSpPr>
          <p:cNvPr id="14" name="Text 12"/>
          <p:cNvSpPr/>
          <p:nvPr/>
        </p:nvSpPr>
        <p:spPr>
          <a:xfrm>
            <a:off x="731520" y="3136392"/>
            <a:ext cx="3108960" cy="384048"/>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Investigating security threats</a:t>
            </a:r>
            <a:endParaRPr lang="en-US" sz="1100" dirty="0"/>
          </a:p>
        </p:txBody>
      </p:sp>
      <p:sp>
        <p:nvSpPr>
          <p:cNvPr id="15" name="Shape 13"/>
          <p:cNvSpPr/>
          <p:nvPr/>
        </p:nvSpPr>
        <p:spPr>
          <a:xfrm>
            <a:off x="594360" y="3575304"/>
            <a:ext cx="3383280" cy="384048"/>
          </a:xfrm>
          <a:prstGeom prst="rect">
            <a:avLst/>
          </a:prstGeom>
          <a:solidFill>
            <a:srgbClr val="FFFFFF"/>
          </a:solidFill>
          <a:ln w="12700">
            <a:solidFill>
              <a:srgbClr val="E5E7EB"/>
            </a:solidFill>
            <a:prstDash val="solid"/>
          </a:ln>
        </p:spPr>
        <p:txBody>
          <a:bodyPr/>
          <a:lstStyle/>
          <a:p>
            <a:endParaRPr lang="en-US"/>
          </a:p>
        </p:txBody>
      </p:sp>
      <p:sp>
        <p:nvSpPr>
          <p:cNvPr id="16" name="Text 14"/>
          <p:cNvSpPr/>
          <p:nvPr/>
        </p:nvSpPr>
        <p:spPr>
          <a:xfrm>
            <a:off x="731520" y="3575304"/>
            <a:ext cx="3108960" cy="384048"/>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Finding patterns in data</a:t>
            </a:r>
            <a:endParaRPr lang="en-US" sz="1100" dirty="0"/>
          </a:p>
        </p:txBody>
      </p:sp>
      <p:sp>
        <p:nvSpPr>
          <p:cNvPr id="17" name="Shape 15"/>
          <p:cNvSpPr/>
          <p:nvPr/>
        </p:nvSpPr>
        <p:spPr>
          <a:xfrm>
            <a:off x="594360" y="4014216"/>
            <a:ext cx="3383280" cy="384048"/>
          </a:xfrm>
          <a:prstGeom prst="rect">
            <a:avLst/>
          </a:prstGeom>
          <a:solidFill>
            <a:srgbClr val="FFFFFF"/>
          </a:solidFill>
          <a:ln w="12700">
            <a:solidFill>
              <a:srgbClr val="E5E7EB"/>
            </a:solidFill>
            <a:prstDash val="solid"/>
          </a:ln>
        </p:spPr>
        <p:txBody>
          <a:bodyPr/>
          <a:lstStyle/>
          <a:p>
            <a:endParaRPr lang="en-US"/>
          </a:p>
        </p:txBody>
      </p:sp>
      <p:sp>
        <p:nvSpPr>
          <p:cNvPr id="18" name="Text 16"/>
          <p:cNvSpPr/>
          <p:nvPr/>
        </p:nvSpPr>
        <p:spPr>
          <a:xfrm>
            <a:off x="731520" y="4014216"/>
            <a:ext cx="3108960" cy="384048"/>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Designing automated systems</a:t>
            </a:r>
            <a:endParaRPr lang="en-US" sz="1100" dirty="0"/>
          </a:p>
        </p:txBody>
      </p:sp>
      <p:pic>
        <p:nvPicPr>
          <p:cNvPr id="19" name="Image 0" descr="preencoded.png"/>
          <p:cNvPicPr>
            <a:picLocks noChangeAspect="1"/>
          </p:cNvPicPr>
          <p:nvPr/>
        </p:nvPicPr>
        <p:blipFill>
          <a:blip r:embed="rId3"/>
          <a:stretch>
            <a:fillRect/>
          </a:stretch>
        </p:blipFill>
        <p:spPr>
          <a:xfrm>
            <a:off x="3017520" y="4160520"/>
            <a:ext cx="777240" cy="777240"/>
          </a:xfrm>
          <a:prstGeom prst="rect">
            <a:avLst/>
          </a:prstGeom>
        </p:spPr>
      </p:pic>
      <p:sp>
        <p:nvSpPr>
          <p:cNvPr id="20" name="Text 17"/>
          <p:cNvSpPr/>
          <p:nvPr/>
        </p:nvSpPr>
        <p:spPr>
          <a:xfrm>
            <a:off x="4434840" y="1417320"/>
            <a:ext cx="4251960" cy="365760"/>
          </a:xfrm>
          <a:prstGeom prst="rect">
            <a:avLst/>
          </a:prstGeom>
          <a:noFill/>
          <a:ln/>
        </p:spPr>
        <p:txBody>
          <a:bodyPr wrap="square" lIns="0" tIns="0" rIns="0" bIns="0" rtlCol="0" anchor="ctr"/>
          <a:lstStyle/>
          <a:p>
            <a:pPr marL="0" indent="0">
              <a:buNone/>
            </a:pPr>
            <a:r>
              <a:rPr lang="en-US" sz="1700" b="1" dirty="0">
                <a:solidFill>
                  <a:srgbClr val="1A1F2C"/>
                </a:solidFill>
                <a:latin typeface="Calibri" pitchFamily="34" charset="0"/>
                <a:ea typeface="Calibri" pitchFamily="34" charset="-122"/>
                <a:cs typeface="Calibri" pitchFamily="34" charset="-120"/>
              </a:rPr>
              <a:t>Each answer feeds two signals:</a:t>
            </a:r>
            <a:endParaRPr lang="en-US" sz="1700" dirty="0"/>
          </a:p>
        </p:txBody>
      </p:sp>
      <p:sp>
        <p:nvSpPr>
          <p:cNvPr id="21" name="Shape 18"/>
          <p:cNvSpPr/>
          <p:nvPr/>
        </p:nvSpPr>
        <p:spPr>
          <a:xfrm>
            <a:off x="4434840" y="1874520"/>
            <a:ext cx="4251960" cy="1097280"/>
          </a:xfrm>
          <a:prstGeom prst="rect">
            <a:avLst/>
          </a:prstGeom>
          <a:solidFill>
            <a:srgbClr val="0F3361"/>
          </a:solidFill>
          <a:ln w="12700">
            <a:solidFill>
              <a:srgbClr val="0F3361"/>
            </a:solidFill>
            <a:prstDash val="solid"/>
          </a:ln>
        </p:spPr>
        <p:txBody>
          <a:bodyPr/>
          <a:lstStyle/>
          <a:p>
            <a:endParaRPr lang="en-US"/>
          </a:p>
        </p:txBody>
      </p:sp>
      <p:sp>
        <p:nvSpPr>
          <p:cNvPr id="22" name="Text 19"/>
          <p:cNvSpPr/>
          <p:nvPr/>
        </p:nvSpPr>
        <p:spPr>
          <a:xfrm>
            <a:off x="4572000" y="1920240"/>
            <a:ext cx="1097280" cy="365760"/>
          </a:xfrm>
          <a:prstGeom prst="rect">
            <a:avLst/>
          </a:prstGeom>
          <a:noFill/>
          <a:ln/>
        </p:spPr>
        <p:txBody>
          <a:bodyPr wrap="square" lIns="0" tIns="0" rIns="0" bIns="0" rtlCol="0" anchor="ctr"/>
          <a:lstStyle/>
          <a:p>
            <a:pPr marL="0" indent="0">
              <a:buNone/>
            </a:pPr>
            <a:r>
              <a:rPr lang="en-US" sz="1300" b="1" kern="0" spc="400" dirty="0">
                <a:solidFill>
                  <a:srgbClr val="E34628"/>
                </a:solidFill>
                <a:latin typeface="Calibri" pitchFamily="34" charset="0"/>
                <a:ea typeface="Calibri" pitchFamily="34" charset="-122"/>
                <a:cs typeface="Calibri" pitchFamily="34" charset="-120"/>
              </a:rPr>
              <a:t>LOGIC</a:t>
            </a:r>
            <a:endParaRPr lang="en-US" sz="1300" dirty="0"/>
          </a:p>
        </p:txBody>
      </p:sp>
      <p:sp>
        <p:nvSpPr>
          <p:cNvPr id="23" name="Text 20"/>
          <p:cNvSpPr/>
          <p:nvPr/>
        </p:nvSpPr>
        <p:spPr>
          <a:xfrm>
            <a:off x="4572000" y="2286000"/>
            <a:ext cx="402336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Score 0 to 4 per answer  -&gt;  capped at 32</a:t>
            </a:r>
            <a:endParaRPr lang="en-US" sz="1300" dirty="0"/>
          </a:p>
        </p:txBody>
      </p:sp>
      <p:sp>
        <p:nvSpPr>
          <p:cNvPr id="24" name="Text 21"/>
          <p:cNvSpPr/>
          <p:nvPr/>
        </p:nvSpPr>
        <p:spPr>
          <a:xfrm>
            <a:off x="4572000" y="2606040"/>
            <a:ext cx="4023360" cy="274320"/>
          </a:xfrm>
          <a:prstGeom prst="rect">
            <a:avLst/>
          </a:prstGeom>
          <a:noFill/>
          <a:ln/>
        </p:spPr>
        <p:txBody>
          <a:bodyPr wrap="square" lIns="0" tIns="0" rIns="0" bIns="0" rtlCol="0" anchor="ctr"/>
          <a:lstStyle/>
          <a:p>
            <a:pPr marL="0" indent="0">
              <a:buNone/>
            </a:pPr>
            <a:r>
              <a:rPr lang="en-US" sz="1100" i="1" dirty="0">
                <a:solidFill>
                  <a:srgbClr val="FFFFFF">
                    <a:alpha val="75000"/>
                  </a:srgbClr>
                </a:solidFill>
                <a:latin typeface="Calibri" pitchFamily="34" charset="0"/>
                <a:ea typeface="Calibri" pitchFamily="34" charset="-122"/>
                <a:cs typeface="Calibri" pitchFamily="34" charset="-120"/>
              </a:rPr>
              <a:t>Drives: Solver, Guardian, Analyst personas</a:t>
            </a:r>
            <a:endParaRPr lang="en-US" sz="1100" dirty="0"/>
          </a:p>
        </p:txBody>
      </p:sp>
      <p:sp>
        <p:nvSpPr>
          <p:cNvPr id="25" name="Shape 22"/>
          <p:cNvSpPr/>
          <p:nvPr/>
        </p:nvSpPr>
        <p:spPr>
          <a:xfrm>
            <a:off x="4434840" y="3063240"/>
            <a:ext cx="4251960" cy="1097280"/>
          </a:xfrm>
          <a:prstGeom prst="rect">
            <a:avLst/>
          </a:prstGeom>
          <a:solidFill>
            <a:srgbClr val="E34628"/>
          </a:solidFill>
          <a:ln w="12700">
            <a:solidFill>
              <a:srgbClr val="E34628"/>
            </a:solidFill>
            <a:prstDash val="solid"/>
          </a:ln>
        </p:spPr>
        <p:txBody>
          <a:bodyPr/>
          <a:lstStyle/>
          <a:p>
            <a:endParaRPr lang="en-US"/>
          </a:p>
        </p:txBody>
      </p:sp>
      <p:sp>
        <p:nvSpPr>
          <p:cNvPr id="26" name="Text 23"/>
          <p:cNvSpPr/>
          <p:nvPr/>
        </p:nvSpPr>
        <p:spPr>
          <a:xfrm>
            <a:off x="4572000" y="3108960"/>
            <a:ext cx="1371600" cy="365760"/>
          </a:xfrm>
          <a:prstGeom prst="rect">
            <a:avLst/>
          </a:prstGeom>
          <a:noFill/>
          <a:ln/>
        </p:spPr>
        <p:txBody>
          <a:bodyPr wrap="square" lIns="0" tIns="0" rIns="0" bIns="0" rtlCol="0" anchor="ctr"/>
          <a:lstStyle/>
          <a:p>
            <a:pPr marL="0" indent="0">
              <a:buNone/>
            </a:pPr>
            <a:r>
              <a:rPr lang="en-US" sz="1300" b="1" kern="0" spc="400" dirty="0">
                <a:solidFill>
                  <a:srgbClr val="0F3361"/>
                </a:solidFill>
                <a:latin typeface="Calibri" pitchFamily="34" charset="0"/>
                <a:ea typeface="Calibri" pitchFamily="34" charset="-122"/>
                <a:cs typeface="Calibri" pitchFamily="34" charset="-120"/>
              </a:rPr>
              <a:t>CREATIVE</a:t>
            </a:r>
            <a:endParaRPr lang="en-US" sz="1300" dirty="0"/>
          </a:p>
        </p:txBody>
      </p:sp>
      <p:sp>
        <p:nvSpPr>
          <p:cNvPr id="27" name="Text 24"/>
          <p:cNvSpPr/>
          <p:nvPr/>
        </p:nvSpPr>
        <p:spPr>
          <a:xfrm>
            <a:off x="4572000" y="3474720"/>
            <a:ext cx="402336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Score 0 to 4 per answer  -&gt;  capped at 32</a:t>
            </a:r>
            <a:endParaRPr lang="en-US" sz="1300" dirty="0"/>
          </a:p>
        </p:txBody>
      </p:sp>
      <p:sp>
        <p:nvSpPr>
          <p:cNvPr id="28" name="Text 25"/>
          <p:cNvSpPr/>
          <p:nvPr/>
        </p:nvSpPr>
        <p:spPr>
          <a:xfrm>
            <a:off x="4572000" y="3794760"/>
            <a:ext cx="4023360" cy="274320"/>
          </a:xfrm>
          <a:prstGeom prst="rect">
            <a:avLst/>
          </a:prstGeom>
          <a:noFill/>
          <a:ln/>
        </p:spPr>
        <p:txBody>
          <a:bodyPr wrap="square" lIns="0" tIns="0" rIns="0" bIns="0" rtlCol="0" anchor="ctr"/>
          <a:lstStyle/>
          <a:p>
            <a:pPr marL="0" indent="0">
              <a:buNone/>
            </a:pPr>
            <a:r>
              <a:rPr lang="en-US" sz="1100" i="1" dirty="0">
                <a:solidFill>
                  <a:srgbClr val="FFFFFF">
                    <a:alpha val="75000"/>
                  </a:srgbClr>
                </a:solidFill>
                <a:latin typeface="Calibri" pitchFamily="34" charset="0"/>
                <a:ea typeface="Calibri" pitchFamily="34" charset="-122"/>
                <a:cs typeface="Calibri" pitchFamily="34" charset="-120"/>
              </a:rPr>
              <a:t>Drives: Creator persona</a:t>
            </a:r>
            <a:endParaRPr lang="en-US" sz="1100" dirty="0"/>
          </a:p>
        </p:txBody>
      </p:sp>
      <p:sp>
        <p:nvSpPr>
          <p:cNvPr id="29" name="Text 26"/>
          <p:cNvSpPr/>
          <p:nvPr/>
        </p:nvSpPr>
        <p:spPr>
          <a:xfrm>
            <a:off x="4434840" y="4251960"/>
            <a:ext cx="4251960" cy="36576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Plus a persona tag on each option, fed into the rule-based engine.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56032" cy="256032"/>
          </a:xfrm>
          <a:prstGeom prst="ellipse">
            <a:avLst/>
          </a:prstGeom>
          <a:solidFill>
            <a:srgbClr val="E34628"/>
          </a:solidFill>
          <a:ln w="12700">
            <a:solidFill>
              <a:srgbClr val="E34628"/>
            </a:solidFill>
            <a:prstDash val="solid"/>
          </a:ln>
        </p:spPr>
        <p:txBody>
          <a:bodyPr/>
          <a:lstStyle/>
          <a:p>
            <a:endParaRPr lang="en-US"/>
          </a:p>
        </p:txBody>
      </p:sp>
      <p:sp>
        <p:nvSpPr>
          <p:cNvPr id="3" name="Text 1"/>
          <p:cNvSpPr/>
          <p:nvPr/>
        </p:nvSpPr>
        <p:spPr>
          <a:xfrm>
            <a:off x="868680" y="256032"/>
            <a:ext cx="7772400" cy="548640"/>
          </a:xfrm>
          <a:prstGeom prst="rect">
            <a:avLst/>
          </a:prstGeom>
          <a:noFill/>
          <a:ln/>
        </p:spPr>
        <p:txBody>
          <a:bodyPr wrap="square" lIns="0" tIns="0" rIns="0" bIns="0" rtlCol="0" anchor="ctr"/>
          <a:lstStyle/>
          <a:p>
            <a:pPr marL="0" indent="0">
              <a:buNone/>
            </a:pPr>
            <a:r>
              <a:rPr lang="en-US" sz="3200" b="1" dirty="0">
                <a:solidFill>
                  <a:srgbClr val="0F3361"/>
                </a:solidFill>
                <a:latin typeface="Calibri" pitchFamily="34" charset="0"/>
                <a:ea typeface="Calibri" pitchFamily="34" charset="-122"/>
                <a:cs typeface="Calibri" pitchFamily="34" charset="-120"/>
              </a:rPr>
              <a:t>Recommendation Engine</a:t>
            </a:r>
            <a:endParaRPr lang="en-US" sz="3200" dirty="0"/>
          </a:p>
        </p:txBody>
      </p:sp>
      <p:sp>
        <p:nvSpPr>
          <p:cNvPr id="4" name="Text 2"/>
          <p:cNvSpPr/>
          <p:nvPr/>
        </p:nvSpPr>
        <p:spPr>
          <a:xfrm>
            <a:off x="868680" y="777240"/>
            <a:ext cx="7772400" cy="310896"/>
          </a:xfrm>
          <a:prstGeom prst="rect">
            <a:avLst/>
          </a:prstGeom>
          <a:noFill/>
          <a:ln/>
        </p:spPr>
        <p:txBody>
          <a:bodyPr wrap="square" lIns="0" tIns="0" rIns="0" bIns="0"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Process 3.0 - DFD Level 2 decomposition</a:t>
            </a:r>
            <a:endParaRPr lang="en-US" sz="1400" dirty="0"/>
          </a:p>
        </p:txBody>
      </p:sp>
      <p:sp>
        <p:nvSpPr>
          <p:cNvPr id="5" name="Shape 3"/>
          <p:cNvSpPr/>
          <p:nvPr/>
        </p:nvSpPr>
        <p:spPr>
          <a:xfrm>
            <a:off x="457200" y="1170432"/>
            <a:ext cx="8229600" cy="18288"/>
          </a:xfrm>
          <a:prstGeom prst="rect">
            <a:avLst/>
          </a:prstGeom>
          <a:solidFill>
            <a:srgbClr val="E5E7EB"/>
          </a:solidFill>
          <a:ln w="12700">
            <a:solidFill>
              <a:srgbClr val="E5E7EB"/>
            </a:solidFill>
            <a:prstDash val="solid"/>
          </a:ln>
        </p:spPr>
        <p:txBody>
          <a:bodyPr/>
          <a:lstStyle/>
          <a:p>
            <a:endParaRPr lang="en-US"/>
          </a:p>
        </p:txBody>
      </p:sp>
      <p:sp>
        <p:nvSpPr>
          <p:cNvPr id="6" name="Shape 4"/>
          <p:cNvSpPr/>
          <p:nvPr/>
        </p:nvSpPr>
        <p:spPr>
          <a:xfrm>
            <a:off x="457200" y="1691640"/>
            <a:ext cx="1280160" cy="1051560"/>
          </a:xfrm>
          <a:prstGeom prst="rect">
            <a:avLst/>
          </a:prstGeom>
          <a:solidFill>
            <a:srgbClr val="0F3361"/>
          </a:solidFill>
          <a:ln w="12700">
            <a:solidFill>
              <a:srgbClr val="0F3361"/>
            </a:solidFill>
            <a:prstDash val="solid"/>
          </a:ln>
          <a:effectLst>
            <a:outerShdw blurRad="152400" dist="38100" dir="5400000" algn="bl" rotWithShape="0">
              <a:srgbClr val="000000">
                <a:alpha val="10000"/>
              </a:srgbClr>
            </a:outerShdw>
          </a:effectLst>
        </p:spPr>
        <p:txBody>
          <a:bodyPr/>
          <a:lstStyle/>
          <a:p>
            <a:endParaRPr lang="en-US"/>
          </a:p>
        </p:txBody>
      </p:sp>
      <p:sp>
        <p:nvSpPr>
          <p:cNvPr id="7" name="Text 5"/>
          <p:cNvSpPr/>
          <p:nvPr/>
        </p:nvSpPr>
        <p:spPr>
          <a:xfrm>
            <a:off x="457200" y="1801368"/>
            <a:ext cx="1280160" cy="274320"/>
          </a:xfrm>
          <a:prstGeom prst="rect">
            <a:avLst/>
          </a:prstGeom>
          <a:noFill/>
          <a:ln/>
        </p:spPr>
        <p:txBody>
          <a:bodyPr wrap="square" lIns="0" tIns="0" rIns="0" bIns="0" rtlCol="0" anchor="ctr"/>
          <a:lstStyle/>
          <a:p>
            <a:pPr marL="0" indent="0" algn="ctr">
              <a:buNone/>
            </a:pPr>
            <a:r>
              <a:rPr lang="en-US" sz="1100" b="1" dirty="0">
                <a:solidFill>
                  <a:srgbClr val="FFFFFF">
                    <a:alpha val="75000"/>
                  </a:srgbClr>
                </a:solidFill>
                <a:latin typeface="Calibri" pitchFamily="34" charset="0"/>
                <a:ea typeface="Calibri" pitchFamily="34" charset="-122"/>
                <a:cs typeface="Calibri" pitchFamily="34" charset="-120"/>
              </a:rPr>
              <a:t>3.1</a:t>
            </a:r>
            <a:endParaRPr lang="en-US" sz="1100" dirty="0"/>
          </a:p>
        </p:txBody>
      </p:sp>
      <p:sp>
        <p:nvSpPr>
          <p:cNvPr id="8" name="Text 6"/>
          <p:cNvSpPr/>
          <p:nvPr/>
        </p:nvSpPr>
        <p:spPr>
          <a:xfrm>
            <a:off x="457200" y="2075688"/>
            <a:ext cx="128016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Lookup</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Rule Points</a:t>
            </a:r>
            <a:endParaRPr lang="en-US" sz="1300" dirty="0"/>
          </a:p>
        </p:txBody>
      </p:sp>
      <p:sp>
        <p:nvSpPr>
          <p:cNvPr id="9" name="Shape 7"/>
          <p:cNvSpPr/>
          <p:nvPr/>
        </p:nvSpPr>
        <p:spPr>
          <a:xfrm>
            <a:off x="1746504" y="2217420"/>
            <a:ext cx="100584" cy="0"/>
          </a:xfrm>
          <a:prstGeom prst="line">
            <a:avLst/>
          </a:prstGeom>
          <a:noFill/>
          <a:ln w="31750">
            <a:solidFill>
              <a:srgbClr val="6B7280"/>
            </a:solidFill>
            <a:prstDash val="solid"/>
            <a:tailEnd type="triangle"/>
          </a:ln>
        </p:spPr>
        <p:txBody>
          <a:bodyPr/>
          <a:lstStyle/>
          <a:p>
            <a:endParaRPr lang="en-US"/>
          </a:p>
        </p:txBody>
      </p:sp>
      <p:sp>
        <p:nvSpPr>
          <p:cNvPr id="10" name="Shape 8"/>
          <p:cNvSpPr/>
          <p:nvPr/>
        </p:nvSpPr>
        <p:spPr>
          <a:xfrm>
            <a:off x="1856232" y="1691640"/>
            <a:ext cx="1280160" cy="1051560"/>
          </a:xfrm>
          <a:prstGeom prst="rect">
            <a:avLst/>
          </a:prstGeom>
          <a:solidFill>
            <a:srgbClr val="0F3361"/>
          </a:solidFill>
          <a:ln w="12700">
            <a:solidFill>
              <a:srgbClr val="0F3361"/>
            </a:solidFill>
            <a:prstDash val="solid"/>
          </a:ln>
          <a:effectLst>
            <a:outerShdw blurRad="152400" dist="38100" dir="5400000" algn="bl" rotWithShape="0">
              <a:srgbClr val="000000">
                <a:alpha val="10000"/>
              </a:srgbClr>
            </a:outerShdw>
          </a:effectLst>
        </p:spPr>
        <p:txBody>
          <a:bodyPr/>
          <a:lstStyle/>
          <a:p>
            <a:endParaRPr lang="en-US"/>
          </a:p>
        </p:txBody>
      </p:sp>
      <p:sp>
        <p:nvSpPr>
          <p:cNvPr id="11" name="Text 9"/>
          <p:cNvSpPr/>
          <p:nvPr/>
        </p:nvSpPr>
        <p:spPr>
          <a:xfrm>
            <a:off x="1856232" y="1801368"/>
            <a:ext cx="1280160" cy="274320"/>
          </a:xfrm>
          <a:prstGeom prst="rect">
            <a:avLst/>
          </a:prstGeom>
          <a:noFill/>
          <a:ln/>
        </p:spPr>
        <p:txBody>
          <a:bodyPr wrap="square" lIns="0" tIns="0" rIns="0" bIns="0" rtlCol="0" anchor="ctr"/>
          <a:lstStyle/>
          <a:p>
            <a:pPr marL="0" indent="0" algn="ctr">
              <a:buNone/>
            </a:pPr>
            <a:r>
              <a:rPr lang="en-US" sz="1100" b="1" dirty="0">
                <a:solidFill>
                  <a:srgbClr val="FFFFFF">
                    <a:alpha val="75000"/>
                  </a:srgbClr>
                </a:solidFill>
                <a:latin typeface="Calibri" pitchFamily="34" charset="0"/>
                <a:ea typeface="Calibri" pitchFamily="34" charset="-122"/>
                <a:cs typeface="Calibri" pitchFamily="34" charset="-120"/>
              </a:rPr>
              <a:t>3.2</a:t>
            </a:r>
            <a:endParaRPr lang="en-US" sz="1100" dirty="0"/>
          </a:p>
        </p:txBody>
      </p:sp>
      <p:sp>
        <p:nvSpPr>
          <p:cNvPr id="12" name="Text 10"/>
          <p:cNvSpPr/>
          <p:nvPr/>
        </p:nvSpPr>
        <p:spPr>
          <a:xfrm>
            <a:off x="1856232" y="2075688"/>
            <a:ext cx="128016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Tally Score</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per Persona</a:t>
            </a:r>
            <a:endParaRPr lang="en-US" sz="1300" dirty="0"/>
          </a:p>
        </p:txBody>
      </p:sp>
      <p:sp>
        <p:nvSpPr>
          <p:cNvPr id="13" name="Shape 11"/>
          <p:cNvSpPr/>
          <p:nvPr/>
        </p:nvSpPr>
        <p:spPr>
          <a:xfrm>
            <a:off x="3145536" y="2217420"/>
            <a:ext cx="100584" cy="0"/>
          </a:xfrm>
          <a:prstGeom prst="line">
            <a:avLst/>
          </a:prstGeom>
          <a:noFill/>
          <a:ln w="31750">
            <a:solidFill>
              <a:srgbClr val="6B7280"/>
            </a:solidFill>
            <a:prstDash val="solid"/>
            <a:tailEnd type="triangle"/>
          </a:ln>
        </p:spPr>
        <p:txBody>
          <a:bodyPr/>
          <a:lstStyle/>
          <a:p>
            <a:endParaRPr lang="en-US"/>
          </a:p>
        </p:txBody>
      </p:sp>
      <p:sp>
        <p:nvSpPr>
          <p:cNvPr id="14" name="Shape 12"/>
          <p:cNvSpPr/>
          <p:nvPr/>
        </p:nvSpPr>
        <p:spPr>
          <a:xfrm>
            <a:off x="3255264" y="1691640"/>
            <a:ext cx="1280160" cy="1051560"/>
          </a:xfrm>
          <a:prstGeom prst="rect">
            <a:avLst/>
          </a:prstGeom>
          <a:solidFill>
            <a:srgbClr val="E34628"/>
          </a:solidFill>
          <a:ln w="12700">
            <a:solidFill>
              <a:srgbClr val="E34628"/>
            </a:solidFill>
            <a:prstDash val="solid"/>
          </a:ln>
          <a:effectLst>
            <a:outerShdw blurRad="152400" dist="38100" dir="5400000" algn="bl" rotWithShape="0">
              <a:srgbClr val="000000">
                <a:alpha val="10000"/>
              </a:srgbClr>
            </a:outerShdw>
          </a:effectLst>
        </p:spPr>
        <p:txBody>
          <a:bodyPr/>
          <a:lstStyle/>
          <a:p>
            <a:endParaRPr lang="en-US"/>
          </a:p>
        </p:txBody>
      </p:sp>
      <p:sp>
        <p:nvSpPr>
          <p:cNvPr id="15" name="Text 13"/>
          <p:cNvSpPr/>
          <p:nvPr/>
        </p:nvSpPr>
        <p:spPr>
          <a:xfrm>
            <a:off x="3255264" y="1801368"/>
            <a:ext cx="1280160" cy="274320"/>
          </a:xfrm>
          <a:prstGeom prst="rect">
            <a:avLst/>
          </a:prstGeom>
          <a:noFill/>
          <a:ln/>
        </p:spPr>
        <p:txBody>
          <a:bodyPr wrap="square" lIns="0" tIns="0" rIns="0" bIns="0" rtlCol="0" anchor="ctr"/>
          <a:lstStyle/>
          <a:p>
            <a:pPr marL="0" indent="0" algn="ctr">
              <a:buNone/>
            </a:pPr>
            <a:r>
              <a:rPr lang="en-US" sz="1100" b="1" dirty="0">
                <a:solidFill>
                  <a:srgbClr val="FFFFFF">
                    <a:alpha val="75000"/>
                  </a:srgbClr>
                </a:solidFill>
                <a:latin typeface="Calibri" pitchFamily="34" charset="0"/>
                <a:ea typeface="Calibri" pitchFamily="34" charset="-122"/>
                <a:cs typeface="Calibri" pitchFamily="34" charset="-120"/>
              </a:rPr>
              <a:t>3.3</a:t>
            </a:r>
            <a:endParaRPr lang="en-US" sz="1100" dirty="0"/>
          </a:p>
        </p:txBody>
      </p:sp>
      <p:sp>
        <p:nvSpPr>
          <p:cNvPr id="16" name="Text 14"/>
          <p:cNvSpPr/>
          <p:nvPr/>
        </p:nvSpPr>
        <p:spPr>
          <a:xfrm>
            <a:off x="3255264" y="2075688"/>
            <a:ext cx="128016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Pick Top</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Persona</a:t>
            </a:r>
            <a:endParaRPr lang="en-US" sz="1300" dirty="0"/>
          </a:p>
        </p:txBody>
      </p:sp>
      <p:sp>
        <p:nvSpPr>
          <p:cNvPr id="17" name="Shape 15"/>
          <p:cNvSpPr/>
          <p:nvPr/>
        </p:nvSpPr>
        <p:spPr>
          <a:xfrm>
            <a:off x="4544568" y="2217420"/>
            <a:ext cx="100584" cy="0"/>
          </a:xfrm>
          <a:prstGeom prst="line">
            <a:avLst/>
          </a:prstGeom>
          <a:noFill/>
          <a:ln w="31750">
            <a:solidFill>
              <a:srgbClr val="6B7280"/>
            </a:solidFill>
            <a:prstDash val="solid"/>
            <a:tailEnd type="triangle"/>
          </a:ln>
        </p:spPr>
        <p:txBody>
          <a:bodyPr/>
          <a:lstStyle/>
          <a:p>
            <a:endParaRPr lang="en-US"/>
          </a:p>
        </p:txBody>
      </p:sp>
      <p:sp>
        <p:nvSpPr>
          <p:cNvPr id="18" name="Shape 16"/>
          <p:cNvSpPr/>
          <p:nvPr/>
        </p:nvSpPr>
        <p:spPr>
          <a:xfrm>
            <a:off x="4654296" y="1691640"/>
            <a:ext cx="1280160" cy="1051560"/>
          </a:xfrm>
          <a:prstGeom prst="rect">
            <a:avLst/>
          </a:prstGeom>
          <a:solidFill>
            <a:srgbClr val="E34628"/>
          </a:solidFill>
          <a:ln w="12700">
            <a:solidFill>
              <a:srgbClr val="E34628"/>
            </a:solidFill>
            <a:prstDash val="solid"/>
          </a:ln>
          <a:effectLst>
            <a:outerShdw blurRad="152400" dist="38100" dir="5400000" algn="bl" rotWithShape="0">
              <a:srgbClr val="000000">
                <a:alpha val="10000"/>
              </a:srgbClr>
            </a:outerShdw>
          </a:effectLst>
        </p:spPr>
        <p:txBody>
          <a:bodyPr/>
          <a:lstStyle/>
          <a:p>
            <a:endParaRPr lang="en-US"/>
          </a:p>
        </p:txBody>
      </p:sp>
      <p:sp>
        <p:nvSpPr>
          <p:cNvPr id="19" name="Text 17"/>
          <p:cNvSpPr/>
          <p:nvPr/>
        </p:nvSpPr>
        <p:spPr>
          <a:xfrm>
            <a:off x="4654296" y="1801368"/>
            <a:ext cx="1280160" cy="274320"/>
          </a:xfrm>
          <a:prstGeom prst="rect">
            <a:avLst/>
          </a:prstGeom>
          <a:noFill/>
          <a:ln/>
        </p:spPr>
        <p:txBody>
          <a:bodyPr wrap="square" lIns="0" tIns="0" rIns="0" bIns="0" rtlCol="0" anchor="ctr"/>
          <a:lstStyle/>
          <a:p>
            <a:pPr marL="0" indent="0" algn="ctr">
              <a:buNone/>
            </a:pPr>
            <a:r>
              <a:rPr lang="en-US" sz="1100" b="1" dirty="0">
                <a:solidFill>
                  <a:srgbClr val="FFFFFF">
                    <a:alpha val="75000"/>
                  </a:srgbClr>
                </a:solidFill>
                <a:latin typeface="Calibri" pitchFamily="34" charset="0"/>
                <a:ea typeface="Calibri" pitchFamily="34" charset="-122"/>
                <a:cs typeface="Calibri" pitchFamily="34" charset="-120"/>
              </a:rPr>
              <a:t>3.4</a:t>
            </a:r>
            <a:endParaRPr lang="en-US" sz="1100" dirty="0"/>
          </a:p>
        </p:txBody>
      </p:sp>
      <p:sp>
        <p:nvSpPr>
          <p:cNvPr id="20" name="Text 18"/>
          <p:cNvSpPr/>
          <p:nvPr/>
        </p:nvSpPr>
        <p:spPr>
          <a:xfrm>
            <a:off x="4654296" y="2075688"/>
            <a:ext cx="128016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Map Persona</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to Programs</a:t>
            </a:r>
            <a:endParaRPr lang="en-US" sz="1300" dirty="0"/>
          </a:p>
        </p:txBody>
      </p:sp>
      <p:sp>
        <p:nvSpPr>
          <p:cNvPr id="21" name="Shape 19"/>
          <p:cNvSpPr/>
          <p:nvPr/>
        </p:nvSpPr>
        <p:spPr>
          <a:xfrm>
            <a:off x="5943600" y="2217420"/>
            <a:ext cx="100584" cy="0"/>
          </a:xfrm>
          <a:prstGeom prst="line">
            <a:avLst/>
          </a:prstGeom>
          <a:noFill/>
          <a:ln w="31750">
            <a:solidFill>
              <a:srgbClr val="6B7280"/>
            </a:solidFill>
            <a:prstDash val="solid"/>
            <a:tailEnd type="triangle"/>
          </a:ln>
        </p:spPr>
        <p:txBody>
          <a:bodyPr/>
          <a:lstStyle/>
          <a:p>
            <a:endParaRPr lang="en-US"/>
          </a:p>
        </p:txBody>
      </p:sp>
      <p:sp>
        <p:nvSpPr>
          <p:cNvPr id="22" name="Shape 20"/>
          <p:cNvSpPr/>
          <p:nvPr/>
        </p:nvSpPr>
        <p:spPr>
          <a:xfrm>
            <a:off x="6053328" y="1691640"/>
            <a:ext cx="1280160" cy="1051560"/>
          </a:xfrm>
          <a:prstGeom prst="rect">
            <a:avLst/>
          </a:prstGeom>
          <a:solidFill>
            <a:srgbClr val="0F3361"/>
          </a:solidFill>
          <a:ln w="12700">
            <a:solidFill>
              <a:srgbClr val="0F3361"/>
            </a:solidFill>
            <a:prstDash val="solid"/>
          </a:ln>
          <a:effectLst>
            <a:outerShdw blurRad="152400" dist="38100" dir="5400000" algn="bl" rotWithShape="0">
              <a:srgbClr val="000000">
                <a:alpha val="10000"/>
              </a:srgbClr>
            </a:outerShdw>
          </a:effectLst>
        </p:spPr>
        <p:txBody>
          <a:bodyPr/>
          <a:lstStyle/>
          <a:p>
            <a:endParaRPr lang="en-US"/>
          </a:p>
        </p:txBody>
      </p:sp>
      <p:sp>
        <p:nvSpPr>
          <p:cNvPr id="23" name="Text 21"/>
          <p:cNvSpPr/>
          <p:nvPr/>
        </p:nvSpPr>
        <p:spPr>
          <a:xfrm>
            <a:off x="6053328" y="1801368"/>
            <a:ext cx="1280160" cy="274320"/>
          </a:xfrm>
          <a:prstGeom prst="rect">
            <a:avLst/>
          </a:prstGeom>
          <a:noFill/>
          <a:ln/>
        </p:spPr>
        <p:txBody>
          <a:bodyPr wrap="square" lIns="0" tIns="0" rIns="0" bIns="0" rtlCol="0" anchor="ctr"/>
          <a:lstStyle/>
          <a:p>
            <a:pPr marL="0" indent="0" algn="ctr">
              <a:buNone/>
            </a:pPr>
            <a:r>
              <a:rPr lang="en-US" sz="1100" b="1" dirty="0">
                <a:solidFill>
                  <a:srgbClr val="FFFFFF">
                    <a:alpha val="75000"/>
                  </a:srgbClr>
                </a:solidFill>
                <a:latin typeface="Calibri" pitchFamily="34" charset="0"/>
                <a:ea typeface="Calibri" pitchFamily="34" charset="-122"/>
                <a:cs typeface="Calibri" pitchFamily="34" charset="-120"/>
              </a:rPr>
              <a:t>3.5</a:t>
            </a:r>
            <a:endParaRPr lang="en-US" sz="1100" dirty="0"/>
          </a:p>
        </p:txBody>
      </p:sp>
      <p:sp>
        <p:nvSpPr>
          <p:cNvPr id="24" name="Text 22"/>
          <p:cNvSpPr/>
          <p:nvPr/>
        </p:nvSpPr>
        <p:spPr>
          <a:xfrm>
            <a:off x="6053328" y="2075688"/>
            <a:ext cx="128016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Persist</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Completion</a:t>
            </a:r>
            <a:endParaRPr lang="en-US" sz="1300" dirty="0"/>
          </a:p>
        </p:txBody>
      </p:sp>
      <p:sp>
        <p:nvSpPr>
          <p:cNvPr id="25" name="Shape 23"/>
          <p:cNvSpPr/>
          <p:nvPr/>
        </p:nvSpPr>
        <p:spPr>
          <a:xfrm>
            <a:off x="7342632" y="2217420"/>
            <a:ext cx="100584" cy="0"/>
          </a:xfrm>
          <a:prstGeom prst="line">
            <a:avLst/>
          </a:prstGeom>
          <a:noFill/>
          <a:ln w="31750">
            <a:solidFill>
              <a:srgbClr val="6B7280"/>
            </a:solidFill>
            <a:prstDash val="solid"/>
            <a:tailEnd type="triangle"/>
          </a:ln>
        </p:spPr>
        <p:txBody>
          <a:bodyPr/>
          <a:lstStyle/>
          <a:p>
            <a:endParaRPr lang="en-US"/>
          </a:p>
        </p:txBody>
      </p:sp>
      <p:sp>
        <p:nvSpPr>
          <p:cNvPr id="26" name="Shape 24"/>
          <p:cNvSpPr/>
          <p:nvPr/>
        </p:nvSpPr>
        <p:spPr>
          <a:xfrm>
            <a:off x="7452360" y="1691640"/>
            <a:ext cx="1280160" cy="1051560"/>
          </a:xfrm>
          <a:prstGeom prst="rect">
            <a:avLst/>
          </a:prstGeom>
          <a:solidFill>
            <a:srgbClr val="E34628"/>
          </a:solidFill>
          <a:ln w="12700">
            <a:solidFill>
              <a:srgbClr val="E34628"/>
            </a:solidFill>
            <a:prstDash val="solid"/>
          </a:ln>
          <a:effectLst>
            <a:outerShdw blurRad="152400" dist="38100" dir="5400000" algn="bl" rotWithShape="0">
              <a:srgbClr val="000000">
                <a:alpha val="10000"/>
              </a:srgbClr>
            </a:outerShdw>
          </a:effectLst>
        </p:spPr>
        <p:txBody>
          <a:bodyPr/>
          <a:lstStyle/>
          <a:p>
            <a:endParaRPr lang="en-US"/>
          </a:p>
        </p:txBody>
      </p:sp>
      <p:sp>
        <p:nvSpPr>
          <p:cNvPr id="27" name="Text 25"/>
          <p:cNvSpPr/>
          <p:nvPr/>
        </p:nvSpPr>
        <p:spPr>
          <a:xfrm>
            <a:off x="7452360" y="1801368"/>
            <a:ext cx="1280160" cy="274320"/>
          </a:xfrm>
          <a:prstGeom prst="rect">
            <a:avLst/>
          </a:prstGeom>
          <a:noFill/>
          <a:ln/>
        </p:spPr>
        <p:txBody>
          <a:bodyPr wrap="square" lIns="0" tIns="0" rIns="0" bIns="0" rtlCol="0" anchor="ctr"/>
          <a:lstStyle/>
          <a:p>
            <a:pPr marL="0" indent="0" algn="ctr">
              <a:buNone/>
            </a:pPr>
            <a:r>
              <a:rPr lang="en-US" sz="1100" b="1" dirty="0">
                <a:solidFill>
                  <a:srgbClr val="FFFFFF">
                    <a:alpha val="75000"/>
                  </a:srgbClr>
                </a:solidFill>
                <a:latin typeface="Calibri" pitchFamily="34" charset="0"/>
                <a:ea typeface="Calibri" pitchFamily="34" charset="-122"/>
                <a:cs typeface="Calibri" pitchFamily="34" charset="-120"/>
              </a:rPr>
              <a:t>3.6</a:t>
            </a:r>
            <a:endParaRPr lang="en-US" sz="1100" dirty="0"/>
          </a:p>
        </p:txBody>
      </p:sp>
      <p:sp>
        <p:nvSpPr>
          <p:cNvPr id="28" name="Text 26"/>
          <p:cNvSpPr/>
          <p:nvPr/>
        </p:nvSpPr>
        <p:spPr>
          <a:xfrm>
            <a:off x="7452360" y="2075688"/>
            <a:ext cx="128016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Build Result</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Response</a:t>
            </a:r>
            <a:endParaRPr lang="en-US" sz="1300" dirty="0"/>
          </a:p>
        </p:txBody>
      </p:sp>
      <p:sp>
        <p:nvSpPr>
          <p:cNvPr id="29" name="Shape 27"/>
          <p:cNvSpPr/>
          <p:nvPr/>
        </p:nvSpPr>
        <p:spPr>
          <a:xfrm>
            <a:off x="457200" y="3017520"/>
            <a:ext cx="8229600" cy="45720"/>
          </a:xfrm>
          <a:prstGeom prst="rect">
            <a:avLst/>
          </a:prstGeom>
          <a:solidFill>
            <a:srgbClr val="E5E7EB"/>
          </a:solidFill>
          <a:ln w="12700">
            <a:solidFill>
              <a:srgbClr val="E5E7EB"/>
            </a:solidFill>
            <a:prstDash val="solid"/>
          </a:ln>
        </p:spPr>
        <p:txBody>
          <a:bodyPr/>
          <a:lstStyle/>
          <a:p>
            <a:endParaRPr lang="en-US"/>
          </a:p>
        </p:txBody>
      </p:sp>
      <p:sp>
        <p:nvSpPr>
          <p:cNvPr id="30" name="Text 28"/>
          <p:cNvSpPr/>
          <p:nvPr/>
        </p:nvSpPr>
        <p:spPr>
          <a:xfrm>
            <a:off x="457200" y="3154680"/>
            <a:ext cx="8229600" cy="320040"/>
          </a:xfrm>
          <a:prstGeom prst="rect">
            <a:avLst/>
          </a:prstGeom>
          <a:noFill/>
          <a:ln/>
        </p:spPr>
        <p:txBody>
          <a:bodyPr wrap="square" lIns="0" tIns="0" rIns="0" bIns="0" rtlCol="0" anchor="ctr"/>
          <a:lstStyle/>
          <a:p>
            <a:pPr marL="0" indent="0">
              <a:buNone/>
            </a:pPr>
            <a:r>
              <a:rPr lang="en-US" sz="1400" b="1" dirty="0">
                <a:solidFill>
                  <a:srgbClr val="1A1F2C"/>
                </a:solidFill>
                <a:latin typeface="Calibri" pitchFamily="34" charset="0"/>
                <a:ea typeface="Calibri" pitchFamily="34" charset="-122"/>
                <a:cs typeface="Calibri" pitchFamily="34" charset="-120"/>
              </a:rPr>
              <a:t>Data stores touched</a:t>
            </a:r>
            <a:endParaRPr lang="en-US" sz="1400" dirty="0"/>
          </a:p>
        </p:txBody>
      </p:sp>
      <p:sp>
        <p:nvSpPr>
          <p:cNvPr id="31" name="Shape 29"/>
          <p:cNvSpPr/>
          <p:nvPr/>
        </p:nvSpPr>
        <p:spPr>
          <a:xfrm>
            <a:off x="457200" y="3520440"/>
            <a:ext cx="2011680" cy="1097280"/>
          </a:xfrm>
          <a:prstGeom prst="rect">
            <a:avLst/>
          </a:prstGeom>
          <a:solidFill>
            <a:srgbClr val="FAF7F2"/>
          </a:solidFill>
          <a:ln w="12700">
            <a:solidFill>
              <a:srgbClr val="BA7A65"/>
            </a:solidFill>
            <a:prstDash val="solid"/>
          </a:ln>
        </p:spPr>
        <p:txBody>
          <a:bodyPr/>
          <a:lstStyle/>
          <a:p>
            <a:endParaRPr lang="en-US"/>
          </a:p>
        </p:txBody>
      </p:sp>
      <p:sp>
        <p:nvSpPr>
          <p:cNvPr id="32" name="Text 30"/>
          <p:cNvSpPr/>
          <p:nvPr/>
        </p:nvSpPr>
        <p:spPr>
          <a:xfrm>
            <a:off x="548640" y="3584448"/>
            <a:ext cx="457200" cy="274320"/>
          </a:xfrm>
          <a:prstGeom prst="rect">
            <a:avLst/>
          </a:prstGeom>
          <a:noFill/>
          <a:ln/>
        </p:spPr>
        <p:txBody>
          <a:bodyPr wrap="square" lIns="0" tIns="0" rIns="0" bIns="0" rtlCol="0" anchor="ctr"/>
          <a:lstStyle/>
          <a:p>
            <a:pPr marL="0" indent="0">
              <a:buNone/>
            </a:pPr>
            <a:r>
              <a:rPr lang="en-US" sz="1100" b="1" dirty="0">
                <a:solidFill>
                  <a:srgbClr val="E34628"/>
                </a:solidFill>
                <a:latin typeface="Calibri" pitchFamily="34" charset="0"/>
                <a:ea typeface="Calibri" pitchFamily="34" charset="-122"/>
                <a:cs typeface="Calibri" pitchFamily="34" charset="-120"/>
              </a:rPr>
              <a:t>D4</a:t>
            </a:r>
            <a:endParaRPr lang="en-US" sz="1100" dirty="0"/>
          </a:p>
        </p:txBody>
      </p:sp>
      <p:sp>
        <p:nvSpPr>
          <p:cNvPr id="33" name="Text 31"/>
          <p:cNvSpPr/>
          <p:nvPr/>
        </p:nvSpPr>
        <p:spPr>
          <a:xfrm>
            <a:off x="548640" y="3822192"/>
            <a:ext cx="1828800" cy="320040"/>
          </a:xfrm>
          <a:prstGeom prst="rect">
            <a:avLst/>
          </a:prstGeom>
          <a:noFill/>
          <a:ln/>
        </p:spPr>
        <p:txBody>
          <a:bodyPr wrap="square" lIns="0" tIns="0" rIns="0" bIns="0" rtlCol="0" anchor="ctr"/>
          <a:lstStyle/>
          <a:p>
            <a:pPr marL="0" indent="0">
              <a:buNone/>
            </a:pPr>
            <a:r>
              <a:rPr lang="en-US" sz="1400" b="1" dirty="0">
                <a:solidFill>
                  <a:srgbClr val="0F3361"/>
                </a:solidFill>
                <a:latin typeface="Calibri" pitchFamily="34" charset="0"/>
                <a:ea typeface="Calibri" pitchFamily="34" charset="-122"/>
                <a:cs typeface="Calibri" pitchFamily="34" charset="-120"/>
              </a:rPr>
              <a:t>persona_rules</a:t>
            </a:r>
            <a:endParaRPr lang="en-US" sz="1400" dirty="0"/>
          </a:p>
        </p:txBody>
      </p:sp>
      <p:sp>
        <p:nvSpPr>
          <p:cNvPr id="34" name="Text 32"/>
          <p:cNvSpPr/>
          <p:nvPr/>
        </p:nvSpPr>
        <p:spPr>
          <a:xfrm>
            <a:off x="548640" y="4114800"/>
            <a:ext cx="1828800" cy="457200"/>
          </a:xfrm>
          <a:prstGeom prst="rect">
            <a:avLst/>
          </a:prstGeom>
          <a:noFill/>
          <a:ln/>
        </p:spPr>
        <p:txBody>
          <a:bodyPr wrap="square" lIns="0" tIns="0" rIns="0" bIns="0" rtlCol="0" anchor="ctr"/>
          <a:lstStyle/>
          <a:p>
            <a:pPr marL="0" indent="0">
              <a:buNone/>
            </a:pPr>
            <a:r>
              <a:rPr lang="en-US" sz="1000" dirty="0">
                <a:solidFill>
                  <a:srgbClr val="1A1F2C"/>
                </a:solidFill>
                <a:latin typeface="Calibri" pitchFamily="34" charset="0"/>
                <a:ea typeface="Calibri" pitchFamily="34" charset="-122"/>
                <a:cs typeface="Calibri" pitchFamily="34" charset="-120"/>
              </a:rPr>
              <a:t>33 rows: answer_text to persona to points</a:t>
            </a:r>
            <a:endParaRPr lang="en-US" sz="1000" dirty="0"/>
          </a:p>
        </p:txBody>
      </p:sp>
      <p:sp>
        <p:nvSpPr>
          <p:cNvPr id="35" name="Shape 33"/>
          <p:cNvSpPr/>
          <p:nvPr/>
        </p:nvSpPr>
        <p:spPr>
          <a:xfrm>
            <a:off x="2587752" y="3520440"/>
            <a:ext cx="2011680" cy="1097280"/>
          </a:xfrm>
          <a:prstGeom prst="rect">
            <a:avLst/>
          </a:prstGeom>
          <a:solidFill>
            <a:srgbClr val="FAF7F2"/>
          </a:solidFill>
          <a:ln w="12700">
            <a:solidFill>
              <a:srgbClr val="BA7A65"/>
            </a:solidFill>
            <a:prstDash val="solid"/>
          </a:ln>
        </p:spPr>
        <p:txBody>
          <a:bodyPr/>
          <a:lstStyle/>
          <a:p>
            <a:endParaRPr lang="en-US"/>
          </a:p>
        </p:txBody>
      </p:sp>
      <p:sp>
        <p:nvSpPr>
          <p:cNvPr id="36" name="Text 34"/>
          <p:cNvSpPr/>
          <p:nvPr/>
        </p:nvSpPr>
        <p:spPr>
          <a:xfrm>
            <a:off x="2679192" y="3584448"/>
            <a:ext cx="457200" cy="274320"/>
          </a:xfrm>
          <a:prstGeom prst="rect">
            <a:avLst/>
          </a:prstGeom>
          <a:noFill/>
          <a:ln/>
        </p:spPr>
        <p:txBody>
          <a:bodyPr wrap="square" lIns="0" tIns="0" rIns="0" bIns="0" rtlCol="0" anchor="ctr"/>
          <a:lstStyle/>
          <a:p>
            <a:pPr marL="0" indent="0">
              <a:buNone/>
            </a:pPr>
            <a:r>
              <a:rPr lang="en-US" sz="1100" b="1" dirty="0">
                <a:solidFill>
                  <a:srgbClr val="E34628"/>
                </a:solidFill>
                <a:latin typeface="Calibri" pitchFamily="34" charset="0"/>
                <a:ea typeface="Calibri" pitchFamily="34" charset="-122"/>
                <a:cs typeface="Calibri" pitchFamily="34" charset="-120"/>
              </a:rPr>
              <a:t>D5</a:t>
            </a:r>
            <a:endParaRPr lang="en-US" sz="1100" dirty="0"/>
          </a:p>
        </p:txBody>
      </p:sp>
      <p:sp>
        <p:nvSpPr>
          <p:cNvPr id="37" name="Text 35"/>
          <p:cNvSpPr/>
          <p:nvPr/>
        </p:nvSpPr>
        <p:spPr>
          <a:xfrm>
            <a:off x="2679192" y="3822192"/>
            <a:ext cx="1828800" cy="320040"/>
          </a:xfrm>
          <a:prstGeom prst="rect">
            <a:avLst/>
          </a:prstGeom>
          <a:noFill/>
          <a:ln/>
        </p:spPr>
        <p:txBody>
          <a:bodyPr wrap="square" lIns="0" tIns="0" rIns="0" bIns="0" rtlCol="0" anchor="ctr"/>
          <a:lstStyle/>
          <a:p>
            <a:pPr marL="0" indent="0">
              <a:buNone/>
            </a:pPr>
            <a:r>
              <a:rPr lang="en-US" sz="1400" b="1" dirty="0">
                <a:solidFill>
                  <a:srgbClr val="0F3361"/>
                </a:solidFill>
                <a:latin typeface="Calibri" pitchFamily="34" charset="0"/>
                <a:ea typeface="Calibri" pitchFamily="34" charset="-122"/>
                <a:cs typeface="Calibri" pitchFamily="34" charset="-120"/>
              </a:rPr>
              <a:t>programs</a:t>
            </a:r>
            <a:endParaRPr lang="en-US" sz="1400" dirty="0"/>
          </a:p>
        </p:txBody>
      </p:sp>
      <p:sp>
        <p:nvSpPr>
          <p:cNvPr id="38" name="Text 36"/>
          <p:cNvSpPr/>
          <p:nvPr/>
        </p:nvSpPr>
        <p:spPr>
          <a:xfrm>
            <a:off x="2679192" y="4114800"/>
            <a:ext cx="1828800" cy="457200"/>
          </a:xfrm>
          <a:prstGeom prst="rect">
            <a:avLst/>
          </a:prstGeom>
          <a:noFill/>
          <a:ln/>
        </p:spPr>
        <p:txBody>
          <a:bodyPr wrap="square" lIns="0" tIns="0" rIns="0" bIns="0" rtlCol="0" anchor="ctr"/>
          <a:lstStyle/>
          <a:p>
            <a:pPr marL="0" indent="0">
              <a:buNone/>
            </a:pPr>
            <a:r>
              <a:rPr lang="en-US" sz="1000" dirty="0">
                <a:solidFill>
                  <a:srgbClr val="1A1F2C"/>
                </a:solidFill>
                <a:latin typeface="Calibri" pitchFamily="34" charset="0"/>
                <a:ea typeface="Calibri" pitchFamily="34" charset="-122"/>
                <a:cs typeface="Calibri" pitchFamily="34" charset="-120"/>
              </a:rPr>
              <a:t>6 rows: slug, name, careers, fees</a:t>
            </a:r>
            <a:endParaRPr lang="en-US" sz="1000" dirty="0"/>
          </a:p>
        </p:txBody>
      </p:sp>
      <p:sp>
        <p:nvSpPr>
          <p:cNvPr id="39" name="Shape 37"/>
          <p:cNvSpPr/>
          <p:nvPr/>
        </p:nvSpPr>
        <p:spPr>
          <a:xfrm>
            <a:off x="4718304" y="3520440"/>
            <a:ext cx="2011680" cy="1097280"/>
          </a:xfrm>
          <a:prstGeom prst="rect">
            <a:avLst/>
          </a:prstGeom>
          <a:solidFill>
            <a:srgbClr val="FAF7F2"/>
          </a:solidFill>
          <a:ln w="12700">
            <a:solidFill>
              <a:srgbClr val="BA7A65"/>
            </a:solidFill>
            <a:prstDash val="solid"/>
          </a:ln>
        </p:spPr>
        <p:txBody>
          <a:bodyPr/>
          <a:lstStyle/>
          <a:p>
            <a:endParaRPr lang="en-US"/>
          </a:p>
        </p:txBody>
      </p:sp>
      <p:sp>
        <p:nvSpPr>
          <p:cNvPr id="40" name="Text 38"/>
          <p:cNvSpPr/>
          <p:nvPr/>
        </p:nvSpPr>
        <p:spPr>
          <a:xfrm>
            <a:off x="4809744" y="3584448"/>
            <a:ext cx="457200" cy="274320"/>
          </a:xfrm>
          <a:prstGeom prst="rect">
            <a:avLst/>
          </a:prstGeom>
          <a:noFill/>
          <a:ln/>
        </p:spPr>
        <p:txBody>
          <a:bodyPr wrap="square" lIns="0" tIns="0" rIns="0" bIns="0" rtlCol="0" anchor="ctr"/>
          <a:lstStyle/>
          <a:p>
            <a:pPr marL="0" indent="0">
              <a:buNone/>
            </a:pPr>
            <a:r>
              <a:rPr lang="en-US" sz="1100" b="1" dirty="0">
                <a:solidFill>
                  <a:srgbClr val="E34628"/>
                </a:solidFill>
                <a:latin typeface="Calibri" pitchFamily="34" charset="0"/>
                <a:ea typeface="Calibri" pitchFamily="34" charset="-122"/>
                <a:cs typeface="Calibri" pitchFamily="34" charset="-120"/>
              </a:rPr>
              <a:t>D3</a:t>
            </a:r>
            <a:endParaRPr lang="en-US" sz="1100" dirty="0"/>
          </a:p>
        </p:txBody>
      </p:sp>
      <p:sp>
        <p:nvSpPr>
          <p:cNvPr id="41" name="Text 39"/>
          <p:cNvSpPr/>
          <p:nvPr/>
        </p:nvSpPr>
        <p:spPr>
          <a:xfrm>
            <a:off x="4809744" y="3822192"/>
            <a:ext cx="1828800" cy="320040"/>
          </a:xfrm>
          <a:prstGeom prst="rect">
            <a:avLst/>
          </a:prstGeom>
          <a:noFill/>
          <a:ln/>
        </p:spPr>
        <p:txBody>
          <a:bodyPr wrap="square" lIns="0" tIns="0" rIns="0" bIns="0" rtlCol="0" anchor="ctr"/>
          <a:lstStyle/>
          <a:p>
            <a:pPr marL="0" indent="0">
              <a:buNone/>
            </a:pPr>
            <a:r>
              <a:rPr lang="en-US" sz="1400" b="1" dirty="0">
                <a:solidFill>
                  <a:srgbClr val="0F3361"/>
                </a:solidFill>
                <a:latin typeface="Calibri" pitchFamily="34" charset="0"/>
                <a:ea typeface="Calibri" pitchFamily="34" charset="-122"/>
                <a:cs typeface="Calibri" pitchFamily="34" charset="-120"/>
              </a:rPr>
              <a:t>quiz_completions</a:t>
            </a:r>
            <a:endParaRPr lang="en-US" sz="1400" dirty="0"/>
          </a:p>
        </p:txBody>
      </p:sp>
      <p:sp>
        <p:nvSpPr>
          <p:cNvPr id="42" name="Text 40"/>
          <p:cNvSpPr/>
          <p:nvPr/>
        </p:nvSpPr>
        <p:spPr>
          <a:xfrm>
            <a:off x="4809744" y="4114800"/>
            <a:ext cx="1828800" cy="457200"/>
          </a:xfrm>
          <a:prstGeom prst="rect">
            <a:avLst/>
          </a:prstGeom>
          <a:noFill/>
          <a:ln/>
        </p:spPr>
        <p:txBody>
          <a:bodyPr wrap="square" lIns="0" tIns="0" rIns="0" bIns="0" rtlCol="0" anchor="ctr"/>
          <a:lstStyle/>
          <a:p>
            <a:pPr marL="0" indent="0">
              <a:buNone/>
            </a:pPr>
            <a:r>
              <a:rPr lang="en-US" sz="1000" dirty="0">
                <a:solidFill>
                  <a:srgbClr val="1A1F2C"/>
                </a:solidFill>
                <a:latin typeface="Calibri" pitchFamily="34" charset="0"/>
                <a:ea typeface="Calibri" pitchFamily="34" charset="-122"/>
                <a:cs typeface="Calibri" pitchFamily="34" charset="-120"/>
              </a:rPr>
              <a:t>Append-only audit: JSON answers + scores</a:t>
            </a:r>
            <a:endParaRPr lang="en-US" sz="1000" dirty="0"/>
          </a:p>
        </p:txBody>
      </p:sp>
      <p:sp>
        <p:nvSpPr>
          <p:cNvPr id="43" name="Shape 41"/>
          <p:cNvSpPr/>
          <p:nvPr/>
        </p:nvSpPr>
        <p:spPr>
          <a:xfrm>
            <a:off x="6848856" y="3520440"/>
            <a:ext cx="2011680" cy="1097280"/>
          </a:xfrm>
          <a:prstGeom prst="rect">
            <a:avLst/>
          </a:prstGeom>
          <a:solidFill>
            <a:srgbClr val="FAF7F2"/>
          </a:solidFill>
          <a:ln w="12700">
            <a:solidFill>
              <a:srgbClr val="BA7A65"/>
            </a:solidFill>
            <a:prstDash val="solid"/>
          </a:ln>
        </p:spPr>
        <p:txBody>
          <a:bodyPr/>
          <a:lstStyle/>
          <a:p>
            <a:endParaRPr lang="en-US"/>
          </a:p>
        </p:txBody>
      </p:sp>
      <p:sp>
        <p:nvSpPr>
          <p:cNvPr id="44" name="Text 42"/>
          <p:cNvSpPr/>
          <p:nvPr/>
        </p:nvSpPr>
        <p:spPr>
          <a:xfrm>
            <a:off x="6940296" y="3584448"/>
            <a:ext cx="457200" cy="274320"/>
          </a:xfrm>
          <a:prstGeom prst="rect">
            <a:avLst/>
          </a:prstGeom>
          <a:noFill/>
          <a:ln/>
        </p:spPr>
        <p:txBody>
          <a:bodyPr wrap="square" lIns="0" tIns="0" rIns="0" bIns="0" rtlCol="0" anchor="ctr"/>
          <a:lstStyle/>
          <a:p>
            <a:pPr marL="0" indent="0">
              <a:buNone/>
            </a:pPr>
            <a:r>
              <a:rPr lang="en-US" sz="1100" b="1" dirty="0">
                <a:solidFill>
                  <a:srgbClr val="E34628"/>
                </a:solidFill>
                <a:latin typeface="Calibri" pitchFamily="34" charset="0"/>
                <a:ea typeface="Calibri" pitchFamily="34" charset="-122"/>
                <a:cs typeface="Calibri" pitchFamily="34" charset="-120"/>
              </a:rPr>
              <a:t>D1</a:t>
            </a:r>
            <a:endParaRPr lang="en-US" sz="1100" dirty="0"/>
          </a:p>
        </p:txBody>
      </p:sp>
      <p:sp>
        <p:nvSpPr>
          <p:cNvPr id="45" name="Text 43"/>
          <p:cNvSpPr/>
          <p:nvPr/>
        </p:nvSpPr>
        <p:spPr>
          <a:xfrm>
            <a:off x="6940296" y="3822192"/>
            <a:ext cx="1828800" cy="320040"/>
          </a:xfrm>
          <a:prstGeom prst="rect">
            <a:avLst/>
          </a:prstGeom>
          <a:noFill/>
          <a:ln/>
        </p:spPr>
        <p:txBody>
          <a:bodyPr wrap="square" lIns="0" tIns="0" rIns="0" bIns="0" rtlCol="0" anchor="ctr"/>
          <a:lstStyle/>
          <a:p>
            <a:pPr marL="0" indent="0">
              <a:buNone/>
            </a:pPr>
            <a:r>
              <a:rPr lang="en-US" sz="1400" b="1" dirty="0">
                <a:solidFill>
                  <a:srgbClr val="0F3361"/>
                </a:solidFill>
                <a:latin typeface="Calibri" pitchFamily="34" charset="0"/>
                <a:ea typeface="Calibri" pitchFamily="34" charset="-122"/>
                <a:cs typeface="Calibri" pitchFamily="34" charset="-120"/>
              </a:rPr>
              <a:t>students</a:t>
            </a:r>
            <a:endParaRPr lang="en-US" sz="1400" dirty="0"/>
          </a:p>
        </p:txBody>
      </p:sp>
      <p:sp>
        <p:nvSpPr>
          <p:cNvPr id="46" name="Text 44"/>
          <p:cNvSpPr/>
          <p:nvPr/>
        </p:nvSpPr>
        <p:spPr>
          <a:xfrm>
            <a:off x="6940296" y="4114800"/>
            <a:ext cx="1828800" cy="457200"/>
          </a:xfrm>
          <a:prstGeom prst="rect">
            <a:avLst/>
          </a:prstGeom>
          <a:noFill/>
          <a:ln/>
        </p:spPr>
        <p:txBody>
          <a:bodyPr wrap="square" lIns="0" tIns="0" rIns="0" bIns="0" rtlCol="0" anchor="ctr"/>
          <a:lstStyle/>
          <a:p>
            <a:pPr marL="0" indent="0">
              <a:buNone/>
            </a:pPr>
            <a:r>
              <a:rPr lang="en-US" sz="1000" dirty="0">
                <a:solidFill>
                  <a:srgbClr val="1A1F2C"/>
                </a:solidFill>
                <a:latin typeface="Calibri" pitchFamily="34" charset="0"/>
                <a:ea typeface="Calibri" pitchFamily="34" charset="-122"/>
                <a:cs typeface="Calibri" pitchFamily="34" charset="-120"/>
              </a:rPr>
              <a:t>Persona + quiz_completed flag updated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56032" cy="256032"/>
          </a:xfrm>
          <a:prstGeom prst="ellipse">
            <a:avLst/>
          </a:prstGeom>
          <a:solidFill>
            <a:srgbClr val="E34628"/>
          </a:solidFill>
          <a:ln w="12700">
            <a:solidFill>
              <a:srgbClr val="E34628"/>
            </a:solidFill>
            <a:prstDash val="solid"/>
          </a:ln>
        </p:spPr>
        <p:txBody>
          <a:bodyPr/>
          <a:lstStyle/>
          <a:p>
            <a:endParaRPr lang="en-US"/>
          </a:p>
        </p:txBody>
      </p:sp>
      <p:sp>
        <p:nvSpPr>
          <p:cNvPr id="3" name="Text 1"/>
          <p:cNvSpPr/>
          <p:nvPr/>
        </p:nvSpPr>
        <p:spPr>
          <a:xfrm>
            <a:off x="868680" y="256032"/>
            <a:ext cx="7772400" cy="548640"/>
          </a:xfrm>
          <a:prstGeom prst="rect">
            <a:avLst/>
          </a:prstGeom>
          <a:noFill/>
          <a:ln/>
        </p:spPr>
        <p:txBody>
          <a:bodyPr wrap="square" lIns="0" tIns="0" rIns="0" bIns="0" rtlCol="0" anchor="ctr"/>
          <a:lstStyle/>
          <a:p>
            <a:pPr marL="0" indent="0">
              <a:buNone/>
            </a:pPr>
            <a:r>
              <a:rPr lang="en-US" sz="3200" b="1" dirty="0">
                <a:solidFill>
                  <a:srgbClr val="0F3361"/>
                </a:solidFill>
                <a:latin typeface="Calibri" pitchFamily="34" charset="0"/>
                <a:ea typeface="Calibri" pitchFamily="34" charset="-122"/>
                <a:cs typeface="Calibri" pitchFamily="34" charset="-120"/>
              </a:rPr>
              <a:t>Tech Personas and Result Page</a:t>
            </a:r>
            <a:endParaRPr lang="en-US" sz="3200" dirty="0"/>
          </a:p>
        </p:txBody>
      </p:sp>
      <p:sp>
        <p:nvSpPr>
          <p:cNvPr id="4" name="Text 2"/>
          <p:cNvSpPr/>
          <p:nvPr/>
        </p:nvSpPr>
        <p:spPr>
          <a:xfrm>
            <a:off x="868680" y="777240"/>
            <a:ext cx="7772400" cy="310896"/>
          </a:xfrm>
          <a:prstGeom prst="rect">
            <a:avLst/>
          </a:prstGeom>
          <a:noFill/>
          <a:ln/>
        </p:spPr>
        <p:txBody>
          <a:bodyPr wrap="square" lIns="0" tIns="0" rIns="0" bIns="0"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Engine output to personalized career match</a:t>
            </a:r>
            <a:endParaRPr lang="en-US" sz="1400" dirty="0"/>
          </a:p>
        </p:txBody>
      </p:sp>
      <p:sp>
        <p:nvSpPr>
          <p:cNvPr id="5" name="Shape 3"/>
          <p:cNvSpPr/>
          <p:nvPr/>
        </p:nvSpPr>
        <p:spPr>
          <a:xfrm>
            <a:off x="457200" y="1170432"/>
            <a:ext cx="8229600" cy="18288"/>
          </a:xfrm>
          <a:prstGeom prst="rect">
            <a:avLst/>
          </a:prstGeom>
          <a:solidFill>
            <a:srgbClr val="E5E7EB"/>
          </a:solidFill>
          <a:ln w="12700">
            <a:solidFill>
              <a:srgbClr val="E5E7EB"/>
            </a:solidFill>
            <a:prstDash val="solid"/>
          </a:ln>
        </p:spPr>
        <p:txBody>
          <a:bodyPr/>
          <a:lstStyle/>
          <a:p>
            <a:endParaRPr lang="en-US"/>
          </a:p>
        </p:txBody>
      </p:sp>
      <p:sp>
        <p:nvSpPr>
          <p:cNvPr id="6" name="Shape 4"/>
          <p:cNvSpPr/>
          <p:nvPr/>
        </p:nvSpPr>
        <p:spPr>
          <a:xfrm>
            <a:off x="457200" y="1417320"/>
            <a:ext cx="1965960" cy="2331720"/>
          </a:xfrm>
          <a:prstGeom prst="rect">
            <a:avLst/>
          </a:prstGeom>
          <a:solidFill>
            <a:srgbClr val="F8FAFC"/>
          </a:solidFill>
          <a:ln w="12700">
            <a:solidFill>
              <a:srgbClr val="E5E7EB"/>
            </a:solidFill>
            <a:prstDash val="solid"/>
          </a:ln>
          <a:effectLst>
            <a:outerShdw blurRad="76200" dist="25400" dir="5400000" algn="bl" rotWithShape="0">
              <a:srgbClr val="000000">
                <a:alpha val="8000"/>
              </a:srgbClr>
            </a:outerShdw>
          </a:effectLst>
        </p:spPr>
        <p:txBody>
          <a:bodyPr/>
          <a:lstStyle/>
          <a:p>
            <a:endParaRPr lang="en-US"/>
          </a:p>
        </p:txBody>
      </p:sp>
      <p:sp>
        <p:nvSpPr>
          <p:cNvPr id="7" name="Shape 5"/>
          <p:cNvSpPr/>
          <p:nvPr/>
        </p:nvSpPr>
        <p:spPr>
          <a:xfrm>
            <a:off x="457200" y="1417320"/>
            <a:ext cx="1965960" cy="91440"/>
          </a:xfrm>
          <a:prstGeom prst="rect">
            <a:avLst/>
          </a:prstGeom>
          <a:solidFill>
            <a:srgbClr val="E34628"/>
          </a:solidFill>
          <a:ln w="12700">
            <a:solidFill>
              <a:srgbClr val="E34628"/>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937260" y="1691640"/>
            <a:ext cx="1005840" cy="1005840"/>
          </a:xfrm>
          <a:prstGeom prst="rect">
            <a:avLst/>
          </a:prstGeom>
        </p:spPr>
      </p:pic>
      <p:sp>
        <p:nvSpPr>
          <p:cNvPr id="9" name="Text 6"/>
          <p:cNvSpPr/>
          <p:nvPr/>
        </p:nvSpPr>
        <p:spPr>
          <a:xfrm>
            <a:off x="548640" y="2788920"/>
            <a:ext cx="1783080" cy="365760"/>
          </a:xfrm>
          <a:prstGeom prst="rect">
            <a:avLst/>
          </a:prstGeom>
          <a:noFill/>
          <a:ln/>
        </p:spPr>
        <p:txBody>
          <a:bodyPr wrap="square" lIns="0" tIns="0" rIns="0" bIns="0" rtlCol="0" anchor="ctr"/>
          <a:lstStyle/>
          <a:p>
            <a:pPr marL="0" indent="0" algn="ctr">
              <a:buNone/>
            </a:pPr>
            <a:r>
              <a:rPr lang="en-US" sz="1600" b="1" dirty="0">
                <a:solidFill>
                  <a:srgbClr val="0F3361"/>
                </a:solidFill>
                <a:latin typeface="Calibri" pitchFamily="34" charset="0"/>
                <a:ea typeface="Calibri" pitchFamily="34" charset="-122"/>
                <a:cs typeface="Calibri" pitchFamily="34" charset="-120"/>
              </a:rPr>
              <a:t>The Creator</a:t>
            </a:r>
            <a:endParaRPr lang="en-US" sz="1600" dirty="0"/>
          </a:p>
        </p:txBody>
      </p:sp>
      <p:sp>
        <p:nvSpPr>
          <p:cNvPr id="10" name="Text 7"/>
          <p:cNvSpPr/>
          <p:nvPr/>
        </p:nvSpPr>
        <p:spPr>
          <a:xfrm>
            <a:off x="548640" y="3154680"/>
            <a:ext cx="1783080" cy="502920"/>
          </a:xfrm>
          <a:prstGeom prst="rect">
            <a:avLst/>
          </a:prstGeom>
          <a:noFill/>
          <a:ln/>
        </p:spPr>
        <p:txBody>
          <a:bodyPr wrap="square" lIns="0" tIns="0" rIns="0" bIns="0" rtlCol="0" anchor="t"/>
          <a:lstStyle/>
          <a:p>
            <a:pPr marL="0" indent="0" algn="ctr">
              <a:buNone/>
            </a:pPr>
            <a:r>
              <a:rPr lang="en-US" sz="1100" i="1" dirty="0">
                <a:solidFill>
                  <a:srgbClr val="6B7280"/>
                </a:solidFill>
                <a:latin typeface="Calibri" pitchFamily="34" charset="0"/>
                <a:ea typeface="Calibri" pitchFamily="34" charset="-122"/>
                <a:cs typeface="Calibri" pitchFamily="34" charset="-120"/>
              </a:rPr>
              <a:t>(Software Eng. + UI/UX)</a:t>
            </a:r>
            <a:endParaRPr lang="en-US" sz="1100" dirty="0"/>
          </a:p>
        </p:txBody>
      </p:sp>
      <p:sp>
        <p:nvSpPr>
          <p:cNvPr id="11" name="Shape 8"/>
          <p:cNvSpPr/>
          <p:nvPr/>
        </p:nvSpPr>
        <p:spPr>
          <a:xfrm>
            <a:off x="2587752" y="1417320"/>
            <a:ext cx="1965960" cy="2331720"/>
          </a:xfrm>
          <a:prstGeom prst="rect">
            <a:avLst/>
          </a:prstGeom>
          <a:solidFill>
            <a:srgbClr val="F8FAFC"/>
          </a:solidFill>
          <a:ln w="12700">
            <a:solidFill>
              <a:srgbClr val="E5E7EB"/>
            </a:solidFill>
            <a:prstDash val="solid"/>
          </a:ln>
          <a:effectLst>
            <a:outerShdw blurRad="76200" dist="25400" dir="5400000" algn="bl" rotWithShape="0">
              <a:srgbClr val="000000">
                <a:alpha val="8000"/>
              </a:srgbClr>
            </a:outerShdw>
          </a:effectLst>
        </p:spPr>
        <p:txBody>
          <a:bodyPr/>
          <a:lstStyle/>
          <a:p>
            <a:endParaRPr lang="en-US"/>
          </a:p>
        </p:txBody>
      </p:sp>
      <p:sp>
        <p:nvSpPr>
          <p:cNvPr id="12" name="Shape 9"/>
          <p:cNvSpPr/>
          <p:nvPr/>
        </p:nvSpPr>
        <p:spPr>
          <a:xfrm>
            <a:off x="2587752" y="1417320"/>
            <a:ext cx="1965960" cy="91440"/>
          </a:xfrm>
          <a:prstGeom prst="rect">
            <a:avLst/>
          </a:prstGeom>
          <a:solidFill>
            <a:srgbClr val="0F3361"/>
          </a:solidFill>
          <a:ln w="12700">
            <a:solidFill>
              <a:srgbClr val="0F3361"/>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3067812" y="1691640"/>
            <a:ext cx="1005840" cy="1005840"/>
          </a:xfrm>
          <a:prstGeom prst="rect">
            <a:avLst/>
          </a:prstGeom>
        </p:spPr>
      </p:pic>
      <p:sp>
        <p:nvSpPr>
          <p:cNvPr id="14" name="Text 10"/>
          <p:cNvSpPr/>
          <p:nvPr/>
        </p:nvSpPr>
        <p:spPr>
          <a:xfrm>
            <a:off x="2679192" y="2788920"/>
            <a:ext cx="1783080" cy="365760"/>
          </a:xfrm>
          <a:prstGeom prst="rect">
            <a:avLst/>
          </a:prstGeom>
          <a:noFill/>
          <a:ln/>
        </p:spPr>
        <p:txBody>
          <a:bodyPr wrap="square" lIns="0" tIns="0" rIns="0" bIns="0" rtlCol="0" anchor="ctr"/>
          <a:lstStyle/>
          <a:p>
            <a:pPr marL="0" indent="0" algn="ctr">
              <a:buNone/>
            </a:pPr>
            <a:r>
              <a:rPr lang="en-US" sz="1600" b="1" dirty="0">
                <a:solidFill>
                  <a:srgbClr val="0F3361"/>
                </a:solidFill>
                <a:latin typeface="Calibri" pitchFamily="34" charset="0"/>
                <a:ea typeface="Calibri" pitchFamily="34" charset="-122"/>
                <a:cs typeface="Calibri" pitchFamily="34" charset="-120"/>
              </a:rPr>
              <a:t>The Solver</a:t>
            </a:r>
            <a:endParaRPr lang="en-US" sz="1600" dirty="0"/>
          </a:p>
        </p:txBody>
      </p:sp>
      <p:sp>
        <p:nvSpPr>
          <p:cNvPr id="15" name="Text 11"/>
          <p:cNvSpPr/>
          <p:nvPr/>
        </p:nvSpPr>
        <p:spPr>
          <a:xfrm>
            <a:off x="2679192" y="3154680"/>
            <a:ext cx="1783080" cy="502920"/>
          </a:xfrm>
          <a:prstGeom prst="rect">
            <a:avLst/>
          </a:prstGeom>
          <a:noFill/>
          <a:ln/>
        </p:spPr>
        <p:txBody>
          <a:bodyPr wrap="square" lIns="0" tIns="0" rIns="0" bIns="0" rtlCol="0" anchor="t"/>
          <a:lstStyle/>
          <a:p>
            <a:pPr marL="0" indent="0" algn="ctr">
              <a:buNone/>
            </a:pPr>
            <a:r>
              <a:rPr lang="en-US" sz="1100" i="1" dirty="0">
                <a:solidFill>
                  <a:srgbClr val="6B7280"/>
                </a:solidFill>
                <a:latin typeface="Calibri" pitchFamily="34" charset="0"/>
                <a:ea typeface="Calibri" pitchFamily="34" charset="-122"/>
                <a:cs typeface="Calibri" pitchFamily="34" charset="-120"/>
              </a:rPr>
              <a:t>(Backend + AI Systems)</a:t>
            </a:r>
            <a:endParaRPr lang="en-US" sz="1100" dirty="0"/>
          </a:p>
        </p:txBody>
      </p:sp>
      <p:sp>
        <p:nvSpPr>
          <p:cNvPr id="16" name="Shape 12"/>
          <p:cNvSpPr/>
          <p:nvPr/>
        </p:nvSpPr>
        <p:spPr>
          <a:xfrm>
            <a:off x="4718304" y="1417320"/>
            <a:ext cx="1965960" cy="2331720"/>
          </a:xfrm>
          <a:prstGeom prst="rect">
            <a:avLst/>
          </a:prstGeom>
          <a:solidFill>
            <a:srgbClr val="F8FAFC"/>
          </a:solidFill>
          <a:ln w="12700">
            <a:solidFill>
              <a:srgbClr val="E5E7EB"/>
            </a:solidFill>
            <a:prstDash val="solid"/>
          </a:ln>
          <a:effectLst>
            <a:outerShdw blurRad="76200" dist="25400" dir="5400000" algn="bl" rotWithShape="0">
              <a:srgbClr val="000000">
                <a:alpha val="8000"/>
              </a:srgbClr>
            </a:outerShdw>
          </a:effectLst>
        </p:spPr>
        <p:txBody>
          <a:bodyPr/>
          <a:lstStyle/>
          <a:p>
            <a:endParaRPr lang="en-US"/>
          </a:p>
        </p:txBody>
      </p:sp>
      <p:sp>
        <p:nvSpPr>
          <p:cNvPr id="17" name="Shape 13"/>
          <p:cNvSpPr/>
          <p:nvPr/>
        </p:nvSpPr>
        <p:spPr>
          <a:xfrm>
            <a:off x="4718304" y="1417320"/>
            <a:ext cx="1965960" cy="91440"/>
          </a:xfrm>
          <a:prstGeom prst="rect">
            <a:avLst/>
          </a:prstGeom>
          <a:solidFill>
            <a:srgbClr val="BA7A65"/>
          </a:solidFill>
          <a:ln w="12700">
            <a:solidFill>
              <a:srgbClr val="BA7A65"/>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5198364" y="1691640"/>
            <a:ext cx="1005840" cy="1005840"/>
          </a:xfrm>
          <a:prstGeom prst="rect">
            <a:avLst/>
          </a:prstGeom>
        </p:spPr>
      </p:pic>
      <p:sp>
        <p:nvSpPr>
          <p:cNvPr id="19" name="Text 14"/>
          <p:cNvSpPr/>
          <p:nvPr/>
        </p:nvSpPr>
        <p:spPr>
          <a:xfrm>
            <a:off x="4809744" y="2788920"/>
            <a:ext cx="1783080" cy="365760"/>
          </a:xfrm>
          <a:prstGeom prst="rect">
            <a:avLst/>
          </a:prstGeom>
          <a:noFill/>
          <a:ln/>
        </p:spPr>
        <p:txBody>
          <a:bodyPr wrap="square" lIns="0" tIns="0" rIns="0" bIns="0" rtlCol="0" anchor="ctr"/>
          <a:lstStyle/>
          <a:p>
            <a:pPr marL="0" indent="0" algn="ctr">
              <a:buNone/>
            </a:pPr>
            <a:r>
              <a:rPr lang="en-US" sz="1600" b="1" dirty="0">
                <a:solidFill>
                  <a:srgbClr val="0F3361"/>
                </a:solidFill>
                <a:latin typeface="Calibri" pitchFamily="34" charset="0"/>
                <a:ea typeface="Calibri" pitchFamily="34" charset="-122"/>
                <a:cs typeface="Calibri" pitchFamily="34" charset="-120"/>
              </a:rPr>
              <a:t>The Guardian</a:t>
            </a:r>
            <a:endParaRPr lang="en-US" sz="1600" dirty="0"/>
          </a:p>
        </p:txBody>
      </p:sp>
      <p:sp>
        <p:nvSpPr>
          <p:cNvPr id="20" name="Text 15"/>
          <p:cNvSpPr/>
          <p:nvPr/>
        </p:nvSpPr>
        <p:spPr>
          <a:xfrm>
            <a:off x="4809744" y="3154680"/>
            <a:ext cx="1783080" cy="502920"/>
          </a:xfrm>
          <a:prstGeom prst="rect">
            <a:avLst/>
          </a:prstGeom>
          <a:noFill/>
          <a:ln/>
        </p:spPr>
        <p:txBody>
          <a:bodyPr wrap="square" lIns="0" tIns="0" rIns="0" bIns="0" rtlCol="0" anchor="t"/>
          <a:lstStyle/>
          <a:p>
            <a:pPr marL="0" indent="0" algn="ctr">
              <a:buNone/>
            </a:pPr>
            <a:r>
              <a:rPr lang="en-US" sz="1100" i="1" dirty="0">
                <a:solidFill>
                  <a:srgbClr val="6B7280"/>
                </a:solidFill>
                <a:latin typeface="Calibri" pitchFamily="34" charset="0"/>
                <a:ea typeface="Calibri" pitchFamily="34" charset="-122"/>
                <a:cs typeface="Calibri" pitchFamily="34" charset="-120"/>
              </a:rPr>
              <a:t>(Cybersecurity)</a:t>
            </a:r>
            <a:endParaRPr lang="en-US" sz="1100" dirty="0"/>
          </a:p>
        </p:txBody>
      </p:sp>
      <p:sp>
        <p:nvSpPr>
          <p:cNvPr id="21" name="Shape 16"/>
          <p:cNvSpPr/>
          <p:nvPr/>
        </p:nvSpPr>
        <p:spPr>
          <a:xfrm>
            <a:off x="6848856" y="1417320"/>
            <a:ext cx="1965960" cy="2331720"/>
          </a:xfrm>
          <a:prstGeom prst="rect">
            <a:avLst/>
          </a:prstGeom>
          <a:solidFill>
            <a:srgbClr val="F8FAFC"/>
          </a:solidFill>
          <a:ln w="12700">
            <a:solidFill>
              <a:srgbClr val="E5E7EB"/>
            </a:solidFill>
            <a:prstDash val="solid"/>
          </a:ln>
          <a:effectLst>
            <a:outerShdw blurRad="76200" dist="25400" dir="5400000" algn="bl" rotWithShape="0">
              <a:srgbClr val="000000">
                <a:alpha val="8000"/>
              </a:srgbClr>
            </a:outerShdw>
          </a:effectLst>
        </p:spPr>
        <p:txBody>
          <a:bodyPr/>
          <a:lstStyle/>
          <a:p>
            <a:endParaRPr lang="en-US"/>
          </a:p>
        </p:txBody>
      </p:sp>
      <p:sp>
        <p:nvSpPr>
          <p:cNvPr id="22" name="Shape 17"/>
          <p:cNvSpPr/>
          <p:nvPr/>
        </p:nvSpPr>
        <p:spPr>
          <a:xfrm>
            <a:off x="6848856" y="1417320"/>
            <a:ext cx="1965960" cy="91440"/>
          </a:xfrm>
          <a:prstGeom prst="rect">
            <a:avLst/>
          </a:prstGeom>
          <a:solidFill>
            <a:srgbClr val="0F3361"/>
          </a:solidFill>
          <a:ln w="12700">
            <a:solidFill>
              <a:srgbClr val="0F3361"/>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7328916" y="1691640"/>
            <a:ext cx="1005840" cy="1005840"/>
          </a:xfrm>
          <a:prstGeom prst="rect">
            <a:avLst/>
          </a:prstGeom>
        </p:spPr>
      </p:pic>
      <p:sp>
        <p:nvSpPr>
          <p:cNvPr id="24" name="Text 18"/>
          <p:cNvSpPr/>
          <p:nvPr/>
        </p:nvSpPr>
        <p:spPr>
          <a:xfrm>
            <a:off x="6940296" y="2788920"/>
            <a:ext cx="1783080" cy="365760"/>
          </a:xfrm>
          <a:prstGeom prst="rect">
            <a:avLst/>
          </a:prstGeom>
          <a:noFill/>
          <a:ln/>
        </p:spPr>
        <p:txBody>
          <a:bodyPr wrap="square" lIns="0" tIns="0" rIns="0" bIns="0" rtlCol="0" anchor="ctr"/>
          <a:lstStyle/>
          <a:p>
            <a:pPr marL="0" indent="0" algn="ctr">
              <a:buNone/>
            </a:pPr>
            <a:r>
              <a:rPr lang="en-US" sz="1600" b="1" dirty="0">
                <a:solidFill>
                  <a:srgbClr val="0F3361"/>
                </a:solidFill>
                <a:latin typeface="Calibri" pitchFamily="34" charset="0"/>
                <a:ea typeface="Calibri" pitchFamily="34" charset="-122"/>
                <a:cs typeface="Calibri" pitchFamily="34" charset="-120"/>
              </a:rPr>
              <a:t>The Analyst</a:t>
            </a:r>
            <a:endParaRPr lang="en-US" sz="1600" dirty="0"/>
          </a:p>
        </p:txBody>
      </p:sp>
      <p:sp>
        <p:nvSpPr>
          <p:cNvPr id="25" name="Text 19"/>
          <p:cNvSpPr/>
          <p:nvPr/>
        </p:nvSpPr>
        <p:spPr>
          <a:xfrm>
            <a:off x="6940296" y="3154680"/>
            <a:ext cx="1783080" cy="502920"/>
          </a:xfrm>
          <a:prstGeom prst="rect">
            <a:avLst/>
          </a:prstGeom>
          <a:noFill/>
          <a:ln/>
        </p:spPr>
        <p:txBody>
          <a:bodyPr wrap="square" lIns="0" tIns="0" rIns="0" bIns="0" rtlCol="0" anchor="t"/>
          <a:lstStyle/>
          <a:p>
            <a:pPr marL="0" indent="0" algn="ctr">
              <a:buNone/>
            </a:pPr>
            <a:r>
              <a:rPr lang="en-US" sz="1100" i="1" dirty="0">
                <a:solidFill>
                  <a:srgbClr val="6B7280"/>
                </a:solidFill>
                <a:latin typeface="Calibri" pitchFamily="34" charset="0"/>
                <a:ea typeface="Calibri" pitchFamily="34" charset="-122"/>
                <a:cs typeface="Calibri" pitchFamily="34" charset="-120"/>
              </a:rPr>
              <a:t>(Data Science + Info Systems)</a:t>
            </a:r>
            <a:endParaRPr lang="en-US" sz="1100" dirty="0"/>
          </a:p>
        </p:txBody>
      </p:sp>
      <p:sp>
        <p:nvSpPr>
          <p:cNvPr id="26" name="Shape 20"/>
          <p:cNvSpPr/>
          <p:nvPr/>
        </p:nvSpPr>
        <p:spPr>
          <a:xfrm>
            <a:off x="457200" y="3931920"/>
            <a:ext cx="8229600" cy="777240"/>
          </a:xfrm>
          <a:prstGeom prst="rect">
            <a:avLst/>
          </a:prstGeom>
          <a:solidFill>
            <a:srgbClr val="0F3361"/>
          </a:solidFill>
          <a:ln w="12700">
            <a:solidFill>
              <a:srgbClr val="0F3361"/>
            </a:solidFill>
            <a:prstDash val="solid"/>
          </a:ln>
        </p:spPr>
        <p:txBody>
          <a:bodyPr/>
          <a:lstStyle/>
          <a:p>
            <a:endParaRPr lang="en-US"/>
          </a:p>
        </p:txBody>
      </p:sp>
      <p:sp>
        <p:nvSpPr>
          <p:cNvPr id="27" name="Text 21"/>
          <p:cNvSpPr/>
          <p:nvPr/>
        </p:nvSpPr>
        <p:spPr>
          <a:xfrm>
            <a:off x="640080" y="4041648"/>
            <a:ext cx="2377440" cy="594360"/>
          </a:xfrm>
          <a:prstGeom prst="rect">
            <a:avLst/>
          </a:prstGeom>
          <a:noFill/>
          <a:ln/>
        </p:spPr>
        <p:txBody>
          <a:bodyPr wrap="square" lIns="0" tIns="0" rIns="0" bIns="0" rtlCol="0" anchor="ctr"/>
          <a:lstStyle/>
          <a:p>
            <a:pPr marL="0" indent="0">
              <a:buNone/>
            </a:pPr>
            <a:r>
              <a:rPr lang="en-US" sz="1300" b="1" dirty="0">
                <a:solidFill>
                  <a:srgbClr val="E34628"/>
                </a:solidFill>
                <a:latin typeface="Calibri" pitchFamily="34" charset="0"/>
                <a:ea typeface="Calibri" pitchFamily="34" charset="-122"/>
                <a:cs typeface="Calibri" pitchFamily="34" charset="-120"/>
              </a:rPr>
              <a:t>Result page delivers:</a:t>
            </a:r>
            <a:endParaRPr lang="en-US" sz="1300" dirty="0"/>
          </a:p>
        </p:txBody>
      </p:sp>
      <p:sp>
        <p:nvSpPr>
          <p:cNvPr id="28" name="Text 22"/>
          <p:cNvSpPr/>
          <p:nvPr/>
        </p:nvSpPr>
        <p:spPr>
          <a:xfrm>
            <a:off x="2926080" y="4041648"/>
            <a:ext cx="5669280" cy="5943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Radar chart score breakdown   |   Persona reveal with traits   |   Top 3 ranked ICT programs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56032" cy="256032"/>
          </a:xfrm>
          <a:prstGeom prst="ellipse">
            <a:avLst/>
          </a:prstGeom>
          <a:solidFill>
            <a:srgbClr val="E34628"/>
          </a:solidFill>
          <a:ln w="12700">
            <a:solidFill>
              <a:srgbClr val="E34628"/>
            </a:solidFill>
            <a:prstDash val="solid"/>
          </a:ln>
        </p:spPr>
        <p:txBody>
          <a:bodyPr/>
          <a:lstStyle/>
          <a:p>
            <a:endParaRPr lang="en-US"/>
          </a:p>
        </p:txBody>
      </p:sp>
      <p:sp>
        <p:nvSpPr>
          <p:cNvPr id="3" name="Text 1"/>
          <p:cNvSpPr/>
          <p:nvPr/>
        </p:nvSpPr>
        <p:spPr>
          <a:xfrm>
            <a:off x="868680" y="256032"/>
            <a:ext cx="7772400" cy="548640"/>
          </a:xfrm>
          <a:prstGeom prst="rect">
            <a:avLst/>
          </a:prstGeom>
          <a:noFill/>
          <a:ln/>
        </p:spPr>
        <p:txBody>
          <a:bodyPr wrap="square" lIns="0" tIns="0" rIns="0" bIns="0" rtlCol="0" anchor="ctr"/>
          <a:lstStyle/>
          <a:p>
            <a:pPr marL="0" indent="0">
              <a:buNone/>
            </a:pPr>
            <a:r>
              <a:rPr lang="en-US" sz="3200" b="1" dirty="0">
                <a:solidFill>
                  <a:srgbClr val="0F3361"/>
                </a:solidFill>
                <a:latin typeface="Calibri" pitchFamily="34" charset="0"/>
                <a:ea typeface="Calibri" pitchFamily="34" charset="-122"/>
                <a:cs typeface="Calibri" pitchFamily="34" charset="-120"/>
              </a:rPr>
              <a:t>Programs: Browse, Detail, Compare</a:t>
            </a:r>
            <a:endParaRPr lang="en-US" sz="3200" dirty="0"/>
          </a:p>
        </p:txBody>
      </p:sp>
      <p:sp>
        <p:nvSpPr>
          <p:cNvPr id="4" name="Text 2"/>
          <p:cNvSpPr/>
          <p:nvPr/>
        </p:nvSpPr>
        <p:spPr>
          <a:xfrm>
            <a:off x="868680" y="777240"/>
            <a:ext cx="7772400" cy="310896"/>
          </a:xfrm>
          <a:prstGeom prst="rect">
            <a:avLst/>
          </a:prstGeom>
          <a:noFill/>
          <a:ln/>
        </p:spPr>
        <p:txBody>
          <a:bodyPr wrap="square" lIns="0" tIns="0" rIns="0" bIns="0"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Three lenses on the same six UNITEN ICT programs</a:t>
            </a:r>
            <a:endParaRPr lang="en-US" sz="1400" dirty="0"/>
          </a:p>
        </p:txBody>
      </p:sp>
      <p:sp>
        <p:nvSpPr>
          <p:cNvPr id="5" name="Shape 3"/>
          <p:cNvSpPr/>
          <p:nvPr/>
        </p:nvSpPr>
        <p:spPr>
          <a:xfrm>
            <a:off x="457200" y="1170432"/>
            <a:ext cx="8229600" cy="18288"/>
          </a:xfrm>
          <a:prstGeom prst="rect">
            <a:avLst/>
          </a:prstGeom>
          <a:solidFill>
            <a:srgbClr val="E5E7EB"/>
          </a:solidFill>
          <a:ln w="12700">
            <a:solidFill>
              <a:srgbClr val="E5E7EB"/>
            </a:solidFill>
            <a:prstDash val="solid"/>
          </a:ln>
        </p:spPr>
        <p:txBody>
          <a:bodyPr/>
          <a:lstStyle/>
          <a:p>
            <a:endParaRPr lang="en-US"/>
          </a:p>
        </p:txBody>
      </p:sp>
      <p:sp>
        <p:nvSpPr>
          <p:cNvPr id="6" name="Shape 4"/>
          <p:cNvSpPr/>
          <p:nvPr/>
        </p:nvSpPr>
        <p:spPr>
          <a:xfrm>
            <a:off x="457200" y="1417320"/>
            <a:ext cx="2697480" cy="3246120"/>
          </a:xfrm>
          <a:prstGeom prst="rect">
            <a:avLst/>
          </a:prstGeom>
          <a:solidFill>
            <a:srgbClr val="FFFFFF"/>
          </a:solidFill>
          <a:ln w="25400">
            <a:solidFill>
              <a:srgbClr val="0F3361"/>
            </a:solidFill>
            <a:prstDash val="solid"/>
          </a:ln>
          <a:effectLst>
            <a:outerShdw blurRad="76200" dist="25400" dir="5400000" algn="bl" rotWithShape="0">
              <a:srgbClr val="000000">
                <a:alpha val="8000"/>
              </a:srgbClr>
            </a:outerShdw>
          </a:effectLst>
        </p:spPr>
        <p:txBody>
          <a:bodyPr/>
          <a:lstStyle/>
          <a:p>
            <a:endParaRPr lang="en-US"/>
          </a:p>
        </p:txBody>
      </p:sp>
      <p:sp>
        <p:nvSpPr>
          <p:cNvPr id="7" name="Shape 5"/>
          <p:cNvSpPr/>
          <p:nvPr/>
        </p:nvSpPr>
        <p:spPr>
          <a:xfrm>
            <a:off x="457200" y="1417320"/>
            <a:ext cx="2697480" cy="868680"/>
          </a:xfrm>
          <a:prstGeom prst="rect">
            <a:avLst/>
          </a:prstGeom>
          <a:solidFill>
            <a:srgbClr val="0F3361"/>
          </a:solidFill>
          <a:ln w="12700">
            <a:solidFill>
              <a:srgbClr val="0F3361"/>
            </a:solidFill>
            <a:prstDash val="solid"/>
          </a:ln>
        </p:spPr>
        <p:txBody>
          <a:bodyPr/>
          <a:lstStyle/>
          <a:p>
            <a:endParaRPr lang="en-US"/>
          </a:p>
        </p:txBody>
      </p:sp>
      <p:sp>
        <p:nvSpPr>
          <p:cNvPr id="8" name="Text 6"/>
          <p:cNvSpPr/>
          <p:nvPr/>
        </p:nvSpPr>
        <p:spPr>
          <a:xfrm>
            <a:off x="640080" y="1554480"/>
            <a:ext cx="233172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Browse all</a:t>
            </a:r>
            <a:endParaRPr lang="en-US" sz="1800" dirty="0"/>
          </a:p>
        </p:txBody>
      </p:sp>
      <p:sp>
        <p:nvSpPr>
          <p:cNvPr id="9" name="Text 7"/>
          <p:cNvSpPr/>
          <p:nvPr/>
        </p:nvSpPr>
        <p:spPr>
          <a:xfrm>
            <a:off x="640080" y="1920240"/>
            <a:ext cx="2331720" cy="274320"/>
          </a:xfrm>
          <a:prstGeom prst="rect">
            <a:avLst/>
          </a:prstGeom>
          <a:noFill/>
          <a:ln/>
        </p:spPr>
        <p:txBody>
          <a:bodyPr wrap="square" lIns="0" tIns="0" rIns="0" bIns="0" rtlCol="0" anchor="ctr"/>
          <a:lstStyle/>
          <a:p>
            <a:pPr marL="0" indent="0">
              <a:buNone/>
            </a:pPr>
            <a:r>
              <a:rPr lang="en-US" sz="1100" dirty="0">
                <a:solidFill>
                  <a:srgbClr val="FFFFFF">
                    <a:alpha val="75000"/>
                  </a:srgbClr>
                </a:solidFill>
                <a:latin typeface="Consolas" pitchFamily="34" charset="0"/>
                <a:ea typeface="Consolas" pitchFamily="34" charset="-122"/>
                <a:cs typeface="Consolas" pitchFamily="34" charset="-120"/>
              </a:rPr>
              <a:t>/programs</a:t>
            </a:r>
            <a:endParaRPr lang="en-US" sz="1100" dirty="0"/>
          </a:p>
        </p:txBody>
      </p:sp>
      <p:sp>
        <p:nvSpPr>
          <p:cNvPr id="10" name="Text 8"/>
          <p:cNvSpPr/>
          <p:nvPr/>
        </p:nvSpPr>
        <p:spPr>
          <a:xfrm>
            <a:off x="640080" y="2423160"/>
            <a:ext cx="2331720" cy="210312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A1F2C"/>
                </a:solidFill>
                <a:latin typeface="Calibri" pitchFamily="34" charset="0"/>
                <a:ea typeface="Calibri" pitchFamily="34" charset="-122"/>
                <a:cs typeface="Calibri" pitchFamily="34" charset="-120"/>
              </a:rPr>
              <a:t>Card grid with icon, name, short description</a:t>
            </a:r>
            <a:endParaRPr lang="en-US" sz="1250" dirty="0"/>
          </a:p>
          <a:p>
            <a:pPr marL="342900" indent="-342900">
              <a:spcAft>
                <a:spcPts val="800"/>
              </a:spcAft>
              <a:buSzPct val="100000"/>
              <a:buChar char="●"/>
            </a:pPr>
            <a:r>
              <a:rPr lang="en-US" sz="1250" dirty="0">
                <a:solidFill>
                  <a:srgbClr val="1A1F2C"/>
                </a:solidFill>
                <a:latin typeface="Calibri" pitchFamily="34" charset="0"/>
                <a:ea typeface="Calibri" pitchFamily="34" charset="-122"/>
                <a:cs typeface="Calibri" pitchFamily="34" charset="-120"/>
              </a:rPr>
              <a:t>Search and filter by area of interest</a:t>
            </a:r>
            <a:endParaRPr lang="en-US" sz="1250" dirty="0"/>
          </a:p>
          <a:p>
            <a:pPr marL="342900" indent="-342900">
              <a:spcAft>
                <a:spcPts val="800"/>
              </a:spcAft>
              <a:buSzPct val="100000"/>
              <a:buChar char="●"/>
            </a:pPr>
            <a:r>
              <a:rPr lang="en-US" sz="1250" dirty="0">
                <a:solidFill>
                  <a:srgbClr val="1A1F2C"/>
                </a:solidFill>
                <a:latin typeface="Calibri" pitchFamily="34" charset="0"/>
                <a:ea typeface="Calibri" pitchFamily="34" charset="-122"/>
                <a:cs typeface="Calibri" pitchFamily="34" charset="-120"/>
              </a:rPr>
              <a:t>One-click 'View Details' on each card</a:t>
            </a:r>
            <a:endParaRPr lang="en-US" sz="1250" dirty="0"/>
          </a:p>
        </p:txBody>
      </p:sp>
      <p:sp>
        <p:nvSpPr>
          <p:cNvPr id="11" name="Shape 9"/>
          <p:cNvSpPr/>
          <p:nvPr/>
        </p:nvSpPr>
        <p:spPr>
          <a:xfrm>
            <a:off x="3319272" y="1417320"/>
            <a:ext cx="2697480" cy="3246120"/>
          </a:xfrm>
          <a:prstGeom prst="rect">
            <a:avLst/>
          </a:prstGeom>
          <a:solidFill>
            <a:srgbClr val="FFFFFF"/>
          </a:solidFill>
          <a:ln w="25400">
            <a:solidFill>
              <a:srgbClr val="E34628"/>
            </a:solidFill>
            <a:prstDash val="solid"/>
          </a:ln>
          <a:effectLst>
            <a:outerShdw blurRad="76200" dist="25400" dir="5400000" algn="bl" rotWithShape="0">
              <a:srgbClr val="000000">
                <a:alpha val="8000"/>
              </a:srgbClr>
            </a:outerShdw>
          </a:effectLst>
        </p:spPr>
        <p:txBody>
          <a:bodyPr/>
          <a:lstStyle/>
          <a:p>
            <a:endParaRPr lang="en-US"/>
          </a:p>
        </p:txBody>
      </p:sp>
      <p:sp>
        <p:nvSpPr>
          <p:cNvPr id="12" name="Shape 10"/>
          <p:cNvSpPr/>
          <p:nvPr/>
        </p:nvSpPr>
        <p:spPr>
          <a:xfrm>
            <a:off x="3319272" y="1417320"/>
            <a:ext cx="2697480" cy="868680"/>
          </a:xfrm>
          <a:prstGeom prst="rect">
            <a:avLst/>
          </a:prstGeom>
          <a:solidFill>
            <a:srgbClr val="E34628"/>
          </a:solidFill>
          <a:ln w="12700">
            <a:solidFill>
              <a:srgbClr val="E34628"/>
            </a:solidFill>
            <a:prstDash val="solid"/>
          </a:ln>
        </p:spPr>
        <p:txBody>
          <a:bodyPr/>
          <a:lstStyle/>
          <a:p>
            <a:endParaRPr lang="en-US"/>
          </a:p>
        </p:txBody>
      </p:sp>
      <p:sp>
        <p:nvSpPr>
          <p:cNvPr id="13" name="Text 11"/>
          <p:cNvSpPr/>
          <p:nvPr/>
        </p:nvSpPr>
        <p:spPr>
          <a:xfrm>
            <a:off x="3502152" y="1554480"/>
            <a:ext cx="233172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Program details</a:t>
            </a:r>
            <a:endParaRPr lang="en-US" sz="1800" dirty="0"/>
          </a:p>
        </p:txBody>
      </p:sp>
      <p:sp>
        <p:nvSpPr>
          <p:cNvPr id="14" name="Text 12"/>
          <p:cNvSpPr/>
          <p:nvPr/>
        </p:nvSpPr>
        <p:spPr>
          <a:xfrm>
            <a:off x="3502152" y="1920240"/>
            <a:ext cx="2331720" cy="274320"/>
          </a:xfrm>
          <a:prstGeom prst="rect">
            <a:avLst/>
          </a:prstGeom>
          <a:noFill/>
          <a:ln/>
        </p:spPr>
        <p:txBody>
          <a:bodyPr wrap="square" lIns="0" tIns="0" rIns="0" bIns="0" rtlCol="0" anchor="ctr"/>
          <a:lstStyle/>
          <a:p>
            <a:pPr marL="0" indent="0">
              <a:buNone/>
            </a:pPr>
            <a:r>
              <a:rPr lang="en-US" sz="1100" dirty="0">
                <a:solidFill>
                  <a:srgbClr val="FFFFFF">
                    <a:alpha val="75000"/>
                  </a:srgbClr>
                </a:solidFill>
                <a:latin typeface="Consolas" pitchFamily="34" charset="0"/>
                <a:ea typeface="Consolas" pitchFamily="34" charset="-122"/>
                <a:cs typeface="Consolas" pitchFamily="34" charset="-120"/>
              </a:rPr>
              <a:t>/program/:slug</a:t>
            </a:r>
            <a:endParaRPr lang="en-US" sz="1100" dirty="0"/>
          </a:p>
        </p:txBody>
      </p:sp>
      <p:sp>
        <p:nvSpPr>
          <p:cNvPr id="15" name="Text 13"/>
          <p:cNvSpPr/>
          <p:nvPr/>
        </p:nvSpPr>
        <p:spPr>
          <a:xfrm>
            <a:off x="3502152" y="2423160"/>
            <a:ext cx="2331720" cy="210312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A1F2C"/>
                </a:solidFill>
                <a:latin typeface="Calibri" pitchFamily="34" charset="0"/>
                <a:ea typeface="Calibri" pitchFamily="34" charset="-122"/>
                <a:cs typeface="Calibri" pitchFamily="34" charset="-120"/>
              </a:rPr>
              <a:t>Duration, fees (RM), intake months, campus</a:t>
            </a:r>
            <a:endParaRPr lang="en-US" sz="1250" dirty="0"/>
          </a:p>
          <a:p>
            <a:pPr marL="342900" indent="-342900">
              <a:spcAft>
                <a:spcPts val="800"/>
              </a:spcAft>
              <a:buSzPct val="100000"/>
              <a:buChar char="●"/>
            </a:pPr>
            <a:r>
              <a:rPr lang="en-US" sz="1250" dirty="0">
                <a:solidFill>
                  <a:srgbClr val="1A1F2C"/>
                </a:solidFill>
                <a:latin typeface="Calibri" pitchFamily="34" charset="0"/>
                <a:ea typeface="Calibri" pitchFamily="34" charset="-122"/>
                <a:cs typeface="Calibri" pitchFamily="34" charset="-120"/>
              </a:rPr>
              <a:t>SPM entry requirements (credits, subjects)</a:t>
            </a:r>
            <a:endParaRPr lang="en-US" sz="1250" dirty="0"/>
          </a:p>
          <a:p>
            <a:pPr marL="342900" indent="-342900">
              <a:spcAft>
                <a:spcPts val="800"/>
              </a:spcAft>
              <a:buSzPct val="100000"/>
              <a:buChar char="●"/>
            </a:pPr>
            <a:r>
              <a:rPr lang="en-US" sz="1250" dirty="0">
                <a:solidFill>
                  <a:srgbClr val="1A1F2C"/>
                </a:solidFill>
                <a:latin typeface="Calibri" pitchFamily="34" charset="0"/>
                <a:ea typeface="Calibri" pitchFamily="34" charset="-122"/>
                <a:cs typeface="Calibri" pitchFamily="34" charset="-120"/>
              </a:rPr>
              <a:t>Career outcomes + external UNITEN link</a:t>
            </a:r>
            <a:endParaRPr lang="en-US" sz="1250" dirty="0"/>
          </a:p>
        </p:txBody>
      </p:sp>
      <p:sp>
        <p:nvSpPr>
          <p:cNvPr id="16" name="Shape 14"/>
          <p:cNvSpPr/>
          <p:nvPr/>
        </p:nvSpPr>
        <p:spPr>
          <a:xfrm>
            <a:off x="6181344" y="1417320"/>
            <a:ext cx="2697480" cy="3246120"/>
          </a:xfrm>
          <a:prstGeom prst="rect">
            <a:avLst/>
          </a:prstGeom>
          <a:solidFill>
            <a:srgbClr val="FFFFFF"/>
          </a:solidFill>
          <a:ln w="25400">
            <a:solidFill>
              <a:srgbClr val="BA7A65"/>
            </a:solidFill>
            <a:prstDash val="solid"/>
          </a:ln>
          <a:effectLst>
            <a:outerShdw blurRad="76200" dist="25400" dir="5400000" algn="bl" rotWithShape="0">
              <a:srgbClr val="000000">
                <a:alpha val="8000"/>
              </a:srgbClr>
            </a:outerShdw>
          </a:effectLst>
        </p:spPr>
        <p:txBody>
          <a:bodyPr/>
          <a:lstStyle/>
          <a:p>
            <a:endParaRPr lang="en-US"/>
          </a:p>
        </p:txBody>
      </p:sp>
      <p:sp>
        <p:nvSpPr>
          <p:cNvPr id="17" name="Shape 15"/>
          <p:cNvSpPr/>
          <p:nvPr/>
        </p:nvSpPr>
        <p:spPr>
          <a:xfrm>
            <a:off x="6181344" y="1417320"/>
            <a:ext cx="2697480" cy="868680"/>
          </a:xfrm>
          <a:prstGeom prst="rect">
            <a:avLst/>
          </a:prstGeom>
          <a:solidFill>
            <a:srgbClr val="BA7A65"/>
          </a:solidFill>
          <a:ln w="12700">
            <a:solidFill>
              <a:srgbClr val="BA7A65"/>
            </a:solidFill>
            <a:prstDash val="solid"/>
          </a:ln>
        </p:spPr>
        <p:txBody>
          <a:bodyPr/>
          <a:lstStyle/>
          <a:p>
            <a:endParaRPr lang="en-US"/>
          </a:p>
        </p:txBody>
      </p:sp>
      <p:sp>
        <p:nvSpPr>
          <p:cNvPr id="18" name="Text 16"/>
          <p:cNvSpPr/>
          <p:nvPr/>
        </p:nvSpPr>
        <p:spPr>
          <a:xfrm>
            <a:off x="6364224" y="1554480"/>
            <a:ext cx="233172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Side-by-side compare</a:t>
            </a:r>
            <a:endParaRPr lang="en-US" sz="1800" dirty="0"/>
          </a:p>
        </p:txBody>
      </p:sp>
      <p:sp>
        <p:nvSpPr>
          <p:cNvPr id="19" name="Text 17"/>
          <p:cNvSpPr/>
          <p:nvPr/>
        </p:nvSpPr>
        <p:spPr>
          <a:xfrm>
            <a:off x="6364224" y="1920240"/>
            <a:ext cx="2331720" cy="274320"/>
          </a:xfrm>
          <a:prstGeom prst="rect">
            <a:avLst/>
          </a:prstGeom>
          <a:noFill/>
          <a:ln/>
        </p:spPr>
        <p:txBody>
          <a:bodyPr wrap="square" lIns="0" tIns="0" rIns="0" bIns="0" rtlCol="0" anchor="ctr"/>
          <a:lstStyle/>
          <a:p>
            <a:pPr marL="0" indent="0">
              <a:buNone/>
            </a:pPr>
            <a:r>
              <a:rPr lang="en-US" sz="1100" dirty="0">
                <a:solidFill>
                  <a:srgbClr val="FFFFFF">
                    <a:alpha val="75000"/>
                  </a:srgbClr>
                </a:solidFill>
                <a:latin typeface="Consolas" pitchFamily="34" charset="0"/>
                <a:ea typeface="Consolas" pitchFamily="34" charset="-122"/>
                <a:cs typeface="Consolas" pitchFamily="34" charset="-120"/>
              </a:rPr>
              <a:t>/compare</a:t>
            </a:r>
            <a:endParaRPr lang="en-US" sz="1100" dirty="0"/>
          </a:p>
        </p:txBody>
      </p:sp>
      <p:sp>
        <p:nvSpPr>
          <p:cNvPr id="20" name="Text 18"/>
          <p:cNvSpPr/>
          <p:nvPr/>
        </p:nvSpPr>
        <p:spPr>
          <a:xfrm>
            <a:off x="6364224" y="2423160"/>
            <a:ext cx="2331720" cy="210312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A1F2C"/>
                </a:solidFill>
                <a:latin typeface="Calibri" pitchFamily="34" charset="0"/>
                <a:ea typeface="Calibri" pitchFamily="34" charset="-122"/>
                <a:cs typeface="Calibri" pitchFamily="34" charset="-120"/>
              </a:rPr>
              <a:t>Pick any 2-3 programs from a dropdown</a:t>
            </a:r>
            <a:endParaRPr lang="en-US" sz="1250" dirty="0"/>
          </a:p>
          <a:p>
            <a:pPr marL="342900" indent="-342900">
              <a:spcAft>
                <a:spcPts val="800"/>
              </a:spcAft>
              <a:buSzPct val="100000"/>
              <a:buChar char="●"/>
            </a:pPr>
            <a:r>
              <a:rPr lang="en-US" sz="1250" dirty="0">
                <a:solidFill>
                  <a:srgbClr val="1A1F2C"/>
                </a:solidFill>
                <a:latin typeface="Calibri" pitchFamily="34" charset="0"/>
                <a:ea typeface="Calibri" pitchFamily="34" charset="-122"/>
                <a:cs typeface="Calibri" pitchFamily="34" charset="-120"/>
              </a:rPr>
              <a:t>Comparison table: fees, intake, careers</a:t>
            </a:r>
            <a:endParaRPr lang="en-US" sz="1250" dirty="0"/>
          </a:p>
          <a:p>
            <a:pPr marL="342900" indent="-342900">
              <a:spcAft>
                <a:spcPts val="800"/>
              </a:spcAft>
              <a:buSzPct val="100000"/>
              <a:buChar char="●"/>
            </a:pPr>
            <a:r>
              <a:rPr lang="en-US" sz="1250" dirty="0">
                <a:solidFill>
                  <a:srgbClr val="1A1F2C"/>
                </a:solidFill>
                <a:latin typeface="Calibri" pitchFamily="34" charset="0"/>
                <a:ea typeface="Calibri" pitchFamily="34" charset="-122"/>
                <a:cs typeface="Calibri" pitchFamily="34" charset="-120"/>
              </a:rPr>
              <a:t>Helps indecisive students decide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56032" cy="256032"/>
          </a:xfrm>
          <a:prstGeom prst="ellipse">
            <a:avLst/>
          </a:prstGeom>
          <a:solidFill>
            <a:srgbClr val="E34628"/>
          </a:solidFill>
          <a:ln w="12700">
            <a:solidFill>
              <a:srgbClr val="E34628"/>
            </a:solidFill>
            <a:prstDash val="solid"/>
          </a:ln>
        </p:spPr>
        <p:txBody>
          <a:bodyPr/>
          <a:lstStyle/>
          <a:p>
            <a:endParaRPr lang="en-US"/>
          </a:p>
        </p:txBody>
      </p:sp>
      <p:sp>
        <p:nvSpPr>
          <p:cNvPr id="3" name="Text 1"/>
          <p:cNvSpPr/>
          <p:nvPr/>
        </p:nvSpPr>
        <p:spPr>
          <a:xfrm>
            <a:off x="868680" y="256032"/>
            <a:ext cx="7772400" cy="548640"/>
          </a:xfrm>
          <a:prstGeom prst="rect">
            <a:avLst/>
          </a:prstGeom>
          <a:noFill/>
          <a:ln/>
        </p:spPr>
        <p:txBody>
          <a:bodyPr wrap="square" lIns="0" tIns="0" rIns="0" bIns="0" rtlCol="0" anchor="ctr"/>
          <a:lstStyle/>
          <a:p>
            <a:pPr marL="0" indent="0">
              <a:buNone/>
            </a:pPr>
            <a:r>
              <a:rPr lang="en-US" sz="3200" b="1" dirty="0">
                <a:solidFill>
                  <a:srgbClr val="0F3361"/>
                </a:solidFill>
                <a:latin typeface="Calibri" pitchFamily="34" charset="0"/>
                <a:ea typeface="Calibri" pitchFamily="34" charset="-122"/>
                <a:cs typeface="Calibri" pitchFamily="34" charset="-120"/>
              </a:rPr>
              <a:t>Student Profile</a:t>
            </a:r>
            <a:endParaRPr lang="en-US" sz="3200" dirty="0"/>
          </a:p>
        </p:txBody>
      </p:sp>
      <p:sp>
        <p:nvSpPr>
          <p:cNvPr id="4" name="Text 2"/>
          <p:cNvSpPr/>
          <p:nvPr/>
        </p:nvSpPr>
        <p:spPr>
          <a:xfrm>
            <a:off x="868680" y="777240"/>
            <a:ext cx="7772400" cy="310896"/>
          </a:xfrm>
          <a:prstGeom prst="rect">
            <a:avLst/>
          </a:prstGeom>
          <a:noFill/>
          <a:ln/>
        </p:spPr>
        <p:txBody>
          <a:bodyPr wrap="square" lIns="0" tIns="0" rIns="0" bIns="0"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Process 4.0 - Manage Profile</a:t>
            </a:r>
            <a:endParaRPr lang="en-US" sz="1400" dirty="0"/>
          </a:p>
        </p:txBody>
      </p:sp>
      <p:sp>
        <p:nvSpPr>
          <p:cNvPr id="5" name="Shape 3"/>
          <p:cNvSpPr/>
          <p:nvPr/>
        </p:nvSpPr>
        <p:spPr>
          <a:xfrm>
            <a:off x="457200" y="1170432"/>
            <a:ext cx="8229600" cy="18288"/>
          </a:xfrm>
          <a:prstGeom prst="rect">
            <a:avLst/>
          </a:prstGeom>
          <a:solidFill>
            <a:srgbClr val="E5E7EB"/>
          </a:solidFill>
          <a:ln w="12700">
            <a:solidFill>
              <a:srgbClr val="E5E7EB"/>
            </a:solidFill>
            <a:prstDash val="solid"/>
          </a:ln>
        </p:spPr>
        <p:txBody>
          <a:bodyPr/>
          <a:lstStyle/>
          <a:p>
            <a:endParaRPr lang="en-US"/>
          </a:p>
        </p:txBody>
      </p:sp>
      <p:sp>
        <p:nvSpPr>
          <p:cNvPr id="6" name="Shape 4"/>
          <p:cNvSpPr/>
          <p:nvPr/>
        </p:nvSpPr>
        <p:spPr>
          <a:xfrm>
            <a:off x="457200" y="1417320"/>
            <a:ext cx="3657600" cy="3246120"/>
          </a:xfrm>
          <a:prstGeom prst="rect">
            <a:avLst/>
          </a:prstGeom>
          <a:solidFill>
            <a:srgbClr val="F8FAFC"/>
          </a:solidFill>
          <a:ln w="12700">
            <a:solidFill>
              <a:srgbClr val="E5E7EB"/>
            </a:solidFill>
            <a:prstDash val="solid"/>
          </a:ln>
          <a:effectLst>
            <a:outerShdw blurRad="76200" dist="25400" dir="5400000" algn="bl" rotWithShape="0">
              <a:srgbClr val="000000">
                <a:alpha val="8000"/>
              </a:srgbClr>
            </a:outerShdw>
          </a:effectLst>
        </p:spPr>
        <p:txBody>
          <a:bodyPr/>
          <a:lstStyle/>
          <a:p>
            <a:endParaRPr lang="en-US"/>
          </a:p>
        </p:txBody>
      </p:sp>
      <p:sp>
        <p:nvSpPr>
          <p:cNvPr id="7" name="Shape 5"/>
          <p:cNvSpPr/>
          <p:nvPr/>
        </p:nvSpPr>
        <p:spPr>
          <a:xfrm>
            <a:off x="457200" y="1417320"/>
            <a:ext cx="3657600" cy="868680"/>
          </a:xfrm>
          <a:prstGeom prst="rect">
            <a:avLst/>
          </a:prstGeom>
          <a:solidFill>
            <a:srgbClr val="E34628"/>
          </a:solidFill>
          <a:ln w="12700">
            <a:solidFill>
              <a:srgbClr val="E34628"/>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594360" y="1508760"/>
            <a:ext cx="685800" cy="685800"/>
          </a:xfrm>
          <a:prstGeom prst="rect">
            <a:avLst/>
          </a:prstGeom>
        </p:spPr>
      </p:pic>
      <p:sp>
        <p:nvSpPr>
          <p:cNvPr id="9" name="Text 6"/>
          <p:cNvSpPr/>
          <p:nvPr/>
        </p:nvSpPr>
        <p:spPr>
          <a:xfrm>
            <a:off x="1371600" y="1508760"/>
            <a:ext cx="265176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Demo Student</a:t>
            </a:r>
            <a:endParaRPr lang="en-US" sz="1500" dirty="0"/>
          </a:p>
        </p:txBody>
      </p:sp>
      <p:sp>
        <p:nvSpPr>
          <p:cNvPr id="10" name="Text 7"/>
          <p:cNvSpPr/>
          <p:nvPr/>
        </p:nvSpPr>
        <p:spPr>
          <a:xfrm>
            <a:off x="1371600" y="1828800"/>
            <a:ext cx="2651760" cy="274320"/>
          </a:xfrm>
          <a:prstGeom prst="rect">
            <a:avLst/>
          </a:prstGeom>
          <a:noFill/>
          <a:ln/>
        </p:spPr>
        <p:txBody>
          <a:bodyPr wrap="square" lIns="0" tIns="0" rIns="0" bIns="0" rtlCol="0" anchor="ctr"/>
          <a:lstStyle/>
          <a:p>
            <a:pPr marL="0" indent="0">
              <a:buNone/>
            </a:pPr>
            <a:r>
              <a:rPr lang="en-US" sz="1100" i="1" dirty="0">
                <a:solidFill>
                  <a:srgbClr val="FFFFFF">
                    <a:alpha val="85000"/>
                  </a:srgbClr>
                </a:solidFill>
                <a:latin typeface="Calibri" pitchFamily="34" charset="0"/>
                <a:ea typeface="Calibri" pitchFamily="34" charset="-122"/>
                <a:cs typeface="Calibri" pitchFamily="34" charset="-120"/>
              </a:rPr>
              <a:t>Persona: The Creator</a:t>
            </a:r>
            <a:endParaRPr lang="en-US" sz="1100" dirty="0"/>
          </a:p>
        </p:txBody>
      </p:sp>
      <p:sp>
        <p:nvSpPr>
          <p:cNvPr id="11" name="Text 8"/>
          <p:cNvSpPr/>
          <p:nvPr/>
        </p:nvSpPr>
        <p:spPr>
          <a:xfrm>
            <a:off x="594360" y="2468880"/>
            <a:ext cx="1188720" cy="292608"/>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Email</a:t>
            </a:r>
            <a:endParaRPr lang="en-US" sz="1100" dirty="0"/>
          </a:p>
        </p:txBody>
      </p:sp>
      <p:sp>
        <p:nvSpPr>
          <p:cNvPr id="12" name="Text 9"/>
          <p:cNvSpPr/>
          <p:nvPr/>
        </p:nvSpPr>
        <p:spPr>
          <a:xfrm>
            <a:off x="1783080" y="2468880"/>
            <a:ext cx="2240280" cy="292608"/>
          </a:xfrm>
          <a:prstGeom prst="rect">
            <a:avLst/>
          </a:prstGeom>
          <a:noFill/>
          <a:ln/>
        </p:spPr>
        <p:txBody>
          <a:bodyPr wrap="square" lIns="0" tIns="0" rIns="0" bIns="0" rtlCol="0" anchor="ctr"/>
          <a:lstStyle/>
          <a:p>
            <a:pPr marL="0" indent="0">
              <a:buNone/>
            </a:pPr>
            <a:r>
              <a:rPr lang="en-US" sz="1100" b="1" dirty="0">
                <a:solidFill>
                  <a:srgbClr val="1A1F2C"/>
                </a:solidFill>
                <a:latin typeface="Calibri" pitchFamily="34" charset="0"/>
                <a:ea typeface="Calibri" pitchFamily="34" charset="-122"/>
                <a:cs typeface="Calibri" pitchFamily="34" charset="-120"/>
              </a:rPr>
              <a:t>demo@uniten.edu.my</a:t>
            </a:r>
            <a:endParaRPr lang="en-US" sz="1100" dirty="0"/>
          </a:p>
        </p:txBody>
      </p:sp>
      <p:sp>
        <p:nvSpPr>
          <p:cNvPr id="13" name="Text 10"/>
          <p:cNvSpPr/>
          <p:nvPr/>
        </p:nvSpPr>
        <p:spPr>
          <a:xfrm>
            <a:off x="594360" y="2852928"/>
            <a:ext cx="1188720" cy="292608"/>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Age</a:t>
            </a:r>
            <a:endParaRPr lang="en-US" sz="1100" dirty="0"/>
          </a:p>
        </p:txBody>
      </p:sp>
      <p:sp>
        <p:nvSpPr>
          <p:cNvPr id="14" name="Text 11"/>
          <p:cNvSpPr/>
          <p:nvPr/>
        </p:nvSpPr>
        <p:spPr>
          <a:xfrm>
            <a:off x="1783080" y="2852928"/>
            <a:ext cx="2240280" cy="292608"/>
          </a:xfrm>
          <a:prstGeom prst="rect">
            <a:avLst/>
          </a:prstGeom>
          <a:noFill/>
          <a:ln/>
        </p:spPr>
        <p:txBody>
          <a:bodyPr wrap="square" lIns="0" tIns="0" rIns="0" bIns="0" rtlCol="0" anchor="ctr"/>
          <a:lstStyle/>
          <a:p>
            <a:pPr marL="0" indent="0">
              <a:buNone/>
            </a:pPr>
            <a:r>
              <a:rPr lang="en-US" sz="1100" b="1" dirty="0">
                <a:solidFill>
                  <a:srgbClr val="1A1F2C"/>
                </a:solidFill>
                <a:latin typeface="Calibri" pitchFamily="34" charset="0"/>
                <a:ea typeface="Calibri" pitchFamily="34" charset="-122"/>
                <a:cs typeface="Calibri" pitchFamily="34" charset="-120"/>
              </a:rPr>
              <a:t>19</a:t>
            </a:r>
            <a:endParaRPr lang="en-US" sz="1100" dirty="0"/>
          </a:p>
        </p:txBody>
      </p:sp>
      <p:sp>
        <p:nvSpPr>
          <p:cNvPr id="15" name="Text 12"/>
          <p:cNvSpPr/>
          <p:nvPr/>
        </p:nvSpPr>
        <p:spPr>
          <a:xfrm>
            <a:off x="594360" y="3236976"/>
            <a:ext cx="1188720" cy="292608"/>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Qualification</a:t>
            </a:r>
            <a:endParaRPr lang="en-US" sz="1100" dirty="0"/>
          </a:p>
        </p:txBody>
      </p:sp>
      <p:sp>
        <p:nvSpPr>
          <p:cNvPr id="16" name="Text 13"/>
          <p:cNvSpPr/>
          <p:nvPr/>
        </p:nvSpPr>
        <p:spPr>
          <a:xfrm>
            <a:off x="1783080" y="3236976"/>
            <a:ext cx="2240280" cy="292608"/>
          </a:xfrm>
          <a:prstGeom prst="rect">
            <a:avLst/>
          </a:prstGeom>
          <a:noFill/>
          <a:ln/>
        </p:spPr>
        <p:txBody>
          <a:bodyPr wrap="square" lIns="0" tIns="0" rIns="0" bIns="0" rtlCol="0" anchor="ctr"/>
          <a:lstStyle/>
          <a:p>
            <a:pPr marL="0" indent="0">
              <a:buNone/>
            </a:pPr>
            <a:r>
              <a:rPr lang="en-US" sz="1100" b="1" dirty="0">
                <a:solidFill>
                  <a:srgbClr val="1A1F2C"/>
                </a:solidFill>
                <a:latin typeface="Calibri" pitchFamily="34" charset="0"/>
                <a:ea typeface="Calibri" pitchFamily="34" charset="-122"/>
                <a:cs typeface="Calibri" pitchFamily="34" charset="-120"/>
              </a:rPr>
              <a:t>SPM</a:t>
            </a:r>
            <a:endParaRPr lang="en-US" sz="1100" dirty="0"/>
          </a:p>
        </p:txBody>
      </p:sp>
      <p:sp>
        <p:nvSpPr>
          <p:cNvPr id="17" name="Text 14"/>
          <p:cNvSpPr/>
          <p:nvPr/>
        </p:nvSpPr>
        <p:spPr>
          <a:xfrm>
            <a:off x="594360" y="3621024"/>
            <a:ext cx="1188720" cy="292608"/>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Quiz completed</a:t>
            </a:r>
            <a:endParaRPr lang="en-US" sz="1100" dirty="0"/>
          </a:p>
        </p:txBody>
      </p:sp>
      <p:sp>
        <p:nvSpPr>
          <p:cNvPr id="18" name="Text 15"/>
          <p:cNvSpPr/>
          <p:nvPr/>
        </p:nvSpPr>
        <p:spPr>
          <a:xfrm>
            <a:off x="1783080" y="3621024"/>
            <a:ext cx="2240280" cy="292608"/>
          </a:xfrm>
          <a:prstGeom prst="rect">
            <a:avLst/>
          </a:prstGeom>
          <a:noFill/>
          <a:ln/>
        </p:spPr>
        <p:txBody>
          <a:bodyPr wrap="square" lIns="0" tIns="0" rIns="0" bIns="0" rtlCol="0" anchor="ctr"/>
          <a:lstStyle/>
          <a:p>
            <a:pPr marL="0" indent="0">
              <a:buNone/>
            </a:pPr>
            <a:r>
              <a:rPr lang="en-US" sz="1100" b="1" dirty="0">
                <a:solidFill>
                  <a:srgbClr val="1A1F2C"/>
                </a:solidFill>
                <a:latin typeface="Calibri" pitchFamily="34" charset="0"/>
                <a:ea typeface="Calibri" pitchFamily="34" charset="-122"/>
                <a:cs typeface="Calibri" pitchFamily="34" charset="-120"/>
              </a:rPr>
              <a:t>Yes - Creator (16 logic, 24 creative)</a:t>
            </a:r>
            <a:endParaRPr lang="en-US" sz="1100" dirty="0"/>
          </a:p>
        </p:txBody>
      </p:sp>
      <p:sp>
        <p:nvSpPr>
          <p:cNvPr id="19" name="Text 16"/>
          <p:cNvSpPr/>
          <p:nvPr/>
        </p:nvSpPr>
        <p:spPr>
          <a:xfrm>
            <a:off x="594360" y="4005072"/>
            <a:ext cx="1188720" cy="292608"/>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Transcript</a:t>
            </a:r>
            <a:endParaRPr lang="en-US" sz="1100" dirty="0"/>
          </a:p>
        </p:txBody>
      </p:sp>
      <p:sp>
        <p:nvSpPr>
          <p:cNvPr id="20" name="Text 17"/>
          <p:cNvSpPr/>
          <p:nvPr/>
        </p:nvSpPr>
        <p:spPr>
          <a:xfrm>
            <a:off x="1783080" y="4005072"/>
            <a:ext cx="2240280" cy="292608"/>
          </a:xfrm>
          <a:prstGeom prst="rect">
            <a:avLst/>
          </a:prstGeom>
          <a:noFill/>
          <a:ln/>
        </p:spPr>
        <p:txBody>
          <a:bodyPr wrap="square" lIns="0" tIns="0" rIns="0" bIns="0" rtlCol="0" anchor="ctr"/>
          <a:lstStyle/>
          <a:p>
            <a:pPr marL="0" indent="0">
              <a:buNone/>
            </a:pPr>
            <a:r>
              <a:rPr lang="en-US" sz="1100" b="1" dirty="0">
                <a:solidFill>
                  <a:srgbClr val="1A1F2C"/>
                </a:solidFill>
                <a:latin typeface="Calibri" pitchFamily="34" charset="0"/>
                <a:ea typeface="Calibri" pitchFamily="34" charset="-122"/>
                <a:cs typeface="Calibri" pitchFamily="34" charset="-120"/>
              </a:rPr>
              <a:t>transcripts/AbC123.pdf</a:t>
            </a:r>
            <a:endParaRPr lang="en-US" sz="1100" dirty="0"/>
          </a:p>
        </p:txBody>
      </p:sp>
      <p:sp>
        <p:nvSpPr>
          <p:cNvPr id="21" name="Text 18"/>
          <p:cNvSpPr/>
          <p:nvPr/>
        </p:nvSpPr>
        <p:spPr>
          <a:xfrm>
            <a:off x="4434840" y="1417320"/>
            <a:ext cx="4251960" cy="365760"/>
          </a:xfrm>
          <a:prstGeom prst="rect">
            <a:avLst/>
          </a:prstGeom>
          <a:noFill/>
          <a:ln/>
        </p:spPr>
        <p:txBody>
          <a:bodyPr wrap="square" lIns="0" tIns="0" rIns="0" bIns="0" rtlCol="0" anchor="ctr"/>
          <a:lstStyle/>
          <a:p>
            <a:pPr marL="0" indent="0">
              <a:buNone/>
            </a:pPr>
            <a:r>
              <a:rPr lang="en-US" sz="1700" b="1" dirty="0">
                <a:solidFill>
                  <a:srgbClr val="0F3361"/>
                </a:solidFill>
                <a:latin typeface="Calibri" pitchFamily="34" charset="0"/>
                <a:ea typeface="Calibri" pitchFamily="34" charset="-122"/>
                <a:cs typeface="Calibri" pitchFamily="34" charset="-120"/>
              </a:rPr>
              <a:t>What the student can do</a:t>
            </a:r>
            <a:endParaRPr lang="en-US" sz="1700" dirty="0"/>
          </a:p>
        </p:txBody>
      </p:sp>
      <p:sp>
        <p:nvSpPr>
          <p:cNvPr id="22" name="Shape 19"/>
          <p:cNvSpPr/>
          <p:nvPr/>
        </p:nvSpPr>
        <p:spPr>
          <a:xfrm>
            <a:off x="4434840" y="1901952"/>
            <a:ext cx="219456" cy="219456"/>
          </a:xfrm>
          <a:prstGeom prst="ellipse">
            <a:avLst/>
          </a:prstGeom>
          <a:solidFill>
            <a:srgbClr val="E34628"/>
          </a:solidFill>
          <a:ln w="12700">
            <a:solidFill>
              <a:srgbClr val="E34628"/>
            </a:solidFill>
            <a:prstDash val="solid"/>
          </a:ln>
        </p:spPr>
        <p:txBody>
          <a:bodyPr/>
          <a:lstStyle/>
          <a:p>
            <a:endParaRPr lang="en-US"/>
          </a:p>
        </p:txBody>
      </p:sp>
      <p:sp>
        <p:nvSpPr>
          <p:cNvPr id="23" name="Text 20"/>
          <p:cNvSpPr/>
          <p:nvPr/>
        </p:nvSpPr>
        <p:spPr>
          <a:xfrm>
            <a:off x="4736592" y="1856232"/>
            <a:ext cx="3931920" cy="274320"/>
          </a:xfrm>
          <a:prstGeom prst="rect">
            <a:avLst/>
          </a:prstGeom>
          <a:noFill/>
          <a:ln/>
        </p:spPr>
        <p:txBody>
          <a:bodyPr wrap="square" lIns="0" tIns="0" rIns="0" bIns="0" rtlCol="0" anchor="ctr"/>
          <a:lstStyle/>
          <a:p>
            <a:pPr marL="0" indent="0">
              <a:buNone/>
            </a:pPr>
            <a:r>
              <a:rPr lang="en-US" sz="1300" b="1" dirty="0">
                <a:solidFill>
                  <a:srgbClr val="1A1F2C"/>
                </a:solidFill>
                <a:latin typeface="Calibri" pitchFamily="34" charset="0"/>
                <a:ea typeface="Calibri" pitchFamily="34" charset="-122"/>
                <a:cs typeface="Calibri" pitchFamily="34" charset="-120"/>
              </a:rPr>
              <a:t>Edit profile</a:t>
            </a:r>
            <a:endParaRPr lang="en-US" sz="1300" dirty="0"/>
          </a:p>
        </p:txBody>
      </p:sp>
      <p:sp>
        <p:nvSpPr>
          <p:cNvPr id="24" name="Text 21"/>
          <p:cNvSpPr/>
          <p:nvPr/>
        </p:nvSpPr>
        <p:spPr>
          <a:xfrm>
            <a:off x="4736592" y="2121408"/>
            <a:ext cx="3931920" cy="32004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Reuses the StudentInfoForm component - single source of validation truth.</a:t>
            </a:r>
            <a:endParaRPr lang="en-US" sz="1100" dirty="0"/>
          </a:p>
        </p:txBody>
      </p:sp>
      <p:sp>
        <p:nvSpPr>
          <p:cNvPr id="25" name="Shape 22"/>
          <p:cNvSpPr/>
          <p:nvPr/>
        </p:nvSpPr>
        <p:spPr>
          <a:xfrm>
            <a:off x="4434840" y="2468880"/>
            <a:ext cx="219456" cy="219456"/>
          </a:xfrm>
          <a:prstGeom prst="ellipse">
            <a:avLst/>
          </a:prstGeom>
          <a:solidFill>
            <a:srgbClr val="E34628"/>
          </a:solidFill>
          <a:ln w="12700">
            <a:solidFill>
              <a:srgbClr val="E34628"/>
            </a:solidFill>
            <a:prstDash val="solid"/>
          </a:ln>
        </p:spPr>
        <p:txBody>
          <a:bodyPr/>
          <a:lstStyle/>
          <a:p>
            <a:endParaRPr lang="en-US"/>
          </a:p>
        </p:txBody>
      </p:sp>
      <p:sp>
        <p:nvSpPr>
          <p:cNvPr id="26" name="Text 23"/>
          <p:cNvSpPr/>
          <p:nvPr/>
        </p:nvSpPr>
        <p:spPr>
          <a:xfrm>
            <a:off x="4736592" y="2423160"/>
            <a:ext cx="3931920" cy="274320"/>
          </a:xfrm>
          <a:prstGeom prst="rect">
            <a:avLst/>
          </a:prstGeom>
          <a:noFill/>
          <a:ln/>
        </p:spPr>
        <p:txBody>
          <a:bodyPr wrap="square" lIns="0" tIns="0" rIns="0" bIns="0" rtlCol="0" anchor="ctr"/>
          <a:lstStyle/>
          <a:p>
            <a:pPr marL="0" indent="0">
              <a:buNone/>
            </a:pPr>
            <a:r>
              <a:rPr lang="en-US" sz="1300" b="1" dirty="0">
                <a:solidFill>
                  <a:srgbClr val="1A1F2C"/>
                </a:solidFill>
                <a:latin typeface="Calibri" pitchFamily="34" charset="0"/>
                <a:ea typeface="Calibri" pitchFamily="34" charset="-122"/>
                <a:cs typeface="Calibri" pitchFamily="34" charset="-120"/>
              </a:rPr>
              <a:t>Retake the quiz</a:t>
            </a:r>
            <a:endParaRPr lang="en-US" sz="1300" dirty="0"/>
          </a:p>
        </p:txBody>
      </p:sp>
      <p:sp>
        <p:nvSpPr>
          <p:cNvPr id="27" name="Text 24"/>
          <p:cNvSpPr/>
          <p:nvPr/>
        </p:nvSpPr>
        <p:spPr>
          <a:xfrm>
            <a:off x="4736592" y="2688336"/>
            <a:ext cx="3931920" cy="32004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Each completion saved to quiz_completions with timestamp.</a:t>
            </a:r>
            <a:endParaRPr lang="en-US" sz="1100" dirty="0"/>
          </a:p>
        </p:txBody>
      </p:sp>
      <p:sp>
        <p:nvSpPr>
          <p:cNvPr id="28" name="Shape 25"/>
          <p:cNvSpPr/>
          <p:nvPr/>
        </p:nvSpPr>
        <p:spPr>
          <a:xfrm>
            <a:off x="4434840" y="3035808"/>
            <a:ext cx="219456" cy="219456"/>
          </a:xfrm>
          <a:prstGeom prst="ellipse">
            <a:avLst/>
          </a:prstGeom>
          <a:solidFill>
            <a:srgbClr val="E34628"/>
          </a:solidFill>
          <a:ln w="12700">
            <a:solidFill>
              <a:srgbClr val="E34628"/>
            </a:solidFill>
            <a:prstDash val="solid"/>
          </a:ln>
        </p:spPr>
        <p:txBody>
          <a:bodyPr/>
          <a:lstStyle/>
          <a:p>
            <a:endParaRPr lang="en-US"/>
          </a:p>
        </p:txBody>
      </p:sp>
      <p:sp>
        <p:nvSpPr>
          <p:cNvPr id="29" name="Text 26"/>
          <p:cNvSpPr/>
          <p:nvPr/>
        </p:nvSpPr>
        <p:spPr>
          <a:xfrm>
            <a:off x="4736592" y="2990088"/>
            <a:ext cx="3931920" cy="274320"/>
          </a:xfrm>
          <a:prstGeom prst="rect">
            <a:avLst/>
          </a:prstGeom>
          <a:noFill/>
          <a:ln/>
        </p:spPr>
        <p:txBody>
          <a:bodyPr wrap="square" lIns="0" tIns="0" rIns="0" bIns="0" rtlCol="0" anchor="ctr"/>
          <a:lstStyle/>
          <a:p>
            <a:pPr marL="0" indent="0">
              <a:buNone/>
            </a:pPr>
            <a:r>
              <a:rPr lang="en-US" sz="1300" b="1" dirty="0">
                <a:solidFill>
                  <a:srgbClr val="1A1F2C"/>
                </a:solidFill>
                <a:latin typeface="Calibri" pitchFamily="34" charset="0"/>
                <a:ea typeface="Calibri" pitchFamily="34" charset="-122"/>
                <a:cs typeface="Calibri" pitchFamily="34" charset="-120"/>
              </a:rPr>
              <a:t>View past results</a:t>
            </a:r>
            <a:endParaRPr lang="en-US" sz="1300" dirty="0"/>
          </a:p>
        </p:txBody>
      </p:sp>
      <p:sp>
        <p:nvSpPr>
          <p:cNvPr id="30" name="Text 27"/>
          <p:cNvSpPr/>
          <p:nvPr/>
        </p:nvSpPr>
        <p:spPr>
          <a:xfrm>
            <a:off x="4736592" y="3255264"/>
            <a:ext cx="3931920" cy="32004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Persona, score breakdown and recommended programs persisted in students table.</a:t>
            </a:r>
            <a:endParaRPr lang="en-US" sz="1100" dirty="0"/>
          </a:p>
        </p:txBody>
      </p:sp>
      <p:sp>
        <p:nvSpPr>
          <p:cNvPr id="31" name="Shape 28"/>
          <p:cNvSpPr/>
          <p:nvPr/>
        </p:nvSpPr>
        <p:spPr>
          <a:xfrm>
            <a:off x="4434840" y="3602736"/>
            <a:ext cx="219456" cy="219456"/>
          </a:xfrm>
          <a:prstGeom prst="ellipse">
            <a:avLst/>
          </a:prstGeom>
          <a:solidFill>
            <a:srgbClr val="E34628"/>
          </a:solidFill>
          <a:ln w="12700">
            <a:solidFill>
              <a:srgbClr val="E34628"/>
            </a:solidFill>
            <a:prstDash val="solid"/>
          </a:ln>
        </p:spPr>
        <p:txBody>
          <a:bodyPr/>
          <a:lstStyle/>
          <a:p>
            <a:endParaRPr lang="en-US"/>
          </a:p>
        </p:txBody>
      </p:sp>
      <p:sp>
        <p:nvSpPr>
          <p:cNvPr id="32" name="Text 29"/>
          <p:cNvSpPr/>
          <p:nvPr/>
        </p:nvSpPr>
        <p:spPr>
          <a:xfrm>
            <a:off x="4736592" y="3557016"/>
            <a:ext cx="3931920" cy="274320"/>
          </a:xfrm>
          <a:prstGeom prst="rect">
            <a:avLst/>
          </a:prstGeom>
          <a:noFill/>
          <a:ln/>
        </p:spPr>
        <p:txBody>
          <a:bodyPr wrap="square" lIns="0" tIns="0" rIns="0" bIns="0" rtlCol="0" anchor="ctr"/>
          <a:lstStyle/>
          <a:p>
            <a:pPr marL="0" indent="0">
              <a:buNone/>
            </a:pPr>
            <a:r>
              <a:rPr lang="en-US" sz="1300" b="1" dirty="0">
                <a:solidFill>
                  <a:srgbClr val="1A1F2C"/>
                </a:solidFill>
                <a:latin typeface="Calibri" pitchFamily="34" charset="0"/>
                <a:ea typeface="Calibri" pitchFamily="34" charset="-122"/>
                <a:cs typeface="Calibri" pitchFamily="34" charset="-120"/>
              </a:rPr>
              <a:t>Replace transcript</a:t>
            </a:r>
            <a:endParaRPr lang="en-US" sz="1300" dirty="0"/>
          </a:p>
        </p:txBody>
      </p:sp>
      <p:sp>
        <p:nvSpPr>
          <p:cNvPr id="33" name="Text 30"/>
          <p:cNvSpPr/>
          <p:nvPr/>
        </p:nvSpPr>
        <p:spPr>
          <a:xfrm>
            <a:off x="4736592" y="3822192"/>
            <a:ext cx="3931920" cy="32004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Re-upload SPM PDF if the original was corrupted or outdated.</a:t>
            </a:r>
            <a:endParaRPr lang="en-US" sz="1100" dirty="0"/>
          </a:p>
        </p:txBody>
      </p:sp>
      <p:sp>
        <p:nvSpPr>
          <p:cNvPr id="34" name="Shape 31"/>
          <p:cNvSpPr/>
          <p:nvPr/>
        </p:nvSpPr>
        <p:spPr>
          <a:xfrm>
            <a:off x="4434840" y="4169664"/>
            <a:ext cx="219456" cy="219456"/>
          </a:xfrm>
          <a:prstGeom prst="ellipse">
            <a:avLst/>
          </a:prstGeom>
          <a:solidFill>
            <a:srgbClr val="E34628"/>
          </a:solidFill>
          <a:ln w="12700">
            <a:solidFill>
              <a:srgbClr val="E34628"/>
            </a:solidFill>
            <a:prstDash val="solid"/>
          </a:ln>
        </p:spPr>
        <p:txBody>
          <a:bodyPr/>
          <a:lstStyle/>
          <a:p>
            <a:endParaRPr lang="en-US"/>
          </a:p>
        </p:txBody>
      </p:sp>
      <p:sp>
        <p:nvSpPr>
          <p:cNvPr id="35" name="Text 32"/>
          <p:cNvSpPr/>
          <p:nvPr/>
        </p:nvSpPr>
        <p:spPr>
          <a:xfrm>
            <a:off x="4736592" y="4123944"/>
            <a:ext cx="3931920" cy="274320"/>
          </a:xfrm>
          <a:prstGeom prst="rect">
            <a:avLst/>
          </a:prstGeom>
          <a:noFill/>
          <a:ln/>
        </p:spPr>
        <p:txBody>
          <a:bodyPr wrap="square" lIns="0" tIns="0" rIns="0" bIns="0" rtlCol="0" anchor="ctr"/>
          <a:lstStyle/>
          <a:p>
            <a:pPr marL="0" indent="0">
              <a:buNone/>
            </a:pPr>
            <a:r>
              <a:rPr lang="en-US" sz="1300" b="1" dirty="0">
                <a:solidFill>
                  <a:srgbClr val="1A1F2C"/>
                </a:solidFill>
                <a:latin typeface="Calibri" pitchFamily="34" charset="0"/>
                <a:ea typeface="Calibri" pitchFamily="34" charset="-122"/>
                <a:cs typeface="Calibri" pitchFamily="34" charset="-120"/>
              </a:rPr>
              <a:t>Logout</a:t>
            </a:r>
            <a:endParaRPr lang="en-US" sz="1300" dirty="0"/>
          </a:p>
        </p:txBody>
      </p:sp>
      <p:sp>
        <p:nvSpPr>
          <p:cNvPr id="36" name="Text 33"/>
          <p:cNvSpPr/>
          <p:nvPr/>
        </p:nvSpPr>
        <p:spPr>
          <a:xfrm>
            <a:off x="4736592" y="4389120"/>
            <a:ext cx="3931920" cy="32004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Clears the X-Session-Id from localStorage and returns to Welcome page.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56032" cy="256032"/>
          </a:xfrm>
          <a:prstGeom prst="ellipse">
            <a:avLst/>
          </a:prstGeom>
          <a:solidFill>
            <a:srgbClr val="E34628"/>
          </a:solidFill>
          <a:ln w="12700">
            <a:solidFill>
              <a:srgbClr val="E34628"/>
            </a:solidFill>
            <a:prstDash val="solid"/>
          </a:ln>
        </p:spPr>
        <p:txBody>
          <a:bodyPr/>
          <a:lstStyle/>
          <a:p>
            <a:endParaRPr lang="en-US"/>
          </a:p>
        </p:txBody>
      </p:sp>
      <p:sp>
        <p:nvSpPr>
          <p:cNvPr id="3" name="Text 1"/>
          <p:cNvSpPr/>
          <p:nvPr/>
        </p:nvSpPr>
        <p:spPr>
          <a:xfrm>
            <a:off x="868680" y="256032"/>
            <a:ext cx="7772400" cy="548640"/>
          </a:xfrm>
          <a:prstGeom prst="rect">
            <a:avLst/>
          </a:prstGeom>
          <a:noFill/>
          <a:ln/>
        </p:spPr>
        <p:txBody>
          <a:bodyPr wrap="square" lIns="0" tIns="0" rIns="0" bIns="0" rtlCol="0" anchor="ctr"/>
          <a:lstStyle/>
          <a:p>
            <a:pPr marL="0" indent="0">
              <a:buNone/>
            </a:pPr>
            <a:r>
              <a:rPr lang="en-US" sz="3200" b="1" dirty="0">
                <a:solidFill>
                  <a:srgbClr val="0F3361"/>
                </a:solidFill>
                <a:latin typeface="Calibri" pitchFamily="34" charset="0"/>
                <a:ea typeface="Calibri" pitchFamily="34" charset="-122"/>
                <a:cs typeface="Calibri" pitchFamily="34" charset="-120"/>
              </a:rPr>
              <a:t>Admin Dashboard</a:t>
            </a:r>
            <a:endParaRPr lang="en-US" sz="3200" dirty="0"/>
          </a:p>
        </p:txBody>
      </p:sp>
      <p:sp>
        <p:nvSpPr>
          <p:cNvPr id="4" name="Text 2"/>
          <p:cNvSpPr/>
          <p:nvPr/>
        </p:nvSpPr>
        <p:spPr>
          <a:xfrm>
            <a:off x="868680" y="777240"/>
            <a:ext cx="7772400" cy="310896"/>
          </a:xfrm>
          <a:prstGeom prst="rect">
            <a:avLst/>
          </a:prstGeom>
          <a:noFill/>
          <a:ln/>
        </p:spPr>
        <p:txBody>
          <a:bodyPr wrap="square" lIns="0" tIns="0" rIns="0" bIns="0"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Process 5.0 - Three tabs guarded by X-Admin-Password</a:t>
            </a:r>
            <a:endParaRPr lang="en-US" sz="1400" dirty="0"/>
          </a:p>
        </p:txBody>
      </p:sp>
      <p:sp>
        <p:nvSpPr>
          <p:cNvPr id="5" name="Shape 3"/>
          <p:cNvSpPr/>
          <p:nvPr/>
        </p:nvSpPr>
        <p:spPr>
          <a:xfrm>
            <a:off x="457200" y="1170432"/>
            <a:ext cx="8229600" cy="18288"/>
          </a:xfrm>
          <a:prstGeom prst="rect">
            <a:avLst/>
          </a:prstGeom>
          <a:solidFill>
            <a:srgbClr val="E5E7EB"/>
          </a:solidFill>
          <a:ln w="12700">
            <a:solidFill>
              <a:srgbClr val="E5E7EB"/>
            </a:solidFill>
            <a:prstDash val="solid"/>
          </a:ln>
        </p:spPr>
        <p:txBody>
          <a:bodyPr/>
          <a:lstStyle/>
          <a:p>
            <a:endParaRPr lang="en-US"/>
          </a:p>
        </p:txBody>
      </p:sp>
      <p:sp>
        <p:nvSpPr>
          <p:cNvPr id="6" name="Shape 4"/>
          <p:cNvSpPr/>
          <p:nvPr/>
        </p:nvSpPr>
        <p:spPr>
          <a:xfrm>
            <a:off x="457200" y="1417320"/>
            <a:ext cx="2697480" cy="3246120"/>
          </a:xfrm>
          <a:prstGeom prst="rect">
            <a:avLst/>
          </a:prstGeom>
          <a:solidFill>
            <a:srgbClr val="FFFFFF"/>
          </a:solidFill>
          <a:ln w="25400">
            <a:solidFill>
              <a:srgbClr val="0F3361"/>
            </a:solidFill>
            <a:prstDash val="solid"/>
          </a:ln>
          <a:effectLst>
            <a:outerShdw blurRad="76200" dist="25400" dir="5400000" algn="bl" rotWithShape="0">
              <a:srgbClr val="000000">
                <a:alpha val="8000"/>
              </a:srgbClr>
            </a:outerShdw>
          </a:effectLst>
        </p:spPr>
        <p:txBody>
          <a:bodyPr/>
          <a:lstStyle/>
          <a:p>
            <a:endParaRPr lang="en-US"/>
          </a:p>
        </p:txBody>
      </p:sp>
      <p:sp>
        <p:nvSpPr>
          <p:cNvPr id="7" name="Shape 5"/>
          <p:cNvSpPr/>
          <p:nvPr/>
        </p:nvSpPr>
        <p:spPr>
          <a:xfrm>
            <a:off x="457200" y="1417320"/>
            <a:ext cx="2697480" cy="1005840"/>
          </a:xfrm>
          <a:prstGeom prst="rect">
            <a:avLst/>
          </a:prstGeom>
          <a:solidFill>
            <a:srgbClr val="0F3361"/>
          </a:solidFill>
          <a:ln w="12700">
            <a:solidFill>
              <a:srgbClr val="0F3361"/>
            </a:solidFill>
            <a:prstDash val="solid"/>
          </a:ln>
        </p:spPr>
        <p:txBody>
          <a:bodyPr/>
          <a:lstStyle/>
          <a:p>
            <a:endParaRPr lang="en-US"/>
          </a:p>
        </p:txBody>
      </p:sp>
      <p:sp>
        <p:nvSpPr>
          <p:cNvPr id="8" name="Text 6"/>
          <p:cNvSpPr/>
          <p:nvPr/>
        </p:nvSpPr>
        <p:spPr>
          <a:xfrm>
            <a:off x="457200" y="1508760"/>
            <a:ext cx="2697480" cy="822960"/>
          </a:xfrm>
          <a:prstGeom prst="rect">
            <a:avLst/>
          </a:prstGeom>
          <a:noFill/>
          <a:ln/>
        </p:spPr>
        <p:txBody>
          <a:bodyPr wrap="square" lIns="0" tIns="0" rIns="0" bIns="0" rtlCol="0" anchor="ctr"/>
          <a:lstStyle/>
          <a:p>
            <a:pPr marL="0" indent="0" algn="ctr">
              <a:buNone/>
            </a:pPr>
            <a:r>
              <a:rPr lang="en-US" sz="5600" b="1" dirty="0">
                <a:solidFill>
                  <a:srgbClr val="FFFFFF"/>
                </a:solidFill>
                <a:latin typeface="Calibri" pitchFamily="34" charset="0"/>
                <a:ea typeface="Calibri" pitchFamily="34" charset="-122"/>
                <a:cs typeface="Calibri" pitchFamily="34" charset="-120"/>
              </a:rPr>
              <a:t>01</a:t>
            </a:r>
            <a:endParaRPr lang="en-US" sz="5600" dirty="0"/>
          </a:p>
        </p:txBody>
      </p:sp>
      <p:sp>
        <p:nvSpPr>
          <p:cNvPr id="9" name="Text 7"/>
          <p:cNvSpPr/>
          <p:nvPr/>
        </p:nvSpPr>
        <p:spPr>
          <a:xfrm>
            <a:off x="640080" y="2560320"/>
            <a:ext cx="2331720" cy="457200"/>
          </a:xfrm>
          <a:prstGeom prst="rect">
            <a:avLst/>
          </a:prstGeom>
          <a:noFill/>
          <a:ln/>
        </p:spPr>
        <p:txBody>
          <a:bodyPr wrap="square" lIns="0" tIns="0" rIns="0" bIns="0" rtlCol="0" anchor="ctr"/>
          <a:lstStyle/>
          <a:p>
            <a:pPr marL="0" indent="0">
              <a:buNone/>
            </a:pPr>
            <a:r>
              <a:rPr lang="en-US" sz="1900" b="1" dirty="0">
                <a:solidFill>
                  <a:srgbClr val="0F3361"/>
                </a:solidFill>
                <a:latin typeface="Calibri" pitchFamily="34" charset="0"/>
                <a:ea typeface="Calibri" pitchFamily="34" charset="-122"/>
                <a:cs typeface="Calibri" pitchFamily="34" charset="-120"/>
              </a:rPr>
              <a:t>Analytics</a:t>
            </a:r>
            <a:endParaRPr lang="en-US" sz="1900" dirty="0"/>
          </a:p>
        </p:txBody>
      </p:sp>
      <p:sp>
        <p:nvSpPr>
          <p:cNvPr id="10" name="Text 8"/>
          <p:cNvSpPr/>
          <p:nvPr/>
        </p:nvSpPr>
        <p:spPr>
          <a:xfrm>
            <a:off x="640080" y="3108960"/>
            <a:ext cx="2331720" cy="141732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1A1F2C"/>
                </a:solidFill>
                <a:latin typeface="Calibri" pitchFamily="34" charset="0"/>
                <a:ea typeface="Calibri" pitchFamily="34" charset="-122"/>
                <a:cs typeface="Calibri" pitchFamily="34" charset="-120"/>
              </a:rPr>
              <a:t>Total participants metric</a:t>
            </a:r>
            <a:endParaRPr lang="en-US" sz="1300" dirty="0"/>
          </a:p>
          <a:p>
            <a:pPr marL="342900" indent="-342900">
              <a:spcAft>
                <a:spcPts val="800"/>
              </a:spcAft>
              <a:buSzPct val="100000"/>
              <a:buChar char="●"/>
            </a:pPr>
            <a:r>
              <a:rPr lang="en-US" sz="1300" dirty="0">
                <a:solidFill>
                  <a:srgbClr val="1A1F2C"/>
                </a:solidFill>
                <a:latin typeface="Calibri" pitchFamily="34" charset="0"/>
                <a:ea typeface="Calibri" pitchFamily="34" charset="-122"/>
                <a:cs typeface="Calibri" pitchFamily="34" charset="-120"/>
              </a:rPr>
              <a:t>Bar chart - program views</a:t>
            </a:r>
            <a:endParaRPr lang="en-US" sz="1300" dirty="0"/>
          </a:p>
          <a:p>
            <a:pPr marL="342900" indent="-342900">
              <a:spcAft>
                <a:spcPts val="800"/>
              </a:spcAft>
              <a:buSzPct val="100000"/>
              <a:buChar char="●"/>
            </a:pPr>
            <a:r>
              <a:rPr lang="en-US" sz="1300" dirty="0">
                <a:solidFill>
                  <a:srgbClr val="1A1F2C"/>
                </a:solidFill>
                <a:latin typeface="Calibri" pitchFamily="34" charset="0"/>
                <a:ea typeface="Calibri" pitchFamily="34" charset="-122"/>
                <a:cs typeface="Calibri" pitchFamily="34" charset="-120"/>
              </a:rPr>
              <a:t>Pie chart - persona distribution</a:t>
            </a:r>
            <a:endParaRPr lang="en-US" sz="1300" dirty="0"/>
          </a:p>
        </p:txBody>
      </p:sp>
      <p:sp>
        <p:nvSpPr>
          <p:cNvPr id="11" name="Shape 9"/>
          <p:cNvSpPr/>
          <p:nvPr/>
        </p:nvSpPr>
        <p:spPr>
          <a:xfrm>
            <a:off x="3319272" y="1417320"/>
            <a:ext cx="2697480" cy="3246120"/>
          </a:xfrm>
          <a:prstGeom prst="rect">
            <a:avLst/>
          </a:prstGeom>
          <a:solidFill>
            <a:srgbClr val="FFFFFF"/>
          </a:solidFill>
          <a:ln w="25400">
            <a:solidFill>
              <a:srgbClr val="E34628"/>
            </a:solidFill>
            <a:prstDash val="solid"/>
          </a:ln>
          <a:effectLst>
            <a:outerShdw blurRad="76200" dist="25400" dir="5400000" algn="bl" rotWithShape="0">
              <a:srgbClr val="000000">
                <a:alpha val="8000"/>
              </a:srgbClr>
            </a:outerShdw>
          </a:effectLst>
        </p:spPr>
        <p:txBody>
          <a:bodyPr/>
          <a:lstStyle/>
          <a:p>
            <a:endParaRPr lang="en-US"/>
          </a:p>
        </p:txBody>
      </p:sp>
      <p:sp>
        <p:nvSpPr>
          <p:cNvPr id="12" name="Shape 10"/>
          <p:cNvSpPr/>
          <p:nvPr/>
        </p:nvSpPr>
        <p:spPr>
          <a:xfrm>
            <a:off x="3319272" y="1417320"/>
            <a:ext cx="2697480" cy="1005840"/>
          </a:xfrm>
          <a:prstGeom prst="rect">
            <a:avLst/>
          </a:prstGeom>
          <a:solidFill>
            <a:srgbClr val="E34628"/>
          </a:solidFill>
          <a:ln w="12700">
            <a:solidFill>
              <a:srgbClr val="E34628"/>
            </a:solidFill>
            <a:prstDash val="solid"/>
          </a:ln>
        </p:spPr>
        <p:txBody>
          <a:bodyPr/>
          <a:lstStyle/>
          <a:p>
            <a:endParaRPr lang="en-US"/>
          </a:p>
        </p:txBody>
      </p:sp>
      <p:sp>
        <p:nvSpPr>
          <p:cNvPr id="13" name="Text 11"/>
          <p:cNvSpPr/>
          <p:nvPr/>
        </p:nvSpPr>
        <p:spPr>
          <a:xfrm>
            <a:off x="3319272" y="1508760"/>
            <a:ext cx="2697480" cy="822960"/>
          </a:xfrm>
          <a:prstGeom prst="rect">
            <a:avLst/>
          </a:prstGeom>
          <a:noFill/>
          <a:ln/>
        </p:spPr>
        <p:txBody>
          <a:bodyPr wrap="square" lIns="0" tIns="0" rIns="0" bIns="0" rtlCol="0" anchor="ctr"/>
          <a:lstStyle/>
          <a:p>
            <a:pPr marL="0" indent="0" algn="ctr">
              <a:buNone/>
            </a:pPr>
            <a:r>
              <a:rPr lang="en-US" sz="5600" b="1" dirty="0">
                <a:solidFill>
                  <a:srgbClr val="FFFFFF"/>
                </a:solidFill>
                <a:latin typeface="Calibri" pitchFamily="34" charset="0"/>
                <a:ea typeface="Calibri" pitchFamily="34" charset="-122"/>
                <a:cs typeface="Calibri" pitchFamily="34" charset="-120"/>
              </a:rPr>
              <a:t>02</a:t>
            </a:r>
            <a:endParaRPr lang="en-US" sz="5600" dirty="0"/>
          </a:p>
        </p:txBody>
      </p:sp>
      <p:sp>
        <p:nvSpPr>
          <p:cNvPr id="14" name="Text 12"/>
          <p:cNvSpPr/>
          <p:nvPr/>
        </p:nvSpPr>
        <p:spPr>
          <a:xfrm>
            <a:off x="3502152" y="2560320"/>
            <a:ext cx="2331720" cy="457200"/>
          </a:xfrm>
          <a:prstGeom prst="rect">
            <a:avLst/>
          </a:prstGeom>
          <a:noFill/>
          <a:ln/>
        </p:spPr>
        <p:txBody>
          <a:bodyPr wrap="square" lIns="0" tIns="0" rIns="0" bIns="0" rtlCol="0" anchor="ctr"/>
          <a:lstStyle/>
          <a:p>
            <a:pPr marL="0" indent="0">
              <a:buNone/>
            </a:pPr>
            <a:r>
              <a:rPr lang="en-US" sz="1900" b="1" dirty="0">
                <a:solidFill>
                  <a:srgbClr val="0F3361"/>
                </a:solidFill>
                <a:latin typeface="Calibri" pitchFamily="34" charset="0"/>
                <a:ea typeface="Calibri" pitchFamily="34" charset="-122"/>
                <a:cs typeface="Calibri" pitchFamily="34" charset="-120"/>
              </a:rPr>
              <a:t>User Management</a:t>
            </a:r>
            <a:endParaRPr lang="en-US" sz="1900" dirty="0"/>
          </a:p>
        </p:txBody>
      </p:sp>
      <p:sp>
        <p:nvSpPr>
          <p:cNvPr id="15" name="Text 13"/>
          <p:cNvSpPr/>
          <p:nvPr/>
        </p:nvSpPr>
        <p:spPr>
          <a:xfrm>
            <a:off x="3502152" y="3108960"/>
            <a:ext cx="2331720" cy="141732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1A1F2C"/>
                </a:solidFill>
                <a:latin typeface="Calibri" pitchFamily="34" charset="0"/>
                <a:ea typeface="Calibri" pitchFamily="34" charset="-122"/>
                <a:cs typeface="Calibri" pitchFamily="34" charset="-120"/>
              </a:rPr>
              <a:t>List of all registered students</a:t>
            </a:r>
            <a:endParaRPr lang="en-US" sz="1300" dirty="0"/>
          </a:p>
          <a:p>
            <a:pPr marL="342900" indent="-342900">
              <a:spcAft>
                <a:spcPts val="800"/>
              </a:spcAft>
              <a:buSzPct val="100000"/>
              <a:buChar char="●"/>
            </a:pPr>
            <a:r>
              <a:rPr lang="en-US" sz="1300" dirty="0">
                <a:solidFill>
                  <a:srgbClr val="1A1F2C"/>
                </a:solidFill>
                <a:latin typeface="Calibri" pitchFamily="34" charset="0"/>
                <a:ea typeface="Calibri" pitchFamily="34" charset="-122"/>
                <a:cs typeface="Calibri" pitchFamily="34" charset="-120"/>
              </a:rPr>
              <a:t>Edit or delete a student record</a:t>
            </a:r>
            <a:endParaRPr lang="en-US" sz="1300" dirty="0"/>
          </a:p>
          <a:p>
            <a:pPr marL="342900" indent="-342900">
              <a:spcAft>
                <a:spcPts val="800"/>
              </a:spcAft>
              <a:buSzPct val="100000"/>
              <a:buChar char="●"/>
            </a:pPr>
            <a:r>
              <a:rPr lang="en-US" sz="1300" dirty="0">
                <a:solidFill>
                  <a:srgbClr val="1A1F2C"/>
                </a:solidFill>
                <a:latin typeface="Calibri" pitchFamily="34" charset="0"/>
                <a:ea typeface="Calibri" pitchFamily="34" charset="-122"/>
                <a:cs typeface="Calibri" pitchFamily="34" charset="-120"/>
              </a:rPr>
              <a:t>PATCH / DELETE /api/admin/students/{id}</a:t>
            </a:r>
            <a:endParaRPr lang="en-US" sz="1300" dirty="0"/>
          </a:p>
        </p:txBody>
      </p:sp>
      <p:sp>
        <p:nvSpPr>
          <p:cNvPr id="16" name="Shape 14"/>
          <p:cNvSpPr/>
          <p:nvPr/>
        </p:nvSpPr>
        <p:spPr>
          <a:xfrm>
            <a:off x="6181344" y="1417320"/>
            <a:ext cx="2697480" cy="3246120"/>
          </a:xfrm>
          <a:prstGeom prst="rect">
            <a:avLst/>
          </a:prstGeom>
          <a:solidFill>
            <a:srgbClr val="FFFFFF"/>
          </a:solidFill>
          <a:ln w="25400">
            <a:solidFill>
              <a:srgbClr val="BA7A65"/>
            </a:solidFill>
            <a:prstDash val="solid"/>
          </a:ln>
          <a:effectLst>
            <a:outerShdw blurRad="76200" dist="25400" dir="5400000" algn="bl" rotWithShape="0">
              <a:srgbClr val="000000">
                <a:alpha val="8000"/>
              </a:srgbClr>
            </a:outerShdw>
          </a:effectLst>
        </p:spPr>
        <p:txBody>
          <a:bodyPr/>
          <a:lstStyle/>
          <a:p>
            <a:endParaRPr lang="en-US"/>
          </a:p>
        </p:txBody>
      </p:sp>
      <p:sp>
        <p:nvSpPr>
          <p:cNvPr id="17" name="Shape 15"/>
          <p:cNvSpPr/>
          <p:nvPr/>
        </p:nvSpPr>
        <p:spPr>
          <a:xfrm>
            <a:off x="6181344" y="1417320"/>
            <a:ext cx="2697480" cy="1005840"/>
          </a:xfrm>
          <a:prstGeom prst="rect">
            <a:avLst/>
          </a:prstGeom>
          <a:solidFill>
            <a:srgbClr val="BA7A65"/>
          </a:solidFill>
          <a:ln w="12700">
            <a:solidFill>
              <a:srgbClr val="BA7A65"/>
            </a:solidFill>
            <a:prstDash val="solid"/>
          </a:ln>
        </p:spPr>
        <p:txBody>
          <a:bodyPr/>
          <a:lstStyle/>
          <a:p>
            <a:endParaRPr lang="en-US"/>
          </a:p>
        </p:txBody>
      </p:sp>
      <p:sp>
        <p:nvSpPr>
          <p:cNvPr id="18" name="Text 16"/>
          <p:cNvSpPr/>
          <p:nvPr/>
        </p:nvSpPr>
        <p:spPr>
          <a:xfrm>
            <a:off x="6181344" y="1508760"/>
            <a:ext cx="2697480" cy="822960"/>
          </a:xfrm>
          <a:prstGeom prst="rect">
            <a:avLst/>
          </a:prstGeom>
          <a:noFill/>
          <a:ln/>
        </p:spPr>
        <p:txBody>
          <a:bodyPr wrap="square" lIns="0" tIns="0" rIns="0" bIns="0" rtlCol="0" anchor="ctr"/>
          <a:lstStyle/>
          <a:p>
            <a:pPr marL="0" indent="0" algn="ctr">
              <a:buNone/>
            </a:pPr>
            <a:r>
              <a:rPr lang="en-US" sz="5600" b="1" dirty="0">
                <a:solidFill>
                  <a:srgbClr val="FFFFFF"/>
                </a:solidFill>
                <a:latin typeface="Calibri" pitchFamily="34" charset="0"/>
                <a:ea typeface="Calibri" pitchFamily="34" charset="-122"/>
                <a:cs typeface="Calibri" pitchFamily="34" charset="-120"/>
              </a:rPr>
              <a:t>03</a:t>
            </a:r>
            <a:endParaRPr lang="en-US" sz="5600" dirty="0"/>
          </a:p>
        </p:txBody>
      </p:sp>
      <p:sp>
        <p:nvSpPr>
          <p:cNvPr id="19" name="Text 17"/>
          <p:cNvSpPr/>
          <p:nvPr/>
        </p:nvSpPr>
        <p:spPr>
          <a:xfrm>
            <a:off x="6364224" y="2560320"/>
            <a:ext cx="2331720" cy="457200"/>
          </a:xfrm>
          <a:prstGeom prst="rect">
            <a:avLst/>
          </a:prstGeom>
          <a:noFill/>
          <a:ln/>
        </p:spPr>
        <p:txBody>
          <a:bodyPr wrap="square" lIns="0" tIns="0" rIns="0" bIns="0" rtlCol="0" anchor="ctr"/>
          <a:lstStyle/>
          <a:p>
            <a:pPr marL="0" indent="0">
              <a:buNone/>
            </a:pPr>
            <a:r>
              <a:rPr lang="en-US" sz="1900" b="1" dirty="0">
                <a:solidFill>
                  <a:srgbClr val="0F3361"/>
                </a:solidFill>
                <a:latin typeface="Calibri" pitchFamily="34" charset="0"/>
                <a:ea typeface="Calibri" pitchFamily="34" charset="-122"/>
                <a:cs typeface="Calibri" pitchFamily="34" charset="-120"/>
              </a:rPr>
              <a:t>Persona Rules CRUD</a:t>
            </a:r>
            <a:endParaRPr lang="en-US" sz="1900" dirty="0"/>
          </a:p>
        </p:txBody>
      </p:sp>
      <p:sp>
        <p:nvSpPr>
          <p:cNvPr id="20" name="Text 18"/>
          <p:cNvSpPr/>
          <p:nvPr/>
        </p:nvSpPr>
        <p:spPr>
          <a:xfrm>
            <a:off x="6364224" y="3108960"/>
            <a:ext cx="2331720" cy="141732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1A1F2C"/>
                </a:solidFill>
                <a:latin typeface="Calibri" pitchFamily="34" charset="0"/>
                <a:ea typeface="Calibri" pitchFamily="34" charset="-122"/>
                <a:cs typeface="Calibri" pitchFamily="34" charset="-120"/>
              </a:rPr>
              <a:t>Add / edit / disable personas</a:t>
            </a:r>
            <a:endParaRPr lang="en-US" sz="1300" dirty="0"/>
          </a:p>
          <a:p>
            <a:pPr marL="342900" indent="-342900">
              <a:spcAft>
                <a:spcPts val="800"/>
              </a:spcAft>
              <a:buSzPct val="100000"/>
              <a:buChar char="●"/>
            </a:pPr>
            <a:r>
              <a:rPr lang="en-US" sz="1300" dirty="0">
                <a:solidFill>
                  <a:srgbClr val="1A1F2C"/>
                </a:solidFill>
                <a:latin typeface="Calibri" pitchFamily="34" charset="0"/>
                <a:ea typeface="Calibri" pitchFamily="34" charset="-122"/>
                <a:cs typeface="Calibri" pitchFamily="34" charset="-120"/>
              </a:rPr>
              <a:t>Map programs, adjust trait list</a:t>
            </a:r>
            <a:endParaRPr lang="en-US" sz="1300" dirty="0"/>
          </a:p>
          <a:p>
            <a:pPr marL="342900" indent="-342900">
              <a:spcAft>
                <a:spcPts val="800"/>
              </a:spcAft>
              <a:buSzPct val="100000"/>
              <a:buChar char="●"/>
            </a:pPr>
            <a:r>
              <a:rPr lang="en-US" sz="1300" dirty="0">
                <a:solidFill>
                  <a:srgbClr val="1A1F2C"/>
                </a:solidFill>
                <a:latin typeface="Calibri" pitchFamily="34" charset="0"/>
                <a:ea typeface="Calibri" pitchFamily="34" charset="-122"/>
                <a:cs typeface="Calibri" pitchFamily="34" charset="-120"/>
              </a:rPr>
              <a:t>Set logic / creative weight per persona</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12E0536-AF45-9B8D-2156-27BF3D53BA5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C4AF7FD-127A-24C2-62A8-EC9F4B0B1035}"/>
              </a:ext>
            </a:extLst>
          </p:cNvPr>
          <p:cNvSpPr/>
          <p:nvPr/>
        </p:nvSpPr>
        <p:spPr>
          <a:xfrm>
            <a:off x="457200" y="384048"/>
            <a:ext cx="256032" cy="256032"/>
          </a:xfrm>
          <a:prstGeom prst="ellipse">
            <a:avLst/>
          </a:prstGeom>
          <a:solidFill>
            <a:srgbClr val="E34628"/>
          </a:solidFill>
          <a:ln w="12700">
            <a:solidFill>
              <a:srgbClr val="E34628"/>
            </a:solidFill>
            <a:prstDash val="solid"/>
          </a:ln>
        </p:spPr>
        <p:txBody>
          <a:bodyPr/>
          <a:lstStyle/>
          <a:p>
            <a:endParaRPr lang="en-US"/>
          </a:p>
        </p:txBody>
      </p:sp>
      <p:sp>
        <p:nvSpPr>
          <p:cNvPr id="3" name="Text 1">
            <a:extLst>
              <a:ext uri="{FF2B5EF4-FFF2-40B4-BE49-F238E27FC236}">
                <a16:creationId xmlns:a16="http://schemas.microsoft.com/office/drawing/2014/main" id="{3875A0EF-9400-BDF1-390F-DEFFA7653459}"/>
              </a:ext>
            </a:extLst>
          </p:cNvPr>
          <p:cNvSpPr/>
          <p:nvPr/>
        </p:nvSpPr>
        <p:spPr>
          <a:xfrm>
            <a:off x="868680" y="256032"/>
            <a:ext cx="7772400" cy="548640"/>
          </a:xfrm>
          <a:prstGeom prst="rect">
            <a:avLst/>
          </a:prstGeom>
          <a:noFill/>
          <a:ln/>
        </p:spPr>
        <p:txBody>
          <a:bodyPr wrap="square" lIns="0" tIns="0" rIns="0" bIns="0" rtlCol="0" anchor="ctr"/>
          <a:lstStyle/>
          <a:p>
            <a:pPr marL="0" indent="0">
              <a:buNone/>
            </a:pPr>
            <a:r>
              <a:rPr lang="en-US" sz="3200" b="1" dirty="0">
                <a:solidFill>
                  <a:srgbClr val="0F3361"/>
                </a:solidFill>
                <a:latin typeface="Calibri" pitchFamily="34" charset="0"/>
                <a:ea typeface="Calibri" pitchFamily="34" charset="-122"/>
                <a:cs typeface="Calibri" pitchFamily="34" charset="-120"/>
              </a:rPr>
              <a:t>Admin Dashboard</a:t>
            </a:r>
            <a:endParaRPr lang="en-US" sz="3200" dirty="0"/>
          </a:p>
        </p:txBody>
      </p:sp>
      <p:sp>
        <p:nvSpPr>
          <p:cNvPr id="4" name="Text 2">
            <a:extLst>
              <a:ext uri="{FF2B5EF4-FFF2-40B4-BE49-F238E27FC236}">
                <a16:creationId xmlns:a16="http://schemas.microsoft.com/office/drawing/2014/main" id="{D873B5C8-2C51-2999-BA39-54F402DC1B16}"/>
              </a:ext>
            </a:extLst>
          </p:cNvPr>
          <p:cNvSpPr/>
          <p:nvPr/>
        </p:nvSpPr>
        <p:spPr>
          <a:xfrm>
            <a:off x="868680" y="777240"/>
            <a:ext cx="7772400" cy="310896"/>
          </a:xfrm>
          <a:prstGeom prst="rect">
            <a:avLst/>
          </a:prstGeom>
          <a:noFill/>
          <a:ln/>
        </p:spPr>
        <p:txBody>
          <a:bodyPr wrap="square" lIns="0" tIns="0" rIns="0" bIns="0"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Process 5.0 - Three tabs guarded by X-Admin-Password</a:t>
            </a:r>
            <a:endParaRPr lang="en-US" sz="1400" dirty="0"/>
          </a:p>
        </p:txBody>
      </p:sp>
      <p:sp>
        <p:nvSpPr>
          <p:cNvPr id="5" name="Shape 3">
            <a:extLst>
              <a:ext uri="{FF2B5EF4-FFF2-40B4-BE49-F238E27FC236}">
                <a16:creationId xmlns:a16="http://schemas.microsoft.com/office/drawing/2014/main" id="{77BF7CB6-F209-525D-E055-FC1708B1F9B2}"/>
              </a:ext>
            </a:extLst>
          </p:cNvPr>
          <p:cNvSpPr/>
          <p:nvPr/>
        </p:nvSpPr>
        <p:spPr>
          <a:xfrm>
            <a:off x="457200" y="1170432"/>
            <a:ext cx="8229600" cy="18288"/>
          </a:xfrm>
          <a:prstGeom prst="rect">
            <a:avLst/>
          </a:prstGeom>
          <a:solidFill>
            <a:srgbClr val="E5E7EB"/>
          </a:solidFill>
          <a:ln w="12700">
            <a:solidFill>
              <a:srgbClr val="E5E7EB"/>
            </a:solidFill>
            <a:prstDash val="solid"/>
          </a:ln>
        </p:spPr>
        <p:txBody>
          <a:bodyPr/>
          <a:lstStyle/>
          <a:p>
            <a:endParaRPr lang="en-US"/>
          </a:p>
        </p:txBody>
      </p:sp>
      <p:sp>
        <p:nvSpPr>
          <p:cNvPr id="6" name="Shape 4">
            <a:extLst>
              <a:ext uri="{FF2B5EF4-FFF2-40B4-BE49-F238E27FC236}">
                <a16:creationId xmlns:a16="http://schemas.microsoft.com/office/drawing/2014/main" id="{93A9EDF1-0B6F-A410-73E6-EECF9F47C13F}"/>
              </a:ext>
            </a:extLst>
          </p:cNvPr>
          <p:cNvSpPr/>
          <p:nvPr/>
        </p:nvSpPr>
        <p:spPr>
          <a:xfrm>
            <a:off x="1566333" y="1508760"/>
            <a:ext cx="2697480" cy="3246120"/>
          </a:xfrm>
          <a:prstGeom prst="rect">
            <a:avLst/>
          </a:prstGeom>
          <a:solidFill>
            <a:srgbClr val="FFFFFF"/>
          </a:solidFill>
          <a:ln w="25400">
            <a:solidFill>
              <a:srgbClr val="0F3361"/>
            </a:solidFill>
            <a:prstDash val="solid"/>
          </a:ln>
          <a:effectLst>
            <a:outerShdw blurRad="76200" dist="25400" dir="5400000" algn="bl" rotWithShape="0">
              <a:srgbClr val="000000">
                <a:alpha val="8000"/>
              </a:srgbClr>
            </a:outerShdw>
          </a:effectLst>
        </p:spPr>
        <p:txBody>
          <a:bodyPr/>
          <a:lstStyle/>
          <a:p>
            <a:endParaRPr lang="en-US"/>
          </a:p>
        </p:txBody>
      </p:sp>
      <p:sp>
        <p:nvSpPr>
          <p:cNvPr id="7" name="Shape 5">
            <a:extLst>
              <a:ext uri="{FF2B5EF4-FFF2-40B4-BE49-F238E27FC236}">
                <a16:creationId xmlns:a16="http://schemas.microsoft.com/office/drawing/2014/main" id="{076C4BE2-F49C-DF74-F2CD-A79CB3BDB347}"/>
              </a:ext>
            </a:extLst>
          </p:cNvPr>
          <p:cNvSpPr/>
          <p:nvPr/>
        </p:nvSpPr>
        <p:spPr>
          <a:xfrm>
            <a:off x="1566333" y="1508760"/>
            <a:ext cx="2697480" cy="1005840"/>
          </a:xfrm>
          <a:prstGeom prst="rect">
            <a:avLst/>
          </a:prstGeom>
          <a:solidFill>
            <a:srgbClr val="0F3361"/>
          </a:solidFill>
          <a:ln w="12700">
            <a:solidFill>
              <a:srgbClr val="0F3361"/>
            </a:solidFill>
            <a:prstDash val="solid"/>
          </a:ln>
        </p:spPr>
        <p:txBody>
          <a:bodyPr/>
          <a:lstStyle/>
          <a:p>
            <a:endParaRPr lang="en-US"/>
          </a:p>
        </p:txBody>
      </p:sp>
      <p:sp>
        <p:nvSpPr>
          <p:cNvPr id="8" name="Text 6">
            <a:extLst>
              <a:ext uri="{FF2B5EF4-FFF2-40B4-BE49-F238E27FC236}">
                <a16:creationId xmlns:a16="http://schemas.microsoft.com/office/drawing/2014/main" id="{51BEABE1-ADDB-918E-2E3F-12E6608E9752}"/>
              </a:ext>
            </a:extLst>
          </p:cNvPr>
          <p:cNvSpPr/>
          <p:nvPr/>
        </p:nvSpPr>
        <p:spPr>
          <a:xfrm>
            <a:off x="1566333" y="1600200"/>
            <a:ext cx="2697480" cy="822960"/>
          </a:xfrm>
          <a:prstGeom prst="rect">
            <a:avLst/>
          </a:prstGeom>
          <a:noFill/>
          <a:ln/>
        </p:spPr>
        <p:txBody>
          <a:bodyPr wrap="square" lIns="0" tIns="0" rIns="0" bIns="0" rtlCol="0" anchor="ctr"/>
          <a:lstStyle/>
          <a:p>
            <a:pPr marL="0" indent="0" algn="ctr">
              <a:buNone/>
            </a:pPr>
            <a:r>
              <a:rPr lang="en-US" sz="5600" b="1" dirty="0">
                <a:solidFill>
                  <a:srgbClr val="FFFFFF"/>
                </a:solidFill>
                <a:latin typeface="Calibri" pitchFamily="34" charset="0"/>
                <a:ea typeface="Calibri" pitchFamily="34" charset="-122"/>
                <a:cs typeface="Calibri" pitchFamily="34" charset="-120"/>
              </a:rPr>
              <a:t>01</a:t>
            </a:r>
            <a:endParaRPr lang="en-US" sz="5600" dirty="0"/>
          </a:p>
        </p:txBody>
      </p:sp>
      <p:sp>
        <p:nvSpPr>
          <p:cNvPr id="9" name="Text 7">
            <a:extLst>
              <a:ext uri="{FF2B5EF4-FFF2-40B4-BE49-F238E27FC236}">
                <a16:creationId xmlns:a16="http://schemas.microsoft.com/office/drawing/2014/main" id="{676923A4-6FC2-7F41-BC70-6C57CD5F2B26}"/>
              </a:ext>
            </a:extLst>
          </p:cNvPr>
          <p:cNvSpPr/>
          <p:nvPr/>
        </p:nvSpPr>
        <p:spPr>
          <a:xfrm>
            <a:off x="1749213" y="2651760"/>
            <a:ext cx="2331720" cy="457200"/>
          </a:xfrm>
          <a:prstGeom prst="rect">
            <a:avLst/>
          </a:prstGeom>
          <a:noFill/>
          <a:ln/>
        </p:spPr>
        <p:txBody>
          <a:bodyPr wrap="square" lIns="0" tIns="0" rIns="0" bIns="0" rtlCol="0" anchor="ctr"/>
          <a:lstStyle/>
          <a:p>
            <a:pPr marL="0" indent="0">
              <a:buNone/>
            </a:pPr>
            <a:r>
              <a:rPr lang="en-US" sz="1900" b="1" dirty="0">
                <a:solidFill>
                  <a:srgbClr val="0F3361"/>
                </a:solidFill>
                <a:latin typeface="Calibri" pitchFamily="34" charset="0"/>
                <a:ea typeface="Calibri" pitchFamily="34" charset="-122"/>
                <a:cs typeface="Calibri" pitchFamily="34" charset="-120"/>
              </a:rPr>
              <a:t>Analytics</a:t>
            </a:r>
            <a:endParaRPr lang="en-US" sz="1900" dirty="0"/>
          </a:p>
        </p:txBody>
      </p:sp>
      <p:sp>
        <p:nvSpPr>
          <p:cNvPr id="10" name="Text 8">
            <a:extLst>
              <a:ext uri="{FF2B5EF4-FFF2-40B4-BE49-F238E27FC236}">
                <a16:creationId xmlns:a16="http://schemas.microsoft.com/office/drawing/2014/main" id="{14DF0BE4-280B-A5E9-55E5-9B0748F9BFD9}"/>
              </a:ext>
            </a:extLst>
          </p:cNvPr>
          <p:cNvSpPr/>
          <p:nvPr/>
        </p:nvSpPr>
        <p:spPr>
          <a:xfrm>
            <a:off x="1749213" y="3200400"/>
            <a:ext cx="2331720" cy="141732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1A1F2C"/>
                </a:solidFill>
                <a:latin typeface="Calibri" pitchFamily="34" charset="0"/>
                <a:ea typeface="Calibri" pitchFamily="34" charset="-122"/>
                <a:cs typeface="Calibri" pitchFamily="34" charset="-120"/>
              </a:rPr>
              <a:t>Total participants metric</a:t>
            </a:r>
            <a:endParaRPr lang="en-US" sz="1300" dirty="0"/>
          </a:p>
          <a:p>
            <a:pPr marL="342900" indent="-342900">
              <a:spcAft>
                <a:spcPts val="800"/>
              </a:spcAft>
              <a:buSzPct val="100000"/>
              <a:buChar char="●"/>
            </a:pPr>
            <a:r>
              <a:rPr lang="en-US" sz="1300" dirty="0">
                <a:solidFill>
                  <a:srgbClr val="1A1F2C"/>
                </a:solidFill>
                <a:latin typeface="Calibri" pitchFamily="34" charset="0"/>
                <a:ea typeface="Calibri" pitchFamily="34" charset="-122"/>
                <a:cs typeface="Calibri" pitchFamily="34" charset="-120"/>
              </a:rPr>
              <a:t>Bar chart - program views</a:t>
            </a:r>
            <a:endParaRPr lang="en-US" sz="1300" dirty="0"/>
          </a:p>
          <a:p>
            <a:pPr marL="342900" indent="-342900">
              <a:spcAft>
                <a:spcPts val="800"/>
              </a:spcAft>
              <a:buSzPct val="100000"/>
              <a:buChar char="●"/>
            </a:pPr>
            <a:r>
              <a:rPr lang="en-US" sz="1300" dirty="0">
                <a:solidFill>
                  <a:srgbClr val="1A1F2C"/>
                </a:solidFill>
                <a:latin typeface="Calibri" pitchFamily="34" charset="0"/>
                <a:ea typeface="Calibri" pitchFamily="34" charset="-122"/>
                <a:cs typeface="Calibri" pitchFamily="34" charset="-120"/>
              </a:rPr>
              <a:t>Pie chart - persona distribution</a:t>
            </a:r>
            <a:endParaRPr lang="en-US" sz="1300" dirty="0"/>
          </a:p>
        </p:txBody>
      </p:sp>
      <p:sp>
        <p:nvSpPr>
          <p:cNvPr id="11" name="Shape 9">
            <a:extLst>
              <a:ext uri="{FF2B5EF4-FFF2-40B4-BE49-F238E27FC236}">
                <a16:creationId xmlns:a16="http://schemas.microsoft.com/office/drawing/2014/main" id="{7AB7EFA3-B030-2A4F-E54C-B4767E42ED13}"/>
              </a:ext>
            </a:extLst>
          </p:cNvPr>
          <p:cNvSpPr/>
          <p:nvPr/>
        </p:nvSpPr>
        <p:spPr>
          <a:xfrm>
            <a:off x="4428405" y="1508760"/>
            <a:ext cx="2697480" cy="3246120"/>
          </a:xfrm>
          <a:prstGeom prst="rect">
            <a:avLst/>
          </a:prstGeom>
          <a:solidFill>
            <a:srgbClr val="FFFFFF"/>
          </a:solidFill>
          <a:ln w="25400">
            <a:solidFill>
              <a:srgbClr val="E34628"/>
            </a:solidFill>
            <a:prstDash val="solid"/>
          </a:ln>
          <a:effectLst>
            <a:outerShdw blurRad="76200" dist="25400" dir="5400000" algn="bl" rotWithShape="0">
              <a:srgbClr val="000000">
                <a:alpha val="8000"/>
              </a:srgbClr>
            </a:outerShdw>
          </a:effectLst>
        </p:spPr>
        <p:txBody>
          <a:bodyPr/>
          <a:lstStyle/>
          <a:p>
            <a:endParaRPr lang="en-US"/>
          </a:p>
        </p:txBody>
      </p:sp>
      <p:sp>
        <p:nvSpPr>
          <p:cNvPr id="12" name="Shape 10">
            <a:extLst>
              <a:ext uri="{FF2B5EF4-FFF2-40B4-BE49-F238E27FC236}">
                <a16:creationId xmlns:a16="http://schemas.microsoft.com/office/drawing/2014/main" id="{32153602-91D0-71F4-D312-0AC986AF9706}"/>
              </a:ext>
            </a:extLst>
          </p:cNvPr>
          <p:cNvSpPr/>
          <p:nvPr/>
        </p:nvSpPr>
        <p:spPr>
          <a:xfrm>
            <a:off x="4428405" y="1508760"/>
            <a:ext cx="2697480" cy="1005840"/>
          </a:xfrm>
          <a:prstGeom prst="rect">
            <a:avLst/>
          </a:prstGeom>
          <a:solidFill>
            <a:srgbClr val="E34628"/>
          </a:solidFill>
          <a:ln w="12700">
            <a:solidFill>
              <a:srgbClr val="E34628"/>
            </a:solidFill>
            <a:prstDash val="solid"/>
          </a:ln>
        </p:spPr>
        <p:txBody>
          <a:bodyPr/>
          <a:lstStyle/>
          <a:p>
            <a:endParaRPr lang="en-US"/>
          </a:p>
        </p:txBody>
      </p:sp>
      <p:sp>
        <p:nvSpPr>
          <p:cNvPr id="13" name="Text 11">
            <a:extLst>
              <a:ext uri="{FF2B5EF4-FFF2-40B4-BE49-F238E27FC236}">
                <a16:creationId xmlns:a16="http://schemas.microsoft.com/office/drawing/2014/main" id="{DC854BF6-D638-7E61-4F54-615D150A3809}"/>
              </a:ext>
            </a:extLst>
          </p:cNvPr>
          <p:cNvSpPr/>
          <p:nvPr/>
        </p:nvSpPr>
        <p:spPr>
          <a:xfrm>
            <a:off x="4428405" y="1600200"/>
            <a:ext cx="2697480" cy="822960"/>
          </a:xfrm>
          <a:prstGeom prst="rect">
            <a:avLst/>
          </a:prstGeom>
          <a:noFill/>
          <a:ln/>
        </p:spPr>
        <p:txBody>
          <a:bodyPr wrap="square" lIns="0" tIns="0" rIns="0" bIns="0" rtlCol="0" anchor="ctr"/>
          <a:lstStyle/>
          <a:p>
            <a:pPr marL="0" indent="0" algn="ctr">
              <a:buNone/>
            </a:pPr>
            <a:r>
              <a:rPr lang="en-US" sz="5600" b="1" dirty="0">
                <a:solidFill>
                  <a:srgbClr val="FFFFFF"/>
                </a:solidFill>
                <a:latin typeface="Calibri" pitchFamily="34" charset="0"/>
                <a:ea typeface="Calibri" pitchFamily="34" charset="-122"/>
                <a:cs typeface="Calibri" pitchFamily="34" charset="-120"/>
              </a:rPr>
              <a:t>02</a:t>
            </a:r>
            <a:endParaRPr lang="en-US" sz="5600" dirty="0"/>
          </a:p>
        </p:txBody>
      </p:sp>
      <p:sp>
        <p:nvSpPr>
          <p:cNvPr id="14" name="Text 12">
            <a:extLst>
              <a:ext uri="{FF2B5EF4-FFF2-40B4-BE49-F238E27FC236}">
                <a16:creationId xmlns:a16="http://schemas.microsoft.com/office/drawing/2014/main" id="{8126BDDA-CC1D-1B48-C75D-01F712FDCF03}"/>
              </a:ext>
            </a:extLst>
          </p:cNvPr>
          <p:cNvSpPr/>
          <p:nvPr/>
        </p:nvSpPr>
        <p:spPr>
          <a:xfrm>
            <a:off x="4611285" y="2651760"/>
            <a:ext cx="2331720" cy="457200"/>
          </a:xfrm>
          <a:prstGeom prst="rect">
            <a:avLst/>
          </a:prstGeom>
          <a:noFill/>
          <a:ln/>
        </p:spPr>
        <p:txBody>
          <a:bodyPr wrap="square" lIns="0" tIns="0" rIns="0" bIns="0" rtlCol="0" anchor="ctr"/>
          <a:lstStyle/>
          <a:p>
            <a:pPr marL="0" indent="0">
              <a:buNone/>
            </a:pPr>
            <a:r>
              <a:rPr lang="en-US" sz="1900" b="1" dirty="0">
                <a:solidFill>
                  <a:srgbClr val="0F3361"/>
                </a:solidFill>
                <a:latin typeface="Calibri" pitchFamily="34" charset="0"/>
                <a:ea typeface="Calibri" pitchFamily="34" charset="-122"/>
                <a:cs typeface="Calibri" pitchFamily="34" charset="-120"/>
              </a:rPr>
              <a:t>User Management</a:t>
            </a:r>
            <a:endParaRPr lang="en-US" sz="1900" dirty="0"/>
          </a:p>
        </p:txBody>
      </p:sp>
      <p:sp>
        <p:nvSpPr>
          <p:cNvPr id="15" name="Text 13">
            <a:extLst>
              <a:ext uri="{FF2B5EF4-FFF2-40B4-BE49-F238E27FC236}">
                <a16:creationId xmlns:a16="http://schemas.microsoft.com/office/drawing/2014/main" id="{343D7DA2-F167-01BF-46FF-BA8DE92728BF}"/>
              </a:ext>
            </a:extLst>
          </p:cNvPr>
          <p:cNvSpPr/>
          <p:nvPr/>
        </p:nvSpPr>
        <p:spPr>
          <a:xfrm>
            <a:off x="4611285" y="3200400"/>
            <a:ext cx="2331720" cy="141732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1A1F2C"/>
                </a:solidFill>
                <a:latin typeface="Calibri" pitchFamily="34" charset="0"/>
                <a:ea typeface="Calibri" pitchFamily="34" charset="-122"/>
                <a:cs typeface="Calibri" pitchFamily="34" charset="-120"/>
              </a:rPr>
              <a:t>List of all registered students</a:t>
            </a:r>
            <a:endParaRPr lang="en-US" sz="1300" dirty="0"/>
          </a:p>
          <a:p>
            <a:pPr marL="342900" indent="-342900">
              <a:spcAft>
                <a:spcPts val="800"/>
              </a:spcAft>
              <a:buSzPct val="100000"/>
              <a:buChar char="●"/>
            </a:pPr>
            <a:r>
              <a:rPr lang="en-US" sz="1300" dirty="0">
                <a:solidFill>
                  <a:srgbClr val="1A1F2C"/>
                </a:solidFill>
                <a:latin typeface="Calibri" pitchFamily="34" charset="0"/>
                <a:ea typeface="Calibri" pitchFamily="34" charset="-122"/>
                <a:cs typeface="Calibri" pitchFamily="34" charset="-120"/>
              </a:rPr>
              <a:t>Edit or delete a student record</a:t>
            </a:r>
            <a:endParaRPr lang="en-US" sz="1300" dirty="0"/>
          </a:p>
          <a:p>
            <a:pPr marL="342900" indent="-342900">
              <a:spcAft>
                <a:spcPts val="800"/>
              </a:spcAft>
              <a:buSzPct val="100000"/>
              <a:buChar char="●"/>
            </a:pPr>
            <a:r>
              <a:rPr lang="en-US" sz="1300" dirty="0">
                <a:solidFill>
                  <a:srgbClr val="1A1F2C"/>
                </a:solidFill>
                <a:latin typeface="Calibri" pitchFamily="34" charset="0"/>
                <a:ea typeface="Calibri" pitchFamily="34" charset="-122"/>
                <a:cs typeface="Calibri" pitchFamily="34" charset="-120"/>
              </a:rPr>
              <a:t>PATCH / DELETE /api/admin/students/{id}</a:t>
            </a:r>
            <a:endParaRPr lang="en-US" sz="1300" dirty="0"/>
          </a:p>
        </p:txBody>
      </p:sp>
    </p:spTree>
    <p:extLst>
      <p:ext uri="{BB962C8B-B14F-4D97-AF65-F5344CB8AC3E}">
        <p14:creationId xmlns:p14="http://schemas.microsoft.com/office/powerpoint/2010/main" val="27576946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56032" cy="256032"/>
          </a:xfrm>
          <a:prstGeom prst="ellipse">
            <a:avLst/>
          </a:prstGeom>
          <a:solidFill>
            <a:srgbClr val="E34628"/>
          </a:solidFill>
          <a:ln w="12700">
            <a:solidFill>
              <a:srgbClr val="E34628"/>
            </a:solidFill>
            <a:prstDash val="solid"/>
          </a:ln>
        </p:spPr>
        <p:txBody>
          <a:bodyPr/>
          <a:lstStyle/>
          <a:p>
            <a:endParaRPr lang="en-US"/>
          </a:p>
        </p:txBody>
      </p:sp>
      <p:sp>
        <p:nvSpPr>
          <p:cNvPr id="3" name="Text 1"/>
          <p:cNvSpPr/>
          <p:nvPr/>
        </p:nvSpPr>
        <p:spPr>
          <a:xfrm>
            <a:off x="868680" y="256032"/>
            <a:ext cx="7772400" cy="548640"/>
          </a:xfrm>
          <a:prstGeom prst="rect">
            <a:avLst/>
          </a:prstGeom>
          <a:noFill/>
          <a:ln/>
        </p:spPr>
        <p:txBody>
          <a:bodyPr wrap="square" lIns="0" tIns="0" rIns="0" bIns="0" rtlCol="0" anchor="ctr"/>
          <a:lstStyle/>
          <a:p>
            <a:pPr marL="0" indent="0">
              <a:buNone/>
            </a:pPr>
            <a:r>
              <a:rPr lang="en-US" sz="3200" b="1" dirty="0">
                <a:solidFill>
                  <a:srgbClr val="0F3361"/>
                </a:solidFill>
                <a:latin typeface="Calibri" pitchFamily="34" charset="0"/>
                <a:ea typeface="Calibri" pitchFamily="34" charset="-122"/>
                <a:cs typeface="Calibri" pitchFamily="34" charset="-120"/>
              </a:rPr>
              <a:t>Database Schema</a:t>
            </a:r>
            <a:endParaRPr lang="en-US" sz="3200" dirty="0"/>
          </a:p>
        </p:txBody>
      </p:sp>
      <p:sp>
        <p:nvSpPr>
          <p:cNvPr id="4" name="Text 2"/>
          <p:cNvSpPr/>
          <p:nvPr/>
        </p:nvSpPr>
        <p:spPr>
          <a:xfrm>
            <a:off x="868680" y="777240"/>
            <a:ext cx="7772400" cy="310896"/>
          </a:xfrm>
          <a:prstGeom prst="rect">
            <a:avLst/>
          </a:prstGeom>
          <a:noFill/>
          <a:ln/>
        </p:spPr>
        <p:txBody>
          <a:bodyPr wrap="square" lIns="0" tIns="0" rIns="0" bIns="0"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Six MySQL tables - logical relationships</a:t>
            </a:r>
            <a:endParaRPr lang="en-US" sz="1400" dirty="0"/>
          </a:p>
        </p:txBody>
      </p:sp>
      <p:sp>
        <p:nvSpPr>
          <p:cNvPr id="5" name="Shape 3"/>
          <p:cNvSpPr/>
          <p:nvPr/>
        </p:nvSpPr>
        <p:spPr>
          <a:xfrm>
            <a:off x="457200" y="1170432"/>
            <a:ext cx="8229600" cy="18288"/>
          </a:xfrm>
          <a:prstGeom prst="rect">
            <a:avLst/>
          </a:prstGeom>
          <a:solidFill>
            <a:srgbClr val="E5E7EB"/>
          </a:solidFill>
          <a:ln w="12700">
            <a:solidFill>
              <a:srgbClr val="E5E7EB"/>
            </a:solidFill>
            <a:prstDash val="solid"/>
          </a:ln>
        </p:spPr>
        <p:txBody>
          <a:bodyPr/>
          <a:lstStyle/>
          <a:p>
            <a:endParaRPr lang="en-US"/>
          </a:p>
        </p:txBody>
      </p:sp>
      <p:sp>
        <p:nvSpPr>
          <p:cNvPr id="6" name="Shape 4"/>
          <p:cNvSpPr/>
          <p:nvPr/>
        </p:nvSpPr>
        <p:spPr>
          <a:xfrm>
            <a:off x="457200" y="1417320"/>
            <a:ext cx="2651760" cy="1508760"/>
          </a:xfrm>
          <a:prstGeom prst="rect">
            <a:avLst/>
          </a:prstGeom>
          <a:solidFill>
            <a:srgbClr val="F8FAFC"/>
          </a:solidFill>
          <a:ln w="12700">
            <a:solidFill>
              <a:srgbClr val="E5E7EB"/>
            </a:solidFill>
            <a:prstDash val="solid"/>
          </a:ln>
          <a:effectLst>
            <a:outerShdw blurRad="76200" dist="25400" dir="5400000" algn="bl" rotWithShape="0">
              <a:srgbClr val="000000">
                <a:alpha val="8000"/>
              </a:srgbClr>
            </a:outerShdw>
          </a:effectLst>
        </p:spPr>
        <p:txBody>
          <a:bodyPr/>
          <a:lstStyle/>
          <a:p>
            <a:endParaRPr lang="en-US"/>
          </a:p>
        </p:txBody>
      </p:sp>
      <p:sp>
        <p:nvSpPr>
          <p:cNvPr id="7" name="Shape 5"/>
          <p:cNvSpPr/>
          <p:nvPr/>
        </p:nvSpPr>
        <p:spPr>
          <a:xfrm>
            <a:off x="457200" y="1417320"/>
            <a:ext cx="2651760" cy="347472"/>
          </a:xfrm>
          <a:prstGeom prst="rect">
            <a:avLst/>
          </a:prstGeom>
          <a:solidFill>
            <a:srgbClr val="0F3361"/>
          </a:solidFill>
          <a:ln w="12700">
            <a:solidFill>
              <a:srgbClr val="0F3361"/>
            </a:solidFill>
            <a:prstDash val="solid"/>
          </a:ln>
        </p:spPr>
        <p:txBody>
          <a:bodyPr/>
          <a:lstStyle/>
          <a:p>
            <a:endParaRPr lang="en-US"/>
          </a:p>
        </p:txBody>
      </p:sp>
      <p:sp>
        <p:nvSpPr>
          <p:cNvPr id="8" name="Text 6"/>
          <p:cNvSpPr/>
          <p:nvPr/>
        </p:nvSpPr>
        <p:spPr>
          <a:xfrm>
            <a:off x="457200" y="1417320"/>
            <a:ext cx="265176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students</a:t>
            </a:r>
            <a:endParaRPr lang="en-US" sz="1300" dirty="0"/>
          </a:p>
        </p:txBody>
      </p:sp>
      <p:sp>
        <p:nvSpPr>
          <p:cNvPr id="9" name="Text 7"/>
          <p:cNvSpPr/>
          <p:nvPr/>
        </p:nvSpPr>
        <p:spPr>
          <a:xfrm>
            <a:off x="548640" y="1801368"/>
            <a:ext cx="2468880" cy="1051560"/>
          </a:xfrm>
          <a:prstGeom prst="rect">
            <a:avLst/>
          </a:prstGeom>
          <a:noFill/>
          <a:ln/>
        </p:spPr>
        <p:txBody>
          <a:bodyPr wrap="square" lIns="0" tIns="0" rIns="0" bIns="0" rtlCol="0" anchor="ctr"/>
          <a:lstStyle/>
          <a:p>
            <a:pPr marL="0" indent="0">
              <a:buNone/>
            </a:pPr>
            <a:r>
              <a:rPr lang="en-US" sz="950" dirty="0">
                <a:solidFill>
                  <a:srgbClr val="1A1F2C"/>
                </a:solidFill>
                <a:latin typeface="Consolas" pitchFamily="34" charset="0"/>
                <a:ea typeface="Consolas" pitchFamily="34" charset="-122"/>
                <a:cs typeface="Consolas" pitchFamily="34" charset="-120"/>
              </a:rPr>
              <a:t>id (PK)</a:t>
            </a:r>
            <a:endParaRPr lang="en-US" sz="950" dirty="0"/>
          </a:p>
          <a:p>
            <a:pPr marL="0" indent="0">
              <a:buNone/>
            </a:pPr>
            <a:r>
              <a:rPr lang="en-US" sz="950" dirty="0">
                <a:solidFill>
                  <a:srgbClr val="1A1F2C"/>
                </a:solidFill>
                <a:latin typeface="Consolas" pitchFamily="34" charset="0"/>
                <a:ea typeface="Consolas" pitchFamily="34" charset="-122"/>
                <a:cs typeface="Consolas" pitchFamily="34" charset="-120"/>
              </a:rPr>
              <a:t>session_id</a:t>
            </a:r>
            <a:endParaRPr lang="en-US" sz="950" dirty="0"/>
          </a:p>
          <a:p>
            <a:pPr marL="0" indent="0">
              <a:buNone/>
            </a:pPr>
            <a:r>
              <a:rPr lang="en-US" sz="950" dirty="0">
                <a:solidFill>
                  <a:srgbClr val="1A1F2C"/>
                </a:solidFill>
                <a:latin typeface="Consolas" pitchFamily="34" charset="0"/>
                <a:ea typeface="Consolas" pitchFamily="34" charset="-122"/>
                <a:cs typeface="Consolas" pitchFamily="34" charset="-120"/>
              </a:rPr>
              <a:t>name</a:t>
            </a:r>
            <a:endParaRPr lang="en-US" sz="950" dirty="0"/>
          </a:p>
          <a:p>
            <a:pPr marL="0" indent="0">
              <a:buNone/>
            </a:pPr>
            <a:r>
              <a:rPr lang="en-US" sz="950" dirty="0">
                <a:solidFill>
                  <a:srgbClr val="1A1F2C"/>
                </a:solidFill>
                <a:latin typeface="Consolas" pitchFamily="34" charset="0"/>
                <a:ea typeface="Consolas" pitchFamily="34" charset="-122"/>
                <a:cs typeface="Consolas" pitchFamily="34" charset="-120"/>
              </a:rPr>
              <a:t>email</a:t>
            </a:r>
            <a:endParaRPr lang="en-US" sz="950" dirty="0"/>
          </a:p>
          <a:p>
            <a:pPr marL="0" indent="0">
              <a:buNone/>
            </a:pPr>
            <a:r>
              <a:rPr lang="en-US" sz="950" dirty="0">
                <a:solidFill>
                  <a:srgbClr val="1A1F2C"/>
                </a:solidFill>
                <a:latin typeface="Consolas" pitchFamily="34" charset="0"/>
                <a:ea typeface="Consolas" pitchFamily="34" charset="-122"/>
                <a:cs typeface="Consolas" pitchFamily="34" charset="-120"/>
              </a:rPr>
              <a:t>password (hashed)</a:t>
            </a:r>
            <a:endParaRPr lang="en-US" sz="950" dirty="0"/>
          </a:p>
          <a:p>
            <a:pPr marL="0" indent="0">
              <a:buNone/>
            </a:pPr>
            <a:r>
              <a:rPr lang="en-US" sz="950" dirty="0">
                <a:solidFill>
                  <a:srgbClr val="1A1F2C"/>
                </a:solidFill>
                <a:latin typeface="Consolas" pitchFamily="34" charset="0"/>
                <a:ea typeface="Consolas" pitchFamily="34" charset="-122"/>
                <a:cs typeface="Consolas" pitchFamily="34" charset="-120"/>
              </a:rPr>
              <a:t>persona</a:t>
            </a:r>
            <a:endParaRPr lang="en-US" sz="950" dirty="0"/>
          </a:p>
          <a:p>
            <a:pPr marL="0" indent="0">
              <a:buNone/>
            </a:pPr>
            <a:r>
              <a:rPr lang="en-US" sz="950" dirty="0">
                <a:solidFill>
                  <a:srgbClr val="1A1F2C"/>
                </a:solidFill>
                <a:latin typeface="Consolas" pitchFamily="34" charset="0"/>
                <a:ea typeface="Consolas" pitchFamily="34" charset="-122"/>
                <a:cs typeface="Consolas" pitchFamily="34" charset="-120"/>
              </a:rPr>
              <a:t>transcript_path</a:t>
            </a:r>
            <a:endParaRPr lang="en-US" sz="950" dirty="0"/>
          </a:p>
        </p:txBody>
      </p:sp>
      <p:sp>
        <p:nvSpPr>
          <p:cNvPr id="10" name="Shape 8"/>
          <p:cNvSpPr/>
          <p:nvPr/>
        </p:nvSpPr>
        <p:spPr>
          <a:xfrm>
            <a:off x="3273552" y="1417320"/>
            <a:ext cx="2651760" cy="1508760"/>
          </a:xfrm>
          <a:prstGeom prst="rect">
            <a:avLst/>
          </a:prstGeom>
          <a:solidFill>
            <a:srgbClr val="F8FAFC"/>
          </a:solidFill>
          <a:ln w="12700">
            <a:solidFill>
              <a:srgbClr val="E5E7EB"/>
            </a:solidFill>
            <a:prstDash val="solid"/>
          </a:ln>
          <a:effectLst>
            <a:outerShdw blurRad="76200" dist="25400" dir="5400000" algn="bl" rotWithShape="0">
              <a:srgbClr val="000000">
                <a:alpha val="8000"/>
              </a:srgbClr>
            </a:outerShdw>
          </a:effectLst>
        </p:spPr>
        <p:txBody>
          <a:bodyPr/>
          <a:lstStyle/>
          <a:p>
            <a:endParaRPr lang="en-US"/>
          </a:p>
        </p:txBody>
      </p:sp>
      <p:sp>
        <p:nvSpPr>
          <p:cNvPr id="11" name="Shape 9"/>
          <p:cNvSpPr/>
          <p:nvPr/>
        </p:nvSpPr>
        <p:spPr>
          <a:xfrm>
            <a:off x="3273552" y="1417320"/>
            <a:ext cx="2651760" cy="347472"/>
          </a:xfrm>
          <a:prstGeom prst="rect">
            <a:avLst/>
          </a:prstGeom>
          <a:solidFill>
            <a:srgbClr val="0F3361"/>
          </a:solidFill>
          <a:ln w="12700">
            <a:solidFill>
              <a:srgbClr val="0F3361"/>
            </a:solidFill>
            <a:prstDash val="solid"/>
          </a:ln>
        </p:spPr>
        <p:txBody>
          <a:bodyPr/>
          <a:lstStyle/>
          <a:p>
            <a:endParaRPr lang="en-US"/>
          </a:p>
        </p:txBody>
      </p:sp>
      <p:sp>
        <p:nvSpPr>
          <p:cNvPr id="12" name="Text 10"/>
          <p:cNvSpPr/>
          <p:nvPr/>
        </p:nvSpPr>
        <p:spPr>
          <a:xfrm>
            <a:off x="3273552" y="1417320"/>
            <a:ext cx="265176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quiz_questions</a:t>
            </a:r>
            <a:endParaRPr lang="en-US" sz="1300" dirty="0"/>
          </a:p>
        </p:txBody>
      </p:sp>
      <p:sp>
        <p:nvSpPr>
          <p:cNvPr id="13" name="Text 11"/>
          <p:cNvSpPr/>
          <p:nvPr/>
        </p:nvSpPr>
        <p:spPr>
          <a:xfrm>
            <a:off x="3364992" y="1801368"/>
            <a:ext cx="2468880" cy="1051560"/>
          </a:xfrm>
          <a:prstGeom prst="rect">
            <a:avLst/>
          </a:prstGeom>
          <a:noFill/>
          <a:ln/>
        </p:spPr>
        <p:txBody>
          <a:bodyPr wrap="square" lIns="0" tIns="0" rIns="0" bIns="0" rtlCol="0" anchor="ctr"/>
          <a:lstStyle/>
          <a:p>
            <a:pPr marL="0" indent="0">
              <a:buNone/>
            </a:pPr>
            <a:r>
              <a:rPr lang="en-US" sz="950" dirty="0">
                <a:solidFill>
                  <a:srgbClr val="1A1F2C"/>
                </a:solidFill>
                <a:latin typeface="Consolas" pitchFamily="34" charset="0"/>
                <a:ea typeface="Consolas" pitchFamily="34" charset="-122"/>
                <a:cs typeface="Consolas" pitchFamily="34" charset="-120"/>
              </a:rPr>
              <a:t>id (PK)</a:t>
            </a:r>
            <a:endParaRPr lang="en-US" sz="950" dirty="0"/>
          </a:p>
          <a:p>
            <a:pPr marL="0" indent="0">
              <a:buNone/>
            </a:pPr>
            <a:r>
              <a:rPr lang="en-US" sz="950" dirty="0">
                <a:solidFill>
                  <a:srgbClr val="1A1F2C"/>
                </a:solidFill>
                <a:latin typeface="Consolas" pitchFamily="34" charset="0"/>
                <a:ea typeface="Consolas" pitchFamily="34" charset="-122"/>
                <a:cs typeface="Consolas" pitchFamily="34" charset="-120"/>
              </a:rPr>
              <a:t>question</a:t>
            </a:r>
            <a:endParaRPr lang="en-US" sz="950" dirty="0"/>
          </a:p>
          <a:p>
            <a:pPr marL="0" indent="0">
              <a:buNone/>
            </a:pPr>
            <a:r>
              <a:rPr lang="en-US" sz="950" dirty="0">
                <a:solidFill>
                  <a:srgbClr val="1A1F2C"/>
                </a:solidFill>
                <a:latin typeface="Consolas" pitchFamily="34" charset="0"/>
                <a:ea typeface="Consolas" pitchFamily="34" charset="-122"/>
                <a:cs typeface="Consolas" pitchFamily="34" charset="-120"/>
              </a:rPr>
              <a:t>options (JSON)</a:t>
            </a:r>
            <a:endParaRPr lang="en-US" sz="950" dirty="0"/>
          </a:p>
          <a:p>
            <a:pPr marL="0" indent="0">
              <a:buNone/>
            </a:pPr>
            <a:r>
              <a:rPr lang="en-US" sz="950" dirty="0">
                <a:solidFill>
                  <a:srgbClr val="1A1F2C"/>
                </a:solidFill>
                <a:latin typeface="Consolas" pitchFamily="34" charset="0"/>
                <a:ea typeface="Consolas" pitchFamily="34" charset="-122"/>
                <a:cs typeface="Consolas" pitchFamily="34" charset="-120"/>
              </a:rPr>
              <a:t>order</a:t>
            </a:r>
            <a:endParaRPr lang="en-US" sz="950" dirty="0"/>
          </a:p>
        </p:txBody>
      </p:sp>
      <p:sp>
        <p:nvSpPr>
          <p:cNvPr id="14" name="Shape 12"/>
          <p:cNvSpPr/>
          <p:nvPr/>
        </p:nvSpPr>
        <p:spPr>
          <a:xfrm>
            <a:off x="6089904" y="1417320"/>
            <a:ext cx="2651760" cy="1508760"/>
          </a:xfrm>
          <a:prstGeom prst="rect">
            <a:avLst/>
          </a:prstGeom>
          <a:solidFill>
            <a:srgbClr val="F8FAFC"/>
          </a:solidFill>
          <a:ln w="12700">
            <a:solidFill>
              <a:srgbClr val="E5E7EB"/>
            </a:solidFill>
            <a:prstDash val="solid"/>
          </a:ln>
          <a:effectLst>
            <a:outerShdw blurRad="76200" dist="25400" dir="5400000" algn="bl" rotWithShape="0">
              <a:srgbClr val="000000">
                <a:alpha val="8000"/>
              </a:srgbClr>
            </a:outerShdw>
          </a:effectLst>
        </p:spPr>
        <p:txBody>
          <a:bodyPr/>
          <a:lstStyle/>
          <a:p>
            <a:endParaRPr lang="en-US"/>
          </a:p>
        </p:txBody>
      </p:sp>
      <p:sp>
        <p:nvSpPr>
          <p:cNvPr id="15" name="Shape 13"/>
          <p:cNvSpPr/>
          <p:nvPr/>
        </p:nvSpPr>
        <p:spPr>
          <a:xfrm>
            <a:off x="6089904" y="1417320"/>
            <a:ext cx="2651760" cy="347472"/>
          </a:xfrm>
          <a:prstGeom prst="rect">
            <a:avLst/>
          </a:prstGeom>
          <a:solidFill>
            <a:srgbClr val="E34628"/>
          </a:solidFill>
          <a:ln w="12700">
            <a:solidFill>
              <a:srgbClr val="E34628"/>
            </a:solidFill>
            <a:prstDash val="solid"/>
          </a:ln>
        </p:spPr>
        <p:txBody>
          <a:bodyPr/>
          <a:lstStyle/>
          <a:p>
            <a:endParaRPr lang="en-US"/>
          </a:p>
        </p:txBody>
      </p:sp>
      <p:sp>
        <p:nvSpPr>
          <p:cNvPr id="16" name="Text 14"/>
          <p:cNvSpPr/>
          <p:nvPr/>
        </p:nvSpPr>
        <p:spPr>
          <a:xfrm>
            <a:off x="6089904" y="1417320"/>
            <a:ext cx="265176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quiz_completions</a:t>
            </a:r>
            <a:endParaRPr lang="en-US" sz="1300" dirty="0"/>
          </a:p>
        </p:txBody>
      </p:sp>
      <p:sp>
        <p:nvSpPr>
          <p:cNvPr id="17" name="Text 15"/>
          <p:cNvSpPr/>
          <p:nvPr/>
        </p:nvSpPr>
        <p:spPr>
          <a:xfrm>
            <a:off x="6181344" y="1801368"/>
            <a:ext cx="2468880" cy="1051560"/>
          </a:xfrm>
          <a:prstGeom prst="rect">
            <a:avLst/>
          </a:prstGeom>
          <a:noFill/>
          <a:ln/>
        </p:spPr>
        <p:txBody>
          <a:bodyPr wrap="square" lIns="0" tIns="0" rIns="0" bIns="0" rtlCol="0" anchor="ctr"/>
          <a:lstStyle/>
          <a:p>
            <a:pPr marL="0" indent="0">
              <a:buNone/>
            </a:pPr>
            <a:r>
              <a:rPr lang="en-US" sz="950" dirty="0">
                <a:solidFill>
                  <a:srgbClr val="1A1F2C"/>
                </a:solidFill>
                <a:latin typeface="Consolas" pitchFamily="34" charset="0"/>
                <a:ea typeface="Consolas" pitchFamily="34" charset="-122"/>
                <a:cs typeface="Consolas" pitchFamily="34" charset="-120"/>
              </a:rPr>
              <a:t>id (PK)</a:t>
            </a:r>
            <a:endParaRPr lang="en-US" sz="950" dirty="0"/>
          </a:p>
          <a:p>
            <a:pPr marL="0" indent="0">
              <a:buNone/>
            </a:pPr>
            <a:r>
              <a:rPr lang="en-US" sz="950" dirty="0">
                <a:solidFill>
                  <a:srgbClr val="1A1F2C"/>
                </a:solidFill>
                <a:latin typeface="Consolas" pitchFamily="34" charset="0"/>
                <a:ea typeface="Consolas" pitchFamily="34" charset="-122"/>
                <a:cs typeface="Consolas" pitchFamily="34" charset="-120"/>
              </a:rPr>
              <a:t>session_id</a:t>
            </a:r>
            <a:endParaRPr lang="en-US" sz="950" dirty="0"/>
          </a:p>
          <a:p>
            <a:pPr marL="0" indent="0">
              <a:buNone/>
            </a:pPr>
            <a:r>
              <a:rPr lang="en-US" sz="950" dirty="0">
                <a:solidFill>
                  <a:srgbClr val="1A1F2C"/>
                </a:solidFill>
                <a:latin typeface="Consolas" pitchFamily="34" charset="0"/>
                <a:ea typeface="Consolas" pitchFamily="34" charset="-122"/>
                <a:cs typeface="Consolas" pitchFamily="34" charset="-120"/>
              </a:rPr>
              <a:t>persona</a:t>
            </a:r>
            <a:endParaRPr lang="en-US" sz="950" dirty="0"/>
          </a:p>
          <a:p>
            <a:pPr marL="0" indent="0">
              <a:buNone/>
            </a:pPr>
            <a:r>
              <a:rPr lang="en-US" sz="950" dirty="0">
                <a:solidFill>
                  <a:srgbClr val="1A1F2C"/>
                </a:solidFill>
                <a:latin typeface="Consolas" pitchFamily="34" charset="0"/>
                <a:ea typeface="Consolas" pitchFamily="34" charset="-122"/>
                <a:cs typeface="Consolas" pitchFamily="34" charset="-120"/>
              </a:rPr>
              <a:t>logic_score</a:t>
            </a:r>
            <a:endParaRPr lang="en-US" sz="950" dirty="0"/>
          </a:p>
          <a:p>
            <a:pPr marL="0" indent="0">
              <a:buNone/>
            </a:pPr>
            <a:r>
              <a:rPr lang="en-US" sz="950" dirty="0">
                <a:solidFill>
                  <a:srgbClr val="1A1F2C"/>
                </a:solidFill>
                <a:latin typeface="Consolas" pitchFamily="34" charset="0"/>
                <a:ea typeface="Consolas" pitchFamily="34" charset="-122"/>
                <a:cs typeface="Consolas" pitchFamily="34" charset="-120"/>
              </a:rPr>
              <a:t>creative_score</a:t>
            </a:r>
            <a:endParaRPr lang="en-US" sz="950" dirty="0"/>
          </a:p>
          <a:p>
            <a:pPr marL="0" indent="0">
              <a:buNone/>
            </a:pPr>
            <a:r>
              <a:rPr lang="en-US" sz="950" dirty="0">
                <a:solidFill>
                  <a:srgbClr val="1A1F2C"/>
                </a:solidFill>
                <a:latin typeface="Consolas" pitchFamily="34" charset="0"/>
                <a:ea typeface="Consolas" pitchFamily="34" charset="-122"/>
                <a:cs typeface="Consolas" pitchFamily="34" charset="-120"/>
              </a:rPr>
              <a:t>answers (JSON)</a:t>
            </a:r>
            <a:endParaRPr lang="en-US" sz="950" dirty="0"/>
          </a:p>
          <a:p>
            <a:pPr marL="0" indent="0">
              <a:buNone/>
            </a:pPr>
            <a:r>
              <a:rPr lang="en-US" sz="950" dirty="0">
                <a:solidFill>
                  <a:srgbClr val="1A1F2C"/>
                </a:solidFill>
                <a:latin typeface="Consolas" pitchFamily="34" charset="0"/>
                <a:ea typeface="Consolas" pitchFamily="34" charset="-122"/>
                <a:cs typeface="Consolas" pitchFamily="34" charset="-120"/>
              </a:rPr>
              <a:t>recommended_program_ids (JSON)</a:t>
            </a:r>
            <a:endParaRPr lang="en-US" sz="950" dirty="0"/>
          </a:p>
        </p:txBody>
      </p:sp>
      <p:sp>
        <p:nvSpPr>
          <p:cNvPr id="18" name="Shape 16"/>
          <p:cNvSpPr/>
          <p:nvPr/>
        </p:nvSpPr>
        <p:spPr>
          <a:xfrm>
            <a:off x="457200" y="3108960"/>
            <a:ext cx="2651760" cy="1508760"/>
          </a:xfrm>
          <a:prstGeom prst="rect">
            <a:avLst/>
          </a:prstGeom>
          <a:solidFill>
            <a:srgbClr val="F8FAFC"/>
          </a:solidFill>
          <a:ln w="12700">
            <a:solidFill>
              <a:srgbClr val="E5E7EB"/>
            </a:solidFill>
            <a:prstDash val="solid"/>
          </a:ln>
          <a:effectLst>
            <a:outerShdw blurRad="76200" dist="25400" dir="5400000" algn="bl" rotWithShape="0">
              <a:srgbClr val="000000">
                <a:alpha val="8000"/>
              </a:srgbClr>
            </a:outerShdw>
          </a:effectLst>
        </p:spPr>
        <p:txBody>
          <a:bodyPr/>
          <a:lstStyle/>
          <a:p>
            <a:endParaRPr lang="en-US"/>
          </a:p>
        </p:txBody>
      </p:sp>
      <p:sp>
        <p:nvSpPr>
          <p:cNvPr id="19" name="Shape 17"/>
          <p:cNvSpPr/>
          <p:nvPr/>
        </p:nvSpPr>
        <p:spPr>
          <a:xfrm>
            <a:off x="457200" y="3108960"/>
            <a:ext cx="2651760" cy="347472"/>
          </a:xfrm>
          <a:prstGeom prst="rect">
            <a:avLst/>
          </a:prstGeom>
          <a:solidFill>
            <a:srgbClr val="E34628"/>
          </a:solidFill>
          <a:ln w="12700">
            <a:solidFill>
              <a:srgbClr val="E34628"/>
            </a:solidFill>
            <a:prstDash val="solid"/>
          </a:ln>
        </p:spPr>
        <p:txBody>
          <a:bodyPr/>
          <a:lstStyle/>
          <a:p>
            <a:endParaRPr lang="en-US"/>
          </a:p>
        </p:txBody>
      </p:sp>
      <p:sp>
        <p:nvSpPr>
          <p:cNvPr id="20" name="Text 18"/>
          <p:cNvSpPr/>
          <p:nvPr/>
        </p:nvSpPr>
        <p:spPr>
          <a:xfrm>
            <a:off x="457200" y="3108960"/>
            <a:ext cx="265176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persona_rules</a:t>
            </a:r>
            <a:endParaRPr lang="en-US" sz="1300" dirty="0"/>
          </a:p>
        </p:txBody>
      </p:sp>
      <p:sp>
        <p:nvSpPr>
          <p:cNvPr id="21" name="Text 19"/>
          <p:cNvSpPr/>
          <p:nvPr/>
        </p:nvSpPr>
        <p:spPr>
          <a:xfrm>
            <a:off x="548640" y="3493008"/>
            <a:ext cx="2468880" cy="1051560"/>
          </a:xfrm>
          <a:prstGeom prst="rect">
            <a:avLst/>
          </a:prstGeom>
          <a:noFill/>
          <a:ln/>
        </p:spPr>
        <p:txBody>
          <a:bodyPr wrap="square" lIns="0" tIns="0" rIns="0" bIns="0" rtlCol="0" anchor="ctr"/>
          <a:lstStyle/>
          <a:p>
            <a:pPr marL="0" indent="0">
              <a:buNone/>
            </a:pPr>
            <a:r>
              <a:rPr lang="en-US" sz="950" dirty="0">
                <a:solidFill>
                  <a:srgbClr val="1A1F2C"/>
                </a:solidFill>
                <a:latin typeface="Consolas" pitchFamily="34" charset="0"/>
                <a:ea typeface="Consolas" pitchFamily="34" charset="-122"/>
                <a:cs typeface="Consolas" pitchFamily="34" charset="-120"/>
              </a:rPr>
              <a:t>id (PK)</a:t>
            </a:r>
            <a:endParaRPr lang="en-US" sz="950" dirty="0"/>
          </a:p>
          <a:p>
            <a:pPr marL="0" indent="0">
              <a:buNone/>
            </a:pPr>
            <a:r>
              <a:rPr lang="en-US" sz="950" dirty="0">
                <a:solidFill>
                  <a:srgbClr val="1A1F2C"/>
                </a:solidFill>
                <a:latin typeface="Consolas" pitchFamily="34" charset="0"/>
                <a:ea typeface="Consolas" pitchFamily="34" charset="-122"/>
                <a:cs typeface="Consolas" pitchFamily="34" charset="-120"/>
              </a:rPr>
              <a:t>answer_text</a:t>
            </a:r>
            <a:endParaRPr lang="en-US" sz="950" dirty="0"/>
          </a:p>
          <a:p>
            <a:pPr marL="0" indent="0">
              <a:buNone/>
            </a:pPr>
            <a:r>
              <a:rPr lang="en-US" sz="950" dirty="0">
                <a:solidFill>
                  <a:srgbClr val="1A1F2C"/>
                </a:solidFill>
                <a:latin typeface="Consolas" pitchFamily="34" charset="0"/>
                <a:ea typeface="Consolas" pitchFamily="34" charset="-122"/>
                <a:cs typeface="Consolas" pitchFamily="34" charset="-120"/>
              </a:rPr>
              <a:t>persona</a:t>
            </a:r>
            <a:endParaRPr lang="en-US" sz="950" dirty="0"/>
          </a:p>
          <a:p>
            <a:pPr marL="0" indent="0">
              <a:buNone/>
            </a:pPr>
            <a:r>
              <a:rPr lang="en-US" sz="950" dirty="0">
                <a:solidFill>
                  <a:srgbClr val="1A1F2C"/>
                </a:solidFill>
                <a:latin typeface="Consolas" pitchFamily="34" charset="0"/>
                <a:ea typeface="Consolas" pitchFamily="34" charset="-122"/>
                <a:cs typeface="Consolas" pitchFamily="34" charset="-120"/>
              </a:rPr>
              <a:t>points</a:t>
            </a:r>
            <a:endParaRPr lang="en-US" sz="950" dirty="0"/>
          </a:p>
        </p:txBody>
      </p:sp>
      <p:sp>
        <p:nvSpPr>
          <p:cNvPr id="22" name="Shape 20"/>
          <p:cNvSpPr/>
          <p:nvPr/>
        </p:nvSpPr>
        <p:spPr>
          <a:xfrm>
            <a:off x="3273552" y="3108960"/>
            <a:ext cx="2651760" cy="1508760"/>
          </a:xfrm>
          <a:prstGeom prst="rect">
            <a:avLst/>
          </a:prstGeom>
          <a:solidFill>
            <a:srgbClr val="F8FAFC"/>
          </a:solidFill>
          <a:ln w="12700">
            <a:solidFill>
              <a:srgbClr val="E5E7EB"/>
            </a:solidFill>
            <a:prstDash val="solid"/>
          </a:ln>
          <a:effectLst>
            <a:outerShdw blurRad="76200" dist="25400" dir="5400000" algn="bl" rotWithShape="0">
              <a:srgbClr val="000000">
                <a:alpha val="8000"/>
              </a:srgbClr>
            </a:outerShdw>
          </a:effectLst>
        </p:spPr>
        <p:txBody>
          <a:bodyPr/>
          <a:lstStyle/>
          <a:p>
            <a:endParaRPr lang="en-US"/>
          </a:p>
        </p:txBody>
      </p:sp>
      <p:sp>
        <p:nvSpPr>
          <p:cNvPr id="23" name="Shape 21"/>
          <p:cNvSpPr/>
          <p:nvPr/>
        </p:nvSpPr>
        <p:spPr>
          <a:xfrm>
            <a:off x="3273552" y="3108960"/>
            <a:ext cx="2651760" cy="347472"/>
          </a:xfrm>
          <a:prstGeom prst="rect">
            <a:avLst/>
          </a:prstGeom>
          <a:solidFill>
            <a:srgbClr val="BA7A65"/>
          </a:solidFill>
          <a:ln w="12700">
            <a:solidFill>
              <a:srgbClr val="BA7A65"/>
            </a:solidFill>
            <a:prstDash val="solid"/>
          </a:ln>
        </p:spPr>
        <p:txBody>
          <a:bodyPr/>
          <a:lstStyle/>
          <a:p>
            <a:endParaRPr lang="en-US"/>
          </a:p>
        </p:txBody>
      </p:sp>
      <p:sp>
        <p:nvSpPr>
          <p:cNvPr id="24" name="Text 22"/>
          <p:cNvSpPr/>
          <p:nvPr/>
        </p:nvSpPr>
        <p:spPr>
          <a:xfrm>
            <a:off x="3273552" y="3108960"/>
            <a:ext cx="265176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programs</a:t>
            </a:r>
            <a:endParaRPr lang="en-US" sz="1300" dirty="0"/>
          </a:p>
        </p:txBody>
      </p:sp>
      <p:sp>
        <p:nvSpPr>
          <p:cNvPr id="25" name="Text 23"/>
          <p:cNvSpPr/>
          <p:nvPr/>
        </p:nvSpPr>
        <p:spPr>
          <a:xfrm>
            <a:off x="3364992" y="3493008"/>
            <a:ext cx="2468880" cy="1051560"/>
          </a:xfrm>
          <a:prstGeom prst="rect">
            <a:avLst/>
          </a:prstGeom>
          <a:noFill/>
          <a:ln/>
        </p:spPr>
        <p:txBody>
          <a:bodyPr wrap="square" lIns="0" tIns="0" rIns="0" bIns="0" rtlCol="0" anchor="ctr"/>
          <a:lstStyle/>
          <a:p>
            <a:pPr marL="0" indent="0">
              <a:buNone/>
            </a:pPr>
            <a:r>
              <a:rPr lang="en-US" sz="950" dirty="0">
                <a:solidFill>
                  <a:srgbClr val="1A1F2C"/>
                </a:solidFill>
                <a:latin typeface="Consolas" pitchFamily="34" charset="0"/>
                <a:ea typeface="Consolas" pitchFamily="34" charset="-122"/>
                <a:cs typeface="Consolas" pitchFamily="34" charset="-120"/>
              </a:rPr>
              <a:t>id (PK)</a:t>
            </a:r>
            <a:endParaRPr lang="en-US" sz="950" dirty="0"/>
          </a:p>
          <a:p>
            <a:pPr marL="0" indent="0">
              <a:buNone/>
            </a:pPr>
            <a:r>
              <a:rPr lang="en-US" sz="950" dirty="0">
                <a:solidFill>
                  <a:srgbClr val="1A1F2C"/>
                </a:solidFill>
                <a:latin typeface="Consolas" pitchFamily="34" charset="0"/>
                <a:ea typeface="Consolas" pitchFamily="34" charset="-122"/>
                <a:cs typeface="Consolas" pitchFamily="34" charset="-120"/>
              </a:rPr>
              <a:t>slug (unique)</a:t>
            </a:r>
            <a:endParaRPr lang="en-US" sz="950" dirty="0"/>
          </a:p>
          <a:p>
            <a:pPr marL="0" indent="0">
              <a:buNone/>
            </a:pPr>
            <a:r>
              <a:rPr lang="en-US" sz="950" dirty="0">
                <a:solidFill>
                  <a:srgbClr val="1A1F2C"/>
                </a:solidFill>
                <a:latin typeface="Consolas" pitchFamily="34" charset="0"/>
                <a:ea typeface="Consolas" pitchFamily="34" charset="-122"/>
                <a:cs typeface="Consolas" pitchFamily="34" charset="-120"/>
              </a:rPr>
              <a:t>name</a:t>
            </a:r>
            <a:endParaRPr lang="en-US" sz="950" dirty="0"/>
          </a:p>
          <a:p>
            <a:pPr marL="0" indent="0">
              <a:buNone/>
            </a:pPr>
            <a:r>
              <a:rPr lang="en-US" sz="950" dirty="0">
                <a:solidFill>
                  <a:srgbClr val="1A1F2C"/>
                </a:solidFill>
                <a:latin typeface="Consolas" pitchFamily="34" charset="0"/>
                <a:ea typeface="Consolas" pitchFamily="34" charset="-122"/>
                <a:cs typeface="Consolas" pitchFamily="34" charset="-120"/>
              </a:rPr>
              <a:t>duration</a:t>
            </a:r>
            <a:endParaRPr lang="en-US" sz="950" dirty="0"/>
          </a:p>
          <a:p>
            <a:pPr marL="0" indent="0">
              <a:buNone/>
            </a:pPr>
            <a:r>
              <a:rPr lang="en-US" sz="950" dirty="0">
                <a:solidFill>
                  <a:srgbClr val="1A1F2C"/>
                </a:solidFill>
                <a:latin typeface="Consolas" pitchFamily="34" charset="0"/>
                <a:ea typeface="Consolas" pitchFamily="34" charset="-122"/>
                <a:cs typeface="Consolas" pitchFamily="34" charset="-120"/>
              </a:rPr>
              <a:t>fees</a:t>
            </a:r>
            <a:endParaRPr lang="en-US" sz="950" dirty="0"/>
          </a:p>
          <a:p>
            <a:pPr marL="0" indent="0">
              <a:buNone/>
            </a:pPr>
            <a:r>
              <a:rPr lang="en-US" sz="950" dirty="0">
                <a:solidFill>
                  <a:srgbClr val="1A1F2C"/>
                </a:solidFill>
                <a:latin typeface="Consolas" pitchFamily="34" charset="0"/>
                <a:ea typeface="Consolas" pitchFamily="34" charset="-122"/>
                <a:cs typeface="Consolas" pitchFamily="34" charset="-120"/>
              </a:rPr>
              <a:t>requirements (JSON)</a:t>
            </a:r>
            <a:endParaRPr lang="en-US" sz="950" dirty="0"/>
          </a:p>
          <a:p>
            <a:pPr marL="0" indent="0">
              <a:buNone/>
            </a:pPr>
            <a:r>
              <a:rPr lang="en-US" sz="950" dirty="0">
                <a:solidFill>
                  <a:srgbClr val="1A1F2C"/>
                </a:solidFill>
                <a:latin typeface="Consolas" pitchFamily="34" charset="0"/>
                <a:ea typeface="Consolas" pitchFamily="34" charset="-122"/>
                <a:cs typeface="Consolas" pitchFamily="34" charset="-120"/>
              </a:rPr>
              <a:t>careers (JSON)</a:t>
            </a:r>
            <a:endParaRPr lang="en-US" sz="950" dirty="0"/>
          </a:p>
        </p:txBody>
      </p:sp>
      <p:sp>
        <p:nvSpPr>
          <p:cNvPr id="26" name="Shape 24"/>
          <p:cNvSpPr/>
          <p:nvPr/>
        </p:nvSpPr>
        <p:spPr>
          <a:xfrm>
            <a:off x="6089904" y="3108960"/>
            <a:ext cx="2651760" cy="1508760"/>
          </a:xfrm>
          <a:prstGeom prst="rect">
            <a:avLst/>
          </a:prstGeom>
          <a:solidFill>
            <a:srgbClr val="F8FAFC"/>
          </a:solidFill>
          <a:ln w="12700">
            <a:solidFill>
              <a:srgbClr val="E5E7EB"/>
            </a:solidFill>
            <a:prstDash val="solid"/>
          </a:ln>
          <a:effectLst>
            <a:outerShdw blurRad="76200" dist="25400" dir="5400000" algn="bl" rotWithShape="0">
              <a:srgbClr val="000000">
                <a:alpha val="8000"/>
              </a:srgbClr>
            </a:outerShdw>
          </a:effectLst>
        </p:spPr>
        <p:txBody>
          <a:bodyPr/>
          <a:lstStyle/>
          <a:p>
            <a:endParaRPr lang="en-US"/>
          </a:p>
        </p:txBody>
      </p:sp>
      <p:sp>
        <p:nvSpPr>
          <p:cNvPr id="27" name="Shape 25"/>
          <p:cNvSpPr/>
          <p:nvPr/>
        </p:nvSpPr>
        <p:spPr>
          <a:xfrm>
            <a:off x="6089904" y="3108960"/>
            <a:ext cx="2651760" cy="347472"/>
          </a:xfrm>
          <a:prstGeom prst="rect">
            <a:avLst/>
          </a:prstGeom>
          <a:solidFill>
            <a:srgbClr val="BA7A65"/>
          </a:solidFill>
          <a:ln w="12700">
            <a:solidFill>
              <a:srgbClr val="BA7A65"/>
            </a:solidFill>
            <a:prstDash val="solid"/>
          </a:ln>
        </p:spPr>
        <p:txBody>
          <a:bodyPr/>
          <a:lstStyle/>
          <a:p>
            <a:endParaRPr lang="en-US"/>
          </a:p>
        </p:txBody>
      </p:sp>
      <p:sp>
        <p:nvSpPr>
          <p:cNvPr id="28" name="Text 26"/>
          <p:cNvSpPr/>
          <p:nvPr/>
        </p:nvSpPr>
        <p:spPr>
          <a:xfrm>
            <a:off x="6089904" y="3108960"/>
            <a:ext cx="265176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onsolas" pitchFamily="34" charset="0"/>
                <a:ea typeface="Consolas" pitchFamily="34" charset="-122"/>
                <a:cs typeface="Consolas" pitchFamily="34" charset="-120"/>
              </a:rPr>
              <a:t>admin_settings</a:t>
            </a:r>
            <a:endParaRPr lang="en-US" sz="1300" dirty="0"/>
          </a:p>
        </p:txBody>
      </p:sp>
      <p:sp>
        <p:nvSpPr>
          <p:cNvPr id="29" name="Text 27"/>
          <p:cNvSpPr/>
          <p:nvPr/>
        </p:nvSpPr>
        <p:spPr>
          <a:xfrm>
            <a:off x="6181344" y="3493008"/>
            <a:ext cx="2468880" cy="1051560"/>
          </a:xfrm>
          <a:prstGeom prst="rect">
            <a:avLst/>
          </a:prstGeom>
          <a:noFill/>
          <a:ln/>
        </p:spPr>
        <p:txBody>
          <a:bodyPr wrap="square" lIns="0" tIns="0" rIns="0" bIns="0" rtlCol="0" anchor="ctr"/>
          <a:lstStyle/>
          <a:p>
            <a:pPr marL="0" indent="0">
              <a:buNone/>
            </a:pPr>
            <a:r>
              <a:rPr lang="en-US" sz="950" dirty="0">
                <a:solidFill>
                  <a:srgbClr val="1A1F2C"/>
                </a:solidFill>
                <a:latin typeface="Consolas" pitchFamily="34" charset="0"/>
                <a:ea typeface="Consolas" pitchFamily="34" charset="-122"/>
                <a:cs typeface="Consolas" pitchFamily="34" charset="-120"/>
              </a:rPr>
              <a:t>id (PK)</a:t>
            </a:r>
            <a:endParaRPr lang="en-US" sz="950" dirty="0"/>
          </a:p>
          <a:p>
            <a:pPr marL="0" indent="0">
              <a:buNone/>
            </a:pPr>
            <a:r>
              <a:rPr lang="en-US" sz="950" dirty="0">
                <a:solidFill>
                  <a:srgbClr val="1A1F2C"/>
                </a:solidFill>
                <a:latin typeface="Consolas" pitchFamily="34" charset="0"/>
                <a:ea typeface="Consolas" pitchFamily="34" charset="-122"/>
                <a:cs typeface="Consolas" pitchFamily="34" charset="-120"/>
              </a:rPr>
              <a:t>key (unique)</a:t>
            </a:r>
            <a:endParaRPr lang="en-US" sz="950" dirty="0"/>
          </a:p>
          <a:p>
            <a:pPr marL="0" indent="0">
              <a:buNone/>
            </a:pPr>
            <a:r>
              <a:rPr lang="en-US" sz="950" dirty="0">
                <a:solidFill>
                  <a:srgbClr val="1A1F2C"/>
                </a:solidFill>
                <a:latin typeface="Consolas" pitchFamily="34" charset="0"/>
                <a:ea typeface="Consolas" pitchFamily="34" charset="-122"/>
                <a:cs typeface="Consolas" pitchFamily="34" charset="-120"/>
              </a:rPr>
              <a:t>value</a:t>
            </a:r>
            <a:endParaRPr lang="en-US" sz="950" dirty="0"/>
          </a:p>
        </p:txBody>
      </p:sp>
      <p:sp>
        <p:nvSpPr>
          <p:cNvPr id="30" name="Text 28"/>
          <p:cNvSpPr/>
          <p:nvPr/>
        </p:nvSpPr>
        <p:spPr>
          <a:xfrm>
            <a:off x="457200" y="4572000"/>
            <a:ext cx="8229600" cy="22860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Note: relationships are logical (no hard FK), coupled via session_id and slug for append-only history.</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56032" cy="256032"/>
          </a:xfrm>
          <a:prstGeom prst="ellipse">
            <a:avLst/>
          </a:prstGeom>
          <a:solidFill>
            <a:srgbClr val="E34628"/>
          </a:solidFill>
          <a:ln w="12700">
            <a:solidFill>
              <a:srgbClr val="E34628"/>
            </a:solidFill>
            <a:prstDash val="solid"/>
          </a:ln>
        </p:spPr>
        <p:txBody>
          <a:bodyPr/>
          <a:lstStyle/>
          <a:p>
            <a:endParaRPr lang="en-US"/>
          </a:p>
        </p:txBody>
      </p:sp>
      <p:sp>
        <p:nvSpPr>
          <p:cNvPr id="3" name="Text 1"/>
          <p:cNvSpPr/>
          <p:nvPr/>
        </p:nvSpPr>
        <p:spPr>
          <a:xfrm>
            <a:off x="868680" y="256032"/>
            <a:ext cx="7772400" cy="548640"/>
          </a:xfrm>
          <a:prstGeom prst="rect">
            <a:avLst/>
          </a:prstGeom>
          <a:noFill/>
          <a:ln/>
        </p:spPr>
        <p:txBody>
          <a:bodyPr wrap="square" lIns="0" tIns="0" rIns="0" bIns="0" rtlCol="0" anchor="ctr"/>
          <a:lstStyle/>
          <a:p>
            <a:pPr marL="0" indent="0">
              <a:buNone/>
            </a:pPr>
            <a:r>
              <a:rPr lang="en-US" sz="3200" b="1" dirty="0">
                <a:solidFill>
                  <a:srgbClr val="0F3361"/>
                </a:solidFill>
                <a:latin typeface="Calibri" pitchFamily="34" charset="0"/>
                <a:ea typeface="Calibri" pitchFamily="34" charset="-122"/>
                <a:cs typeface="Calibri" pitchFamily="34" charset="-120"/>
              </a:rPr>
              <a:t>Scope, Limitations and Future Work</a:t>
            </a:r>
            <a:endParaRPr lang="en-US" sz="3200" dirty="0"/>
          </a:p>
        </p:txBody>
      </p:sp>
      <p:sp>
        <p:nvSpPr>
          <p:cNvPr id="4" name="Text 2"/>
          <p:cNvSpPr/>
          <p:nvPr/>
        </p:nvSpPr>
        <p:spPr>
          <a:xfrm>
            <a:off x="868680" y="777240"/>
            <a:ext cx="7772400" cy="310896"/>
          </a:xfrm>
          <a:prstGeom prst="rect">
            <a:avLst/>
          </a:prstGeom>
          <a:noFill/>
          <a:ln/>
        </p:spPr>
        <p:txBody>
          <a:bodyPr wrap="square" lIns="0" tIns="0" rIns="0" bIns="0"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Honest delivery against the original objectives</a:t>
            </a:r>
            <a:endParaRPr lang="en-US" sz="1400" dirty="0"/>
          </a:p>
        </p:txBody>
      </p:sp>
      <p:sp>
        <p:nvSpPr>
          <p:cNvPr id="5" name="Shape 3"/>
          <p:cNvSpPr/>
          <p:nvPr/>
        </p:nvSpPr>
        <p:spPr>
          <a:xfrm>
            <a:off x="457200" y="1170432"/>
            <a:ext cx="8229600" cy="18288"/>
          </a:xfrm>
          <a:prstGeom prst="rect">
            <a:avLst/>
          </a:prstGeom>
          <a:solidFill>
            <a:srgbClr val="E5E7EB"/>
          </a:solidFill>
          <a:ln w="12700">
            <a:solidFill>
              <a:srgbClr val="E5E7EB"/>
            </a:solidFill>
            <a:prstDash val="solid"/>
          </a:ln>
        </p:spPr>
        <p:txBody>
          <a:bodyPr/>
          <a:lstStyle/>
          <a:p>
            <a:endParaRPr lang="en-US"/>
          </a:p>
        </p:txBody>
      </p:sp>
      <p:sp>
        <p:nvSpPr>
          <p:cNvPr id="6" name="Shape 4"/>
          <p:cNvSpPr/>
          <p:nvPr/>
        </p:nvSpPr>
        <p:spPr>
          <a:xfrm>
            <a:off x="457200" y="1417320"/>
            <a:ext cx="4023360" cy="3246120"/>
          </a:xfrm>
          <a:prstGeom prst="rect">
            <a:avLst/>
          </a:prstGeom>
          <a:solidFill>
            <a:srgbClr val="F8FAFC"/>
          </a:solidFill>
          <a:ln w="12700">
            <a:solidFill>
              <a:srgbClr val="E5E7EB"/>
            </a:solidFill>
            <a:prstDash val="solid"/>
          </a:ln>
          <a:effectLst>
            <a:outerShdw blurRad="76200" dist="25400" dir="5400000" algn="bl" rotWithShape="0">
              <a:srgbClr val="000000">
                <a:alpha val="8000"/>
              </a:srgbClr>
            </a:outerShdw>
          </a:effectLst>
        </p:spPr>
        <p:txBody>
          <a:bodyPr/>
          <a:lstStyle/>
          <a:p>
            <a:endParaRPr lang="en-US"/>
          </a:p>
        </p:txBody>
      </p:sp>
      <p:sp>
        <p:nvSpPr>
          <p:cNvPr id="7" name="Shape 5"/>
          <p:cNvSpPr/>
          <p:nvPr/>
        </p:nvSpPr>
        <p:spPr>
          <a:xfrm>
            <a:off x="457200" y="1417320"/>
            <a:ext cx="4023360" cy="502920"/>
          </a:xfrm>
          <a:prstGeom prst="rect">
            <a:avLst/>
          </a:prstGeom>
          <a:solidFill>
            <a:srgbClr val="0F3361"/>
          </a:solidFill>
          <a:ln w="12700">
            <a:solidFill>
              <a:srgbClr val="0F3361"/>
            </a:solidFill>
            <a:prstDash val="solid"/>
          </a:ln>
        </p:spPr>
        <p:txBody>
          <a:bodyPr/>
          <a:lstStyle/>
          <a:p>
            <a:endParaRPr lang="en-US"/>
          </a:p>
        </p:txBody>
      </p:sp>
      <p:sp>
        <p:nvSpPr>
          <p:cNvPr id="8" name="Text 6"/>
          <p:cNvSpPr/>
          <p:nvPr/>
        </p:nvSpPr>
        <p:spPr>
          <a:xfrm>
            <a:off x="594360" y="1417320"/>
            <a:ext cx="3749040" cy="50292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Scope and Limitations</a:t>
            </a:r>
            <a:endParaRPr lang="en-US" sz="1700" dirty="0"/>
          </a:p>
        </p:txBody>
      </p:sp>
      <p:sp>
        <p:nvSpPr>
          <p:cNvPr id="9" name="Text 7"/>
          <p:cNvSpPr/>
          <p:nvPr/>
        </p:nvSpPr>
        <p:spPr>
          <a:xfrm>
            <a:off x="594360" y="2011680"/>
            <a:ext cx="3749040" cy="256032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1A1F2C"/>
                </a:solidFill>
                <a:latin typeface="Calibri" pitchFamily="34" charset="0"/>
                <a:ea typeface="Calibri" pitchFamily="34" charset="-122"/>
                <a:cs typeface="Calibri" pitchFamily="34" charset="-120"/>
              </a:rPr>
              <a:t>Covers 6 UNITEN ICT programs only - not engineering or business</a:t>
            </a:r>
            <a:endParaRPr lang="en-US" sz="1350" dirty="0"/>
          </a:p>
          <a:p>
            <a:pPr marL="342900" indent="-342900">
              <a:spcAft>
                <a:spcPts val="1000"/>
              </a:spcAft>
              <a:buSzPct val="100000"/>
              <a:buChar char="●"/>
            </a:pPr>
            <a:r>
              <a:rPr lang="en-US" sz="1350" dirty="0">
                <a:solidFill>
                  <a:srgbClr val="1A1F2C"/>
                </a:solidFill>
                <a:latin typeface="Calibri" pitchFamily="34" charset="0"/>
                <a:ea typeface="Calibri" pitchFamily="34" charset="-122"/>
                <a:cs typeface="Calibri" pitchFamily="34" charset="-120"/>
              </a:rPr>
              <a:t>8-question instrument - longer would discriminate better but hurt completion</a:t>
            </a:r>
            <a:endParaRPr lang="en-US" sz="1350" dirty="0"/>
          </a:p>
          <a:p>
            <a:pPr marL="342900" indent="-342900">
              <a:spcAft>
                <a:spcPts val="1000"/>
              </a:spcAft>
              <a:buSzPct val="100000"/>
              <a:buChar char="●"/>
            </a:pPr>
            <a:r>
              <a:rPr lang="en-US" sz="1350" dirty="0">
                <a:solidFill>
                  <a:srgbClr val="1A1F2C"/>
                </a:solidFill>
                <a:latin typeface="Calibri" pitchFamily="34" charset="0"/>
                <a:ea typeface="Calibri" pitchFamily="34" charset="-122"/>
                <a:cs typeface="Calibri" pitchFamily="34" charset="-120"/>
              </a:rPr>
              <a:t>Recommendations do not yet factor in SPM grades (transcript is supporting evidence only)</a:t>
            </a:r>
            <a:endParaRPr lang="en-US" sz="1350" dirty="0"/>
          </a:p>
          <a:p>
            <a:pPr marL="342900" indent="-342900">
              <a:spcAft>
                <a:spcPts val="1000"/>
              </a:spcAft>
              <a:buSzPct val="100000"/>
              <a:buChar char="●"/>
            </a:pPr>
            <a:r>
              <a:rPr lang="en-US" sz="1350" dirty="0">
                <a:solidFill>
                  <a:srgbClr val="1A1F2C"/>
                </a:solidFill>
                <a:latin typeface="Calibri" pitchFamily="34" charset="0"/>
                <a:ea typeface="Calibri" pitchFamily="34" charset="-122"/>
                <a:cs typeface="Calibri" pitchFamily="34" charset="-120"/>
              </a:rPr>
              <a:t>Single-admin authentication (shared X-Admin-Password header)</a:t>
            </a:r>
            <a:endParaRPr lang="en-US" sz="1350" dirty="0"/>
          </a:p>
          <a:p>
            <a:pPr marL="342900" indent="-342900">
              <a:spcAft>
                <a:spcPts val="1000"/>
              </a:spcAft>
              <a:buSzPct val="100000"/>
              <a:buChar char="●"/>
            </a:pPr>
            <a:r>
              <a:rPr lang="en-US" sz="1350" dirty="0">
                <a:solidFill>
                  <a:srgbClr val="1A1F2C"/>
                </a:solidFill>
                <a:latin typeface="Calibri" pitchFamily="34" charset="0"/>
                <a:ea typeface="Calibri" pitchFamily="34" charset="-122"/>
                <a:cs typeface="Calibri" pitchFamily="34" charset="-120"/>
              </a:rPr>
              <a:t>Rule weights are heuristic, not learned from outcome data</a:t>
            </a:r>
            <a:endParaRPr lang="en-US" sz="1350" dirty="0"/>
          </a:p>
        </p:txBody>
      </p:sp>
      <p:sp>
        <p:nvSpPr>
          <p:cNvPr id="10" name="Shape 8"/>
          <p:cNvSpPr/>
          <p:nvPr/>
        </p:nvSpPr>
        <p:spPr>
          <a:xfrm>
            <a:off x="4663440" y="1417320"/>
            <a:ext cx="4023360" cy="3246120"/>
          </a:xfrm>
          <a:prstGeom prst="rect">
            <a:avLst/>
          </a:prstGeom>
          <a:solidFill>
            <a:srgbClr val="F8FAFC"/>
          </a:solidFill>
          <a:ln w="12700">
            <a:solidFill>
              <a:srgbClr val="E5E7EB"/>
            </a:solidFill>
            <a:prstDash val="solid"/>
          </a:ln>
          <a:effectLst>
            <a:outerShdw blurRad="76200" dist="25400" dir="5400000" algn="bl" rotWithShape="0">
              <a:srgbClr val="000000">
                <a:alpha val="8000"/>
              </a:srgbClr>
            </a:outerShdw>
          </a:effectLst>
        </p:spPr>
        <p:txBody>
          <a:bodyPr/>
          <a:lstStyle/>
          <a:p>
            <a:endParaRPr lang="en-US"/>
          </a:p>
        </p:txBody>
      </p:sp>
      <p:sp>
        <p:nvSpPr>
          <p:cNvPr id="11" name="Shape 9"/>
          <p:cNvSpPr/>
          <p:nvPr/>
        </p:nvSpPr>
        <p:spPr>
          <a:xfrm>
            <a:off x="4663440" y="1417320"/>
            <a:ext cx="4023360" cy="502920"/>
          </a:xfrm>
          <a:prstGeom prst="rect">
            <a:avLst/>
          </a:prstGeom>
          <a:solidFill>
            <a:srgbClr val="E34628"/>
          </a:solidFill>
          <a:ln w="12700">
            <a:solidFill>
              <a:srgbClr val="E34628"/>
            </a:solidFill>
            <a:prstDash val="solid"/>
          </a:ln>
        </p:spPr>
        <p:txBody>
          <a:bodyPr/>
          <a:lstStyle/>
          <a:p>
            <a:endParaRPr lang="en-US"/>
          </a:p>
        </p:txBody>
      </p:sp>
      <p:sp>
        <p:nvSpPr>
          <p:cNvPr id="12" name="Text 10"/>
          <p:cNvSpPr/>
          <p:nvPr/>
        </p:nvSpPr>
        <p:spPr>
          <a:xfrm>
            <a:off x="4800600" y="1417320"/>
            <a:ext cx="3749040" cy="50292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Future Work</a:t>
            </a:r>
            <a:endParaRPr lang="en-US" sz="1700" dirty="0"/>
          </a:p>
        </p:txBody>
      </p:sp>
      <p:sp>
        <p:nvSpPr>
          <p:cNvPr id="13" name="Text 11"/>
          <p:cNvSpPr/>
          <p:nvPr/>
        </p:nvSpPr>
        <p:spPr>
          <a:xfrm>
            <a:off x="4800600" y="2011680"/>
            <a:ext cx="3749040" cy="256032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1A1F2C"/>
                </a:solidFill>
                <a:latin typeface="Calibri" pitchFamily="34" charset="0"/>
                <a:ea typeface="Calibri" pitchFamily="34" charset="-122"/>
                <a:cs typeface="Calibri" pitchFamily="34" charset="-120"/>
              </a:rPr>
              <a:t>OCR on SPM transcript to extract and factor grades into eligibility</a:t>
            </a:r>
            <a:endParaRPr lang="en-US" sz="1350" dirty="0"/>
          </a:p>
          <a:p>
            <a:pPr marL="342900" indent="-342900">
              <a:spcAft>
                <a:spcPts val="1000"/>
              </a:spcAft>
              <a:buSzPct val="100000"/>
              <a:buChar char="●"/>
            </a:pPr>
            <a:r>
              <a:rPr lang="en-US" sz="1350" dirty="0">
                <a:solidFill>
                  <a:srgbClr val="1A1F2C"/>
                </a:solidFill>
                <a:latin typeface="Calibri" pitchFamily="34" charset="0"/>
                <a:ea typeface="Calibri" pitchFamily="34" charset="-122"/>
                <a:cs typeface="Calibri" pitchFamily="34" charset="-120"/>
              </a:rPr>
              <a:t>Outcome tracking - follow-up survey for enrolled students</a:t>
            </a:r>
            <a:endParaRPr lang="en-US" sz="1350" dirty="0"/>
          </a:p>
          <a:p>
            <a:pPr marL="342900" indent="-342900">
              <a:spcAft>
                <a:spcPts val="1000"/>
              </a:spcAft>
              <a:buSzPct val="100000"/>
              <a:buChar char="●"/>
            </a:pPr>
            <a:r>
              <a:rPr lang="en-US" sz="1350" dirty="0">
                <a:solidFill>
                  <a:srgbClr val="1A1F2C"/>
                </a:solidFill>
                <a:latin typeface="Calibri" pitchFamily="34" charset="0"/>
                <a:ea typeface="Calibri" pitchFamily="34" charset="-122"/>
                <a:cs typeface="Calibri" pitchFamily="34" charset="-120"/>
              </a:rPr>
              <a:t>Migrate to ML once 500+ completions accumulate (logistic regression baseline)</a:t>
            </a:r>
            <a:endParaRPr lang="en-US" sz="1350" dirty="0"/>
          </a:p>
          <a:p>
            <a:pPr marL="342900" indent="-342900">
              <a:spcAft>
                <a:spcPts val="1000"/>
              </a:spcAft>
              <a:buSzPct val="100000"/>
              <a:buChar char="●"/>
            </a:pPr>
            <a:r>
              <a:rPr lang="en-US" sz="1350" dirty="0">
                <a:solidFill>
                  <a:srgbClr val="1A1F2C"/>
                </a:solidFill>
                <a:latin typeface="Calibri" pitchFamily="34" charset="0"/>
                <a:ea typeface="Calibri" pitchFamily="34" charset="-122"/>
                <a:cs typeface="Calibri" pitchFamily="34" charset="-120"/>
              </a:rPr>
              <a:t>Multi-language support (Bahasa Melayu, Mandarin) for accessibility</a:t>
            </a:r>
            <a:endParaRPr lang="en-US" sz="1350" dirty="0"/>
          </a:p>
          <a:p>
            <a:pPr marL="342900" indent="-342900">
              <a:spcAft>
                <a:spcPts val="1000"/>
              </a:spcAft>
              <a:buSzPct val="100000"/>
              <a:buChar char="●"/>
            </a:pPr>
            <a:r>
              <a:rPr lang="en-US" sz="1350" dirty="0">
                <a:solidFill>
                  <a:srgbClr val="1A1F2C"/>
                </a:solidFill>
                <a:latin typeface="Calibri" pitchFamily="34" charset="0"/>
                <a:ea typeface="Calibri" pitchFamily="34" charset="-122"/>
                <a:cs typeface="Calibri" pitchFamily="34" charset="-120"/>
              </a:rPr>
              <a:t>Replace X-Admin-Password with Laravel Sanctum for multi-admin</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071F3D"/>
        </a:solidFill>
        <a:effectLst/>
      </p:bgPr>
    </p:bg>
    <p:spTree>
      <p:nvGrpSpPr>
        <p:cNvPr id="1" name=""/>
        <p:cNvGrpSpPr/>
        <p:nvPr/>
      </p:nvGrpSpPr>
      <p:grpSpPr>
        <a:xfrm>
          <a:off x="0" y="0"/>
          <a:ext cx="0" cy="0"/>
          <a:chOff x="0" y="0"/>
          <a:chExt cx="0" cy="0"/>
        </a:xfrm>
      </p:grpSpPr>
      <p:sp>
        <p:nvSpPr>
          <p:cNvPr id="2" name="Shape 0"/>
          <p:cNvSpPr/>
          <p:nvPr/>
        </p:nvSpPr>
        <p:spPr>
          <a:xfrm>
            <a:off x="0" y="0"/>
            <a:ext cx="1645920" cy="54864"/>
          </a:xfrm>
          <a:prstGeom prst="rect">
            <a:avLst/>
          </a:prstGeom>
          <a:solidFill>
            <a:srgbClr val="E34628"/>
          </a:solidFill>
          <a:ln w="12700">
            <a:solidFill>
              <a:srgbClr val="E34628">
                <a:alpha val="0"/>
              </a:srgbClr>
            </a:solidFill>
            <a:prstDash val="solid"/>
          </a:ln>
        </p:spPr>
        <p:txBody>
          <a:bodyPr/>
          <a:lstStyle/>
          <a:p>
            <a:endParaRPr lang="en-US"/>
          </a:p>
        </p:txBody>
      </p:sp>
      <p:sp>
        <p:nvSpPr>
          <p:cNvPr id="3" name="Shape 1"/>
          <p:cNvSpPr/>
          <p:nvPr/>
        </p:nvSpPr>
        <p:spPr>
          <a:xfrm>
            <a:off x="0" y="164592"/>
            <a:ext cx="1280160" cy="54864"/>
          </a:xfrm>
          <a:prstGeom prst="rect">
            <a:avLst/>
          </a:prstGeom>
          <a:solidFill>
            <a:srgbClr val="E34628">
              <a:alpha val="75000"/>
            </a:srgbClr>
          </a:solidFill>
          <a:ln w="12700">
            <a:solidFill>
              <a:srgbClr val="E34628">
                <a:alpha val="0"/>
              </a:srgbClr>
            </a:solidFill>
            <a:prstDash val="solid"/>
          </a:ln>
        </p:spPr>
        <p:txBody>
          <a:bodyPr/>
          <a:lstStyle/>
          <a:p>
            <a:endParaRPr lang="en-US"/>
          </a:p>
        </p:txBody>
      </p:sp>
      <p:sp>
        <p:nvSpPr>
          <p:cNvPr id="4" name="Shape 2"/>
          <p:cNvSpPr/>
          <p:nvPr/>
        </p:nvSpPr>
        <p:spPr>
          <a:xfrm>
            <a:off x="0" y="329184"/>
            <a:ext cx="914400" cy="54864"/>
          </a:xfrm>
          <a:prstGeom prst="rect">
            <a:avLst/>
          </a:prstGeom>
          <a:solidFill>
            <a:srgbClr val="E34628">
              <a:alpha val="50000"/>
            </a:srgbClr>
          </a:solidFill>
          <a:ln w="12700">
            <a:solidFill>
              <a:srgbClr val="E34628">
                <a:alpha val="0"/>
              </a:srgbClr>
            </a:solidFill>
            <a:prstDash val="solid"/>
          </a:ln>
        </p:spPr>
        <p:txBody>
          <a:bodyPr/>
          <a:lstStyle/>
          <a:p>
            <a:endParaRPr lang="en-US"/>
          </a:p>
        </p:txBody>
      </p:sp>
      <p:sp>
        <p:nvSpPr>
          <p:cNvPr id="5" name="Shape 3"/>
          <p:cNvSpPr/>
          <p:nvPr/>
        </p:nvSpPr>
        <p:spPr>
          <a:xfrm>
            <a:off x="7498080" y="4814316"/>
            <a:ext cx="1645920" cy="54864"/>
          </a:xfrm>
          <a:prstGeom prst="rect">
            <a:avLst/>
          </a:prstGeom>
          <a:solidFill>
            <a:srgbClr val="E34628"/>
          </a:solidFill>
          <a:ln w="12700">
            <a:solidFill>
              <a:srgbClr val="E34628">
                <a:alpha val="0"/>
              </a:srgbClr>
            </a:solidFill>
            <a:prstDash val="solid"/>
          </a:ln>
        </p:spPr>
        <p:txBody>
          <a:bodyPr/>
          <a:lstStyle/>
          <a:p>
            <a:endParaRPr lang="en-US"/>
          </a:p>
        </p:txBody>
      </p:sp>
      <p:sp>
        <p:nvSpPr>
          <p:cNvPr id="6" name="Shape 4"/>
          <p:cNvSpPr/>
          <p:nvPr/>
        </p:nvSpPr>
        <p:spPr>
          <a:xfrm>
            <a:off x="7863840" y="4905756"/>
            <a:ext cx="1280160" cy="54864"/>
          </a:xfrm>
          <a:prstGeom prst="rect">
            <a:avLst/>
          </a:prstGeom>
          <a:solidFill>
            <a:srgbClr val="E34628">
              <a:alpha val="75000"/>
            </a:srgbClr>
          </a:solidFill>
          <a:ln w="12700">
            <a:solidFill>
              <a:srgbClr val="E34628">
                <a:alpha val="0"/>
              </a:srgbClr>
            </a:solidFill>
            <a:prstDash val="solid"/>
          </a:ln>
        </p:spPr>
        <p:txBody>
          <a:bodyPr/>
          <a:lstStyle/>
          <a:p>
            <a:endParaRPr lang="en-US"/>
          </a:p>
        </p:txBody>
      </p:sp>
      <p:sp>
        <p:nvSpPr>
          <p:cNvPr id="7" name="Shape 5"/>
          <p:cNvSpPr/>
          <p:nvPr/>
        </p:nvSpPr>
        <p:spPr>
          <a:xfrm>
            <a:off x="8229600" y="4997196"/>
            <a:ext cx="914400" cy="54864"/>
          </a:xfrm>
          <a:prstGeom prst="rect">
            <a:avLst/>
          </a:prstGeom>
          <a:solidFill>
            <a:srgbClr val="E34628">
              <a:alpha val="50000"/>
            </a:srgbClr>
          </a:solidFill>
          <a:ln w="12700">
            <a:solidFill>
              <a:srgbClr val="E34628">
                <a:alpha val="0"/>
              </a:srgbClr>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914400" y="1645920"/>
            <a:ext cx="1828800" cy="1828800"/>
          </a:xfrm>
          <a:prstGeom prst="rect">
            <a:avLst/>
          </a:prstGeom>
        </p:spPr>
      </p:pic>
      <p:sp>
        <p:nvSpPr>
          <p:cNvPr id="9" name="Text 6"/>
          <p:cNvSpPr/>
          <p:nvPr/>
        </p:nvSpPr>
        <p:spPr>
          <a:xfrm>
            <a:off x="2926080" y="1463040"/>
            <a:ext cx="5943600" cy="1280160"/>
          </a:xfrm>
          <a:prstGeom prst="rect">
            <a:avLst/>
          </a:prstGeom>
          <a:noFill/>
          <a:ln/>
        </p:spPr>
        <p:txBody>
          <a:bodyPr wrap="square" lIns="0" tIns="0" rIns="0" bIns="0" rtlCol="0" anchor="ctr"/>
          <a:lstStyle/>
          <a:p>
            <a:pPr marL="0" indent="0">
              <a:buNone/>
            </a:pPr>
            <a:r>
              <a:rPr lang="en-US" sz="8000" b="1" dirty="0">
                <a:solidFill>
                  <a:srgbClr val="FFFFFF"/>
                </a:solidFill>
                <a:latin typeface="Calibri" pitchFamily="34" charset="0"/>
                <a:ea typeface="Calibri" pitchFamily="34" charset="-122"/>
                <a:cs typeface="Calibri" pitchFamily="34" charset="-120"/>
              </a:rPr>
              <a:t>Thank you</a:t>
            </a:r>
            <a:endParaRPr lang="en-US" sz="8000" dirty="0"/>
          </a:p>
        </p:txBody>
      </p:sp>
      <p:sp>
        <p:nvSpPr>
          <p:cNvPr id="10" name="Text 7"/>
          <p:cNvSpPr/>
          <p:nvPr/>
        </p:nvSpPr>
        <p:spPr>
          <a:xfrm>
            <a:off x="2926080" y="2606040"/>
            <a:ext cx="5943600" cy="731520"/>
          </a:xfrm>
          <a:prstGeom prst="rect">
            <a:avLst/>
          </a:prstGeom>
          <a:noFill/>
          <a:ln/>
        </p:spPr>
        <p:txBody>
          <a:bodyPr wrap="square" lIns="0" tIns="0" rIns="0" bIns="0" rtlCol="0" anchor="ctr"/>
          <a:lstStyle/>
          <a:p>
            <a:pPr marL="0" indent="0">
              <a:buNone/>
            </a:pPr>
            <a:r>
              <a:rPr lang="en-US" sz="3200" dirty="0">
                <a:solidFill>
                  <a:srgbClr val="E34628"/>
                </a:solidFill>
                <a:latin typeface="Calibri" pitchFamily="34" charset="0"/>
                <a:ea typeface="Calibri" pitchFamily="34" charset="-122"/>
                <a:cs typeface="Calibri" pitchFamily="34" charset="-120"/>
              </a:rPr>
              <a:t>Questions from the panel?</a:t>
            </a:r>
            <a:endParaRPr lang="en-US" sz="3200" dirty="0"/>
          </a:p>
        </p:txBody>
      </p:sp>
      <p:sp>
        <p:nvSpPr>
          <p:cNvPr id="11" name="Text 8"/>
          <p:cNvSpPr/>
          <p:nvPr/>
        </p:nvSpPr>
        <p:spPr>
          <a:xfrm>
            <a:off x="2926080" y="3474720"/>
            <a:ext cx="5943600" cy="365760"/>
          </a:xfrm>
          <a:prstGeom prst="rect">
            <a:avLst/>
          </a:prstGeom>
          <a:noFill/>
          <a:ln/>
        </p:spPr>
        <p:txBody>
          <a:bodyPr wrap="square" lIns="0" tIns="0" rIns="0" bIns="0" rtlCol="0" anchor="ctr"/>
          <a:lstStyle/>
          <a:p>
            <a:pPr marL="0" indent="0">
              <a:buNone/>
            </a:pPr>
            <a:r>
              <a:rPr lang="en-US" sz="1400" i="1" dirty="0">
                <a:solidFill>
                  <a:srgbClr val="FFFFFF">
                    <a:alpha val="70000"/>
                  </a:srgbClr>
                </a:solidFill>
                <a:latin typeface="Calibri" pitchFamily="34" charset="0"/>
                <a:ea typeface="Calibri" pitchFamily="34" charset="-122"/>
                <a:cs typeface="Calibri" pitchFamily="34" charset="-120"/>
              </a:rPr>
              <a:t>MyUniPath  -  A Rule-Based ICT Career Decision Support System</a:t>
            </a:r>
            <a:endParaRPr lang="en-US" sz="1400" dirty="0"/>
          </a:p>
        </p:txBody>
      </p:sp>
      <p:pic>
        <p:nvPicPr>
          <p:cNvPr id="12" name="Image 1" descr="preencoded.png"/>
          <p:cNvPicPr>
            <a:picLocks noChangeAspect="1"/>
          </p:cNvPicPr>
          <p:nvPr/>
        </p:nvPicPr>
        <p:blipFill>
          <a:blip r:embed="rId4"/>
          <a:stretch>
            <a:fillRect/>
          </a:stretch>
        </p:blipFill>
        <p:spPr>
          <a:xfrm>
            <a:off x="2926080" y="4023360"/>
            <a:ext cx="502920" cy="502920"/>
          </a:xfrm>
          <a:prstGeom prst="rect">
            <a:avLst/>
          </a:prstGeom>
        </p:spPr>
      </p:pic>
      <p:sp>
        <p:nvSpPr>
          <p:cNvPr id="13" name="Text 9"/>
          <p:cNvSpPr/>
          <p:nvPr/>
        </p:nvSpPr>
        <p:spPr>
          <a:xfrm>
            <a:off x="3520440" y="4096512"/>
            <a:ext cx="5486400" cy="365760"/>
          </a:xfrm>
          <a:prstGeom prst="rect">
            <a:avLst/>
          </a:prstGeom>
          <a:noFill/>
          <a:ln/>
        </p:spPr>
        <p:txBody>
          <a:bodyPr wrap="square" lIns="0" tIns="0" rIns="0" bIns="0" rtlCol="0" anchor="ctr"/>
          <a:lstStyle/>
          <a:p>
            <a:pPr marL="0" indent="0">
              <a:buNone/>
            </a:pPr>
            <a:r>
              <a:rPr lang="en-US" sz="1200" dirty="0">
                <a:solidFill>
                  <a:srgbClr val="FFFFFF">
                    <a:alpha val="65000"/>
                  </a:srgbClr>
                </a:solidFill>
                <a:latin typeface="Calibri" pitchFamily="34" charset="0"/>
                <a:ea typeface="Calibri" pitchFamily="34" charset="-122"/>
                <a:cs typeface="Calibri" pitchFamily="34" charset="-120"/>
              </a:rPr>
              <a:t>College of Computing and Informatics  -  UNITEN  -  FYP2  -  21 to 22 May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828</TotalTime>
  <Words>1900</Words>
  <Application>Microsoft Office PowerPoint</Application>
  <PresentationFormat>On-screen Show (16:9)</PresentationFormat>
  <Paragraphs>353</Paragraphs>
  <Slides>18</Slides>
  <Notes>18</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College of Computing and Informatics, UNITEN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MyUniPath - Rule-Based ICT Career Decision Support System</dc:title>
  <dc:subject>PptxGenJS Presentation</dc:subject>
  <dc:creator>MyUniPath FYP2</dc:creator>
  <cp:lastModifiedBy>Muhammad Akeef Bin Ahmad</cp:lastModifiedBy>
  <cp:revision>1</cp:revision>
  <dcterms:created xsi:type="dcterms:W3CDTF">2026-05-20T15:02:51Z</dcterms:created>
  <dcterms:modified xsi:type="dcterms:W3CDTF">2026-05-21T05:34:47Z</dcterms:modified>
</cp:coreProperties>
</file>